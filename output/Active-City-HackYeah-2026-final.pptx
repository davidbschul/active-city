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86039fb62694a87" /><Relationship Type="http://schemas.openxmlformats.org/officeDocument/2006/relationships/extended-properties" Target="/docProps/app.xml" Id="R0a96ccfc5e4c4d14" /><Relationship Type="http://schemas.openxmlformats.org/officeDocument/2006/relationships/officeDocument" Target="/ppt/presentation.xml" Id="Rd2e54f48929a44b7" /></Relationships>
</file>

<file path=ppt/presentation.xml><?xml version="1.0" encoding="utf-8"?>
<p:presentation xmlns:p="http://schemas.openxmlformats.org/presentationml/2006/main">
  <p:sldMasterIdLst>
    <p:sldMasterId xmlns:r="http://schemas.openxmlformats.org/officeDocument/2006/relationships" id="2147483648" r:id="R2cbcf3b8895547cf"/>
  </p:sldMasterIdLst>
  <p:notesMasterIdLst>
    <p:notesMasterId xmlns:r="http://schemas.openxmlformats.org/officeDocument/2006/relationships" r:id="R4e2b61ef86c648d0"/>
  </p:notesMasterIdLst>
  <p:sldIdLst>
    <p:sldId xmlns:r="http://schemas.openxmlformats.org/officeDocument/2006/relationships" id="256" r:id="R4a86d6a4d8ca4e6a"/>
    <p:sldId xmlns:r="http://schemas.openxmlformats.org/officeDocument/2006/relationships" id="257" r:id="R2d9dff34f7b84e39"/>
    <p:sldId xmlns:r="http://schemas.openxmlformats.org/officeDocument/2006/relationships" id="258" r:id="R3416fb8764b84e76"/>
    <p:sldId xmlns:r="http://schemas.openxmlformats.org/officeDocument/2006/relationships" id="259" r:id="R1077dfe6c1bf46dc"/>
    <p:sldId xmlns:r="http://schemas.openxmlformats.org/officeDocument/2006/relationships" id="260" r:id="Rb386f06997914e36"/>
    <p:sldId xmlns:r="http://schemas.openxmlformats.org/officeDocument/2006/relationships" id="261" r:id="R0d764707b01c4030"/>
    <p:sldId xmlns:r="http://schemas.openxmlformats.org/officeDocument/2006/relationships" id="262" r:id="R50b021ae5321436b"/>
    <p:sldId xmlns:r="http://schemas.openxmlformats.org/officeDocument/2006/relationships" id="263" r:id="R80d24189520344f4"/>
    <p:sldId xmlns:r="http://schemas.openxmlformats.org/officeDocument/2006/relationships" id="264" r:id="Rb72fb7a3b0384d7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1d34c1b9db464d" /><Relationship Type="http://schemas.openxmlformats.org/officeDocument/2006/relationships/slideMaster" Target="/ppt/slideMasters/slideMaster1.xml" Id="R2cbcf3b8895547cf" /><Relationship Type="http://schemas.openxmlformats.org/officeDocument/2006/relationships/notesMaster" Target="/ppt/notesMasters/notesMaster1.xml" Id="R4e2b61ef86c648d0" /><Relationship Type="http://schemas.openxmlformats.org/officeDocument/2006/relationships/presProps" Target="/ppt/presProps.xml" Id="Rc4f48bb2e2414569" /><Relationship Type="http://schemas.openxmlformats.org/officeDocument/2006/relationships/tableStyles" Target="/ppt/tableStyles.xml" Id="Rc915a467a5ba41fc" /><Relationship Type="http://schemas.openxmlformats.org/officeDocument/2006/relationships/slide" Target="/ppt/slides/slide1.xml" Id="R4a86d6a4d8ca4e6a" /><Relationship Type="http://schemas.openxmlformats.org/officeDocument/2006/relationships/slide" Target="/ppt/slides/slide2.xml" Id="R2d9dff34f7b84e39" /><Relationship Type="http://schemas.openxmlformats.org/officeDocument/2006/relationships/slide" Target="/ppt/slides/slide3.xml" Id="R3416fb8764b84e76" /><Relationship Type="http://schemas.openxmlformats.org/officeDocument/2006/relationships/slide" Target="/ppt/slides/slide4.xml" Id="R1077dfe6c1bf46dc" /><Relationship Type="http://schemas.openxmlformats.org/officeDocument/2006/relationships/slide" Target="/ppt/slides/slide5.xml" Id="Rb386f06997914e36" /><Relationship Type="http://schemas.openxmlformats.org/officeDocument/2006/relationships/slide" Target="/ppt/slides/slide6.xml" Id="R0d764707b01c4030" /><Relationship Type="http://schemas.openxmlformats.org/officeDocument/2006/relationships/slide" Target="/ppt/slides/slide7.xml" Id="R50b021ae5321436b" /><Relationship Type="http://schemas.openxmlformats.org/officeDocument/2006/relationships/slide" Target="/ppt/slides/slide8.xml" Id="R80d24189520344f4" /><Relationship Type="http://schemas.openxmlformats.org/officeDocument/2006/relationships/slide" Target="/ppt/slides/slide9.xml" Id="Rb72fb7a3b0384d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1683b3857146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c8bb2674554c47" /><Relationship Type="http://schemas.openxmlformats.org/officeDocument/2006/relationships/notesMaster" Target="/ppt/notesMasters/notesMaster1.xml" Id="R75610bc8c13b4f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a3b18a8b854ead" /><Relationship Type="http://schemas.openxmlformats.org/officeDocument/2006/relationships/notesMaster" Target="/ppt/notesMasters/notesMaster1.xml" Id="Ra2a3156fc18c4f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fcecb3348c4275" /><Relationship Type="http://schemas.openxmlformats.org/officeDocument/2006/relationships/notesMaster" Target="/ppt/notesMasters/notesMaster1.xml" Id="R9e7ca60a94ab45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b03d04cb2444cb" /><Relationship Type="http://schemas.openxmlformats.org/officeDocument/2006/relationships/notesMaster" Target="/ppt/notesMasters/notesMaster1.xml" Id="Ra6fb705ba30c41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0c489e7cbb4070" /><Relationship Type="http://schemas.openxmlformats.org/officeDocument/2006/relationships/notesMaster" Target="/ppt/notesMasters/notesMaster1.xml" Id="R6c6bbb25fde545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251d182eff494f" /><Relationship Type="http://schemas.openxmlformats.org/officeDocument/2006/relationships/notesMaster" Target="/ppt/notesMasters/notesMaster1.xml" Id="Ra2010c21558f41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cc583d1a64489f" /><Relationship Type="http://schemas.openxmlformats.org/officeDocument/2006/relationships/notesMaster" Target="/ppt/notesMasters/notesMaster1.xml" Id="R50e53a5469964fce"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ffb8da4db049c7" /><Relationship Type="http://schemas.openxmlformats.org/officeDocument/2006/relationships/notesMaster" Target="/ppt/notesMasters/notesMaster1.xml" Id="R03418820665c4ab5" /></Relationships>
</file>

<file path=ppt/notesSlides/_rels/notesSlide9.xml.rels>&#65279;<?xml version="1.0" encoding="utf-8"?><Relationships xmlns="http://schemas.openxmlformats.org/package/2006/relationships"><Relationship Type="http://schemas.openxmlformats.org/officeDocument/2006/relationships/slide" Target="/ppt/slides/slide9.xml" Id="Rdc9274cde11541bb" /><Relationship Type="http://schemas.openxmlformats.org/officeDocument/2006/relationships/notesMaster" Target="/ppt/notesMasters/notesMaster1.xml" Id="Rb65528d9151a4f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image: AI-generated editorial illustration retained from the project visual-direction work. It is not presented as a photograph. Competition requirements: disclose AI use and reused assets where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Challenge source: Sport &amp; Healthcare details. The brief describes fragmented health, activity and wellbeing information and asks for a clear user journey that makes an achievable next step easier. Local facility sources: Kraków municipal records, documented in the repository data-source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assumption for the pilot, based on user testing feedback in the project conversation: distant venues are unrealistic when a person has limited time. The 30–120 minute options and less-than-10-minute threshold are prototype product rules, not a clinical or transport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Challenge source: Sport &amp; Healthcare details. The brief asks for a practical user journey, accessibility, motivation and a next step that is achievable. This slide shows the working pilot 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sources: Kraków municipal services, Zarząd Zieleni Miejskiej, Zarząd Infrastruktury Sportowej and cited district/public records. See docs/DATA_SOURCES.md. The 14 count reflects the source-backed records currently displayed in the 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Prototype behaviour from the working app. Walking and running can request pedestrian routing on demand. Public transport opens an external journey planner. Estimates are planning guidance, not live arrival promises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handling: profiles and reflections remain in browser memory by default. Device persistence is opt-in. A share link contains only entries selected by the person and creates no Active City server copy. The weekly prompt is a reflection aid, not a health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Community features are browser-only interaction prototypes. The project does not create connections, collect credentials or publish posts. A live service would need independent privacy, safeguarding, moderation, incident and credential-verification processes.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Sport &amp; Healthcare challenge brief and rules; Kraków municipal records; OpenStreetMap attribution; NHS instructional resources; WHO physical-activity guidance. AI/reused asset disclosure: cover illustration is an AI-generated visual-direction asset. See docs/DATA_SOURCES.md and docs/DEVELOPMENT_LOG.md for full provenance.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caf912c4ee4e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901c36181a4125" /><Relationship Type="http://schemas.openxmlformats.org/officeDocument/2006/relationships/slideLayout" Target="/ppt/slideLayouts/slideLayout1.xml" Id="Rfd50874c4c404c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50874c4c404c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648919f18aa4dfa" /><Relationship Type="http://schemas.openxmlformats.org/officeDocument/2006/relationships/image" Target="/ppt/media/image.png" Id="R771861c3f3c94ce4" /><Relationship Type="http://schemas.openxmlformats.org/officeDocument/2006/relationships/notesSlide" Target="/ppt/notesSlides/notesSlide1.xml" Id="R21c01994a5ad48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f41d2375be24c1b" /><Relationship Type="http://schemas.openxmlformats.org/officeDocument/2006/relationships/notesSlide" Target="/ppt/notesSlides/notesSlide2.xml" Id="Rd7b8851d15884b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034cf663af4486" /><Relationship Type="http://schemas.openxmlformats.org/officeDocument/2006/relationships/notesSlide" Target="/ppt/notesSlides/notesSlide3.xml" Id="Rb1f12625ec4345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8f23c9582f24ecc" /><Relationship Type="http://schemas.openxmlformats.org/officeDocument/2006/relationships/notesSlide" Target="/ppt/notesSlides/notesSlide4.xml" Id="R8a8cacd5c01a4b5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26220efff104485" /><Relationship Type="http://schemas.openxmlformats.org/officeDocument/2006/relationships/notesSlide" Target="/ppt/notesSlides/notesSlide5.xml" Id="R9fe93c90b6724a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ed0d527903c46a6" /><Relationship Type="http://schemas.openxmlformats.org/officeDocument/2006/relationships/notesSlide" Target="/ppt/notesSlides/notesSlide6.xml" Id="R0aea06e1cd974d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946a888d0ae4398" /><Relationship Type="http://schemas.openxmlformats.org/officeDocument/2006/relationships/notesSlide" Target="/ppt/notesSlides/notesSlide7.xml" Id="R2827aa03cff144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6d482de694d4cc6" /><Relationship Type="http://schemas.openxmlformats.org/officeDocument/2006/relationships/notesSlide" Target="/ppt/notesSlides/notesSlide8.xml" Id="Rc2aed581646446a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49500b2de824732" /><Relationship Type="http://schemas.openxmlformats.org/officeDocument/2006/relationships/notesSlide" Target="/ppt/notesSlides/notesSlide9.xml" Id="R72281b5f7b524b46" /></Relationships>
</file>

<file path=ppt/slides/slide1.xml><?xml version="1.0" encoding="utf-8"?>
<p:sld xmlns:p="http://schemas.openxmlformats.org/presentationml/2006/main">
  <p:cSld>
    <p:bg>
      <p:bgPr>
        <a:solidFill xmlns:a="http://schemas.openxmlformats.org/drawingml/2006/main">
          <a:srgbClr val="083F69"/>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71861c3f3c94ce4"/>
          <a:srcRect xmlns:a="http://schemas.openxmlformats.org/drawingml/2006/main" l="20297" t="0" r="20297" b="0"/>
          <a:stretch xmlns:a="http://schemas.openxmlformats.org/drawingml/2006/main">
            <a:fillRect l="0" t="0" r="0" b="0"/>
          </a:stretch>
        </p:blipFill>
        <p:spPr>
          <a:xfrm xmlns:a="http://schemas.openxmlformats.org/drawingml/2006/main">
            <a:off x="4953000" y="0"/>
            <a:ext cx="7239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9B66F8F-B214-4710-AF5E-F4AFDB925B78}"/>
              </a:ext>
            </a:extLst>
          </p:cNvPr>
          <p:cNvSpPr>
            <a:spLocks xmlns:a="http://schemas.openxmlformats.org/drawingml/2006/main" noGrp="1"/>
          </p:cNvSpPr>
          <p:nvPr/>
        </p:nvSpPr>
        <p:spPr>
          <a:xfrm xmlns:a="http://schemas.openxmlformats.org/drawingml/2006/main">
            <a:off x="0" y="0"/>
            <a:ext cx="6858000" cy="6858000"/>
          </a:xfrm>
          <a:prstGeom xmlns:a="http://schemas.openxmlformats.org/drawingml/2006/main" prst="rect">
            <a:avLst/>
          </a:prstGeom>
          <a:solidFill xmlns:a="http://schemas.openxmlformats.org/drawingml/2006/main">
            <a:srgbClr val="083F6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D611FAE-B630-4DFC-9EF8-4B0C8CF6B48E}"/>
              </a:ext>
            </a:extLst>
          </p:cNvPr>
          <p:cNvSpPr>
            <a:spLocks xmlns:a="http://schemas.openxmlformats.org/drawingml/2006/main" noGrp="1"/>
          </p:cNvSpPr>
          <p:nvPr/>
        </p:nvSpPr>
        <p:spPr>
          <a:xfrm xmlns:a="http://schemas.openxmlformats.org/drawingml/2006/main">
            <a:off x="5905500" y="0"/>
            <a:ext cx="1714500" cy="6858000"/>
          </a:xfrm>
          <a:prstGeom xmlns:a="http://schemas.openxmlformats.org/drawingml/2006/main" prst="rect">
            <a:avLst/>
          </a:prstGeom>
          <a:solidFill xmlns:a="http://schemas.openxmlformats.org/drawingml/2006/main">
            <a:srgbClr val="083F69">
              <a:alpha val="35000"/>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6AF87B3-60DD-46F2-9A5F-B1FBB7D46C32}"/>
              </a:ext>
            </a:extLst>
          </p:cNvPr>
          <p:cNvSpPr>
            <a:spLocks xmlns:a="http://schemas.openxmlformats.org/drawingml/2006/main" noGrp="1"/>
          </p:cNvSpPr>
          <p:nvPr/>
        </p:nvSpPr>
        <p:spPr>
          <a:xfrm xmlns:a="http://schemas.openxmlformats.org/drawingml/2006/main">
            <a:off x="704850" y="7048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CDECF0"/>
                </a:solidFill>
                <a:latin typeface="Bitstream Charter"/>
                <a:ea typeface="Bitstream Charter"/>
                <a:cs typeface="Bitstream Charter"/>
              </a:defRPr>
            </a:pPr>
            <a:r>
              <a:rPr sz="900" b="1">
                <a:solidFill>
                  <a:srgbClr val="CDECF0"/>
                </a:solidFill>
                <a:latin typeface="Bitstream Charter"/>
                <a:ea typeface="Bitstream Charter"/>
                <a:cs typeface="Bitstream Charter"/>
              </a:rPr>
              <a:t>HACKYEAH 2026 · SPORT &amp; HEALTHCARE</a:t>
            </a:r>
          </a:p>
        </p:txBody>
      </p:sp>
      <p:sp>
        <p:nvSpPr>
          <p:cNvPr id="5" name="">
            <a:extLst xmlns:a="http://schemas.openxmlformats.org/drawingml/2006/main">
              <a:ext uri="{FF2B5EF4-FFF2-40B4-BE49-F238E27FC236}">
                <a16:creationId xmlns:a16="http://schemas.microsoft.com/office/drawing/2014/main" id="{5D9E46A6-34B8-4F20-81E7-E55406270D0A}"/>
              </a:ext>
            </a:extLst>
          </p:cNvPr>
          <p:cNvSpPr>
            <a:spLocks xmlns:a="http://schemas.openxmlformats.org/drawingml/2006/main" noGrp="1"/>
          </p:cNvSpPr>
          <p:nvPr/>
        </p:nvSpPr>
        <p:spPr>
          <a:xfrm xmlns:a="http://schemas.openxmlformats.org/drawingml/2006/main">
            <a:off x="685800" y="1371600"/>
            <a:ext cx="4953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5025" b="1">
                <a:solidFill>
                  <a:srgbClr val="FFFFFF"/>
                </a:solidFill>
                <a:latin typeface="Bitstream Charter"/>
                <a:ea typeface="Bitstream Charter"/>
                <a:cs typeface="Bitstream Charter"/>
              </a:defRPr>
            </a:pPr>
            <a:r>
              <a:rPr sz="5025" b="1">
                <a:solidFill>
                  <a:srgbClr val="FFFFFF"/>
                </a:solidFill>
                <a:latin typeface="Bitstream Charter"/>
                <a:ea typeface="Bitstream Charter"/>
                <a:cs typeface="Bitstream Charter"/>
              </a:rPr>
              <a:t>Active</a:t>
            </a:r>
          </a:p>
          <a:p xmlns:a="http://schemas.openxmlformats.org/drawingml/2006/main">
            <a:pPr>
              <a:defRPr sz="5025" b="1">
                <a:solidFill>
                  <a:srgbClr val="FFFFFF"/>
                </a:solidFill>
                <a:latin typeface="Bitstream Charter"/>
                <a:ea typeface="Bitstream Charter"/>
                <a:cs typeface="Bitstream Charter"/>
              </a:defRPr>
            </a:pPr>
            <a:r>
              <a:rPr sz="5025" b="1">
                <a:solidFill>
                  <a:srgbClr val="FFFFFF"/>
                </a:solidFill>
                <a:latin typeface="Bitstream Charter"/>
                <a:ea typeface="Bitstream Charter"/>
                <a:cs typeface="Bitstream Charter"/>
              </a:rPr>
              <a:t>City</a:t>
            </a:r>
          </a:p>
        </p:txBody>
      </p:sp>
      <p:sp>
        <p:nvSpPr>
          <p:cNvPr id="6" name="">
            <a:extLst xmlns:a="http://schemas.openxmlformats.org/drawingml/2006/main">
              <a:ext uri="{FF2B5EF4-FFF2-40B4-BE49-F238E27FC236}">
                <a16:creationId xmlns:a16="http://schemas.microsoft.com/office/drawing/2014/main" id="{71609E54-C300-457F-A073-9863648519D9}"/>
              </a:ext>
            </a:extLst>
          </p:cNvPr>
          <p:cNvSpPr>
            <a:spLocks xmlns:a="http://schemas.openxmlformats.org/drawingml/2006/main" noGrp="1"/>
          </p:cNvSpPr>
          <p:nvPr/>
        </p:nvSpPr>
        <p:spPr>
          <a:xfrm xmlns:a="http://schemas.openxmlformats.org/drawingml/2006/main">
            <a:off x="723900" y="31242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FFE1A2"/>
                </a:solidFill>
                <a:latin typeface="Bitstream Charter"/>
                <a:ea typeface="Bitstream Charter"/>
                <a:cs typeface="Bitstream Charter"/>
              </a:defRPr>
            </a:pPr>
            <a:r>
              <a:rPr sz="1875" b="1">
                <a:solidFill>
                  <a:srgbClr val="FFE1A2"/>
                </a:solidFill>
                <a:latin typeface="Bitstream Charter"/>
                <a:ea typeface="Bitstream Charter"/>
                <a:cs typeface="Bitstream Charter"/>
              </a:rPr>
              <a:t>Kraków pilot</a:t>
            </a:r>
          </a:p>
        </p:txBody>
      </p:sp>
      <p:sp>
        <p:nvSpPr>
          <p:cNvPr id="7" name="">
            <a:extLst xmlns:a="http://schemas.openxmlformats.org/drawingml/2006/main">
              <a:ext uri="{FF2B5EF4-FFF2-40B4-BE49-F238E27FC236}">
                <a16:creationId xmlns:a16="http://schemas.microsoft.com/office/drawing/2014/main" id="{5FFA028F-6BAF-499D-856B-4F5329CE05FB}"/>
              </a:ext>
            </a:extLst>
          </p:cNvPr>
          <p:cNvSpPr>
            <a:spLocks xmlns:a="http://schemas.openxmlformats.org/drawingml/2006/main" noGrp="1"/>
          </p:cNvSpPr>
          <p:nvPr/>
        </p:nvSpPr>
        <p:spPr>
          <a:xfrm xmlns:a="http://schemas.openxmlformats.org/drawingml/2006/main">
            <a:off x="723900" y="3733800"/>
            <a:ext cx="4381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0">
                <a:solidFill>
                  <a:srgbClr val="EDF9FB"/>
                </a:solidFill>
                <a:latin typeface="Bitstream Charter"/>
                <a:ea typeface="Bitstream Charter"/>
                <a:cs typeface="Bitstream Charter"/>
              </a:defRPr>
            </a:pPr>
            <a:r>
              <a:rPr sz="1725" b="0">
                <a:solidFill>
                  <a:srgbClr val="EDF9FB"/>
                </a:solidFill>
                <a:latin typeface="Bitstream Charter"/>
                <a:ea typeface="Bitstream Charter"/>
                <a:cs typeface="Bitstream Charter"/>
              </a:rPr>
              <a:t>A nearby public place, a plan that fits today, and a private record of what helps someone keep moving.</a:t>
            </a:r>
          </a:p>
        </p:txBody>
      </p:sp>
      <p:sp>
        <p:nvSpPr>
          <p:cNvPr id="8" name="">
            <a:extLst xmlns:a="http://schemas.openxmlformats.org/drawingml/2006/main">
              <a:ext uri="{FF2B5EF4-FFF2-40B4-BE49-F238E27FC236}">
                <a16:creationId xmlns:a16="http://schemas.microsoft.com/office/drawing/2014/main" id="{3292E135-F6B9-4289-9351-B9346AA571A0}"/>
              </a:ext>
            </a:extLst>
          </p:cNvPr>
          <p:cNvSpPr>
            <a:spLocks xmlns:a="http://schemas.openxmlformats.org/drawingml/2006/main" noGrp="1"/>
          </p:cNvSpPr>
          <p:nvPr/>
        </p:nvSpPr>
        <p:spPr>
          <a:xfrm xmlns:a="http://schemas.openxmlformats.org/drawingml/2006/main">
            <a:off x="723900" y="58674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0">
                <a:solidFill>
                  <a:srgbClr val="CDECF0"/>
                </a:solidFill>
                <a:latin typeface="Bitstream Charter"/>
                <a:ea typeface="Bitstream Charter"/>
                <a:cs typeface="Bitstream Charter"/>
              </a:defRPr>
            </a:pPr>
            <a:r>
              <a:rPr sz="1050" b="0">
                <a:solidFill>
                  <a:srgbClr val="CDECF0"/>
                </a:solidFill>
                <a:latin typeface="Bitstream Charter"/>
                <a:ea typeface="Bitstream Charter"/>
                <a:cs typeface="Bitstream Charter"/>
              </a:rPr>
              <a:t>Team: add member names before upload</a:t>
            </a:r>
          </a:p>
        </p:txBody>
      </p:sp>
      <p:sp>
        <p:nvSpPr>
          <p:cNvPr id="9" name="">
            <a:extLst xmlns:a="http://schemas.openxmlformats.org/drawingml/2006/main">
              <a:ext uri="{FF2B5EF4-FFF2-40B4-BE49-F238E27FC236}">
                <a16:creationId xmlns:a16="http://schemas.microsoft.com/office/drawing/2014/main" id="{96A8FD4B-24FA-4C11-B676-1B486B9AD235}"/>
              </a:ext>
            </a:extLst>
          </p:cNvPr>
          <p:cNvSpPr>
            <a:spLocks xmlns:a="http://schemas.openxmlformats.org/drawingml/2006/main" noGrp="1"/>
          </p:cNvSpPr>
          <p:nvPr/>
        </p:nvSpPr>
        <p:spPr>
          <a:xfrm xmlns:a="http://schemas.openxmlformats.org/drawingml/2006/main">
            <a:off x="9715500" y="60579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FFFFFF"/>
                </a:solidFill>
                <a:latin typeface="Bitstream Charter"/>
                <a:ea typeface="Bitstream Charter"/>
                <a:cs typeface="Bitstream Charter"/>
              </a:defRPr>
            </a:pPr>
            <a:r>
              <a:rPr sz="975" b="1">
                <a:solidFill>
                  <a:srgbClr val="FFFFFF"/>
                </a:solidFill>
                <a:latin typeface="Bitstream Charter"/>
                <a:ea typeface="Bitstream Charter"/>
                <a:cs typeface="Bitstream Charter"/>
              </a:rPr>
              <a:t>KRAKÓW</a:t>
            </a:r>
          </a:p>
        </p:txBody>
      </p:sp>
    </p:spTree>
    <p:extLst>
      <p:ext uri="{BB962C8B-B14F-4D97-AF65-F5344CB8AC3E}">
        <p14:creationId xmlns:p14="http://schemas.microsoft.com/office/powerpoint/2010/main" val="162747389"/>
      </p:ext>
    </p:extLst>
  </p:cSld>
</p:sld>
</file>

<file path=ppt/slides/slide2.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EE23ADC-F4A7-4AE9-AD79-0BE0C064FD0F}"/>
              </a:ext>
            </a:extLst>
          </p:cNvPr>
          <p:cNvSpPr>
            <a:spLocks xmlns:a="http://schemas.openxmlformats.org/drawingml/2006/main" noGrp="1"/>
          </p:cNvSpPr>
          <p:nvPr/>
        </p:nvSpPr>
        <p:spPr>
          <a:xfrm xmlns:a="http://schemas.openxmlformats.org/drawingml/2006/main">
            <a:off x="704850" y="495300"/>
            <a:ext cx="990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3F50"/>
                </a:solidFill>
                <a:latin typeface="Bitstream Charter"/>
                <a:ea typeface="Bitstream Charter"/>
                <a:cs typeface="Bitstream Charter"/>
              </a:defRPr>
            </a:pPr>
            <a:r>
              <a:rPr sz="2850" b="1">
                <a:solidFill>
                  <a:srgbClr val="143F50"/>
                </a:solidFill>
                <a:latin typeface="Bitstream Charter"/>
                <a:ea typeface="Bitstream Charter"/>
                <a:cs typeface="Bitstream Charter"/>
              </a:rPr>
              <a:t>Getting active should not start with a search puzzle</a:t>
            </a:r>
          </a:p>
        </p:txBody>
      </p:sp>
      <p:sp>
        <p:nvSpPr>
          <p:cNvPr id="2" name="">
            <a:extLst xmlns:a="http://schemas.openxmlformats.org/drawingml/2006/main">
              <a:ext uri="{FF2B5EF4-FFF2-40B4-BE49-F238E27FC236}">
                <a16:creationId xmlns:a16="http://schemas.microsoft.com/office/drawing/2014/main" id="{EC3E5E8C-CF39-4FBA-B4E7-98B22D7808E3}"/>
              </a:ext>
            </a:extLst>
          </p:cNvPr>
          <p:cNvSpPr>
            <a:spLocks xmlns:a="http://schemas.openxmlformats.org/drawingml/2006/main" noGrp="1"/>
          </p:cNvSpPr>
          <p:nvPr/>
        </p:nvSpPr>
        <p:spPr>
          <a:xfrm xmlns:a="http://schemas.openxmlformats.org/drawingml/2006/main">
            <a:off x="723900" y="15049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Public recreation information is scattered across municipal pages, maps and signs on site.</a:t>
            </a:r>
          </a:p>
        </p:txBody>
      </p:sp>
      <p:sp>
        <p:nvSpPr>
          <p:cNvPr id="3" name="">
            <a:extLst xmlns:a="http://schemas.openxmlformats.org/drawingml/2006/main">
              <a:ext uri="{FF2B5EF4-FFF2-40B4-BE49-F238E27FC236}">
                <a16:creationId xmlns:a16="http://schemas.microsoft.com/office/drawing/2014/main" id="{196FC130-7A8B-4598-9A27-A620CD379619}"/>
              </a:ext>
            </a:extLst>
          </p:cNvPr>
          <p:cNvSpPr>
            <a:spLocks xmlns:a="http://schemas.openxmlformats.org/drawingml/2006/main" noGrp="1"/>
          </p:cNvSpPr>
          <p:nvPr/>
        </p:nvSpPr>
        <p:spPr>
          <a:xfrm xmlns:a="http://schemas.openxmlformats.org/drawingml/2006/main">
            <a:off x="723900" y="1943100"/>
            <a:ext cx="781050" cy="47625"/>
          </a:xfrm>
          <a:prstGeom xmlns:a="http://schemas.openxmlformats.org/drawingml/2006/main" prst="rect">
            <a:avLst/>
          </a:prstGeom>
          <a:solidFill xmlns:a="http://schemas.openxmlformats.org/drawingml/2006/main">
            <a:srgbClr val="F4A92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D2748FA-471B-4651-9828-F0D51CBCE0D6}"/>
              </a:ext>
            </a:extLst>
          </p:cNvPr>
          <p:cNvSpPr>
            <a:spLocks xmlns:a="http://schemas.openxmlformats.org/drawingml/2006/main" noGrp="1"/>
          </p:cNvSpPr>
          <p:nvPr/>
        </p:nvSpPr>
        <p:spPr>
          <a:xfrm xmlns:a="http://schemas.openxmlformats.org/drawingml/2006/main">
            <a:off x="723900" y="213360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WHAT A RESIDENT HAS TO WORK OUT</a:t>
            </a:r>
          </a:p>
        </p:txBody>
      </p:sp>
      <p:sp>
        <p:nvSpPr>
          <p:cNvPr id="5" name="">
            <a:extLst xmlns:a="http://schemas.openxmlformats.org/drawingml/2006/main">
              <a:ext uri="{FF2B5EF4-FFF2-40B4-BE49-F238E27FC236}">
                <a16:creationId xmlns:a16="http://schemas.microsoft.com/office/drawing/2014/main" id="{53692807-47B7-406E-B3FD-1698DB49D4A4}"/>
              </a:ext>
            </a:extLst>
          </p:cNvPr>
          <p:cNvSpPr>
            <a:spLocks xmlns:a="http://schemas.openxmlformats.org/drawingml/2006/main" noGrp="1"/>
          </p:cNvSpPr>
          <p:nvPr/>
        </p:nvSpPr>
        <p:spPr>
          <a:xfrm xmlns:a="http://schemas.openxmlformats.org/drawingml/2006/main">
            <a:off x="781050" y="2628900"/>
            <a:ext cx="342900" cy="342900"/>
          </a:xfrm>
          <a:prstGeom xmlns:a="http://schemas.openxmlformats.org/drawingml/2006/main" prst="ellipse">
            <a:avLst/>
          </a:prstGeom>
          <a:solidFill xmlns:a="http://schemas.openxmlformats.org/drawingml/2006/main">
            <a:srgbClr val="1599D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C1C10EE-24CE-4A33-A885-1C702797BE20}"/>
              </a:ext>
            </a:extLst>
          </p:cNvPr>
          <p:cNvSpPr>
            <a:spLocks xmlns:a="http://schemas.openxmlformats.org/drawingml/2006/main" noGrp="1"/>
          </p:cNvSpPr>
          <p:nvPr/>
        </p:nvSpPr>
        <p:spPr>
          <a:xfrm xmlns:a="http://schemas.openxmlformats.org/drawingml/2006/main">
            <a:off x="876300" y="2705100"/>
            <a:ext cx="171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1">
                <a:solidFill>
                  <a:srgbClr val="FFFFFF"/>
                </a:solidFill>
                <a:latin typeface="Bitstream Charter"/>
                <a:ea typeface="Bitstream Charter"/>
                <a:cs typeface="Bitstream Charter"/>
              </a:defRPr>
            </a:pPr>
            <a:r>
              <a:rPr sz="1050" b="1">
                <a:solidFill>
                  <a:srgbClr val="FFFFFF"/>
                </a:solidFill>
                <a:latin typeface="Bitstream Charter"/>
                <a:ea typeface="Bitstream Charter"/>
                <a:cs typeface="Bitstream Charter"/>
              </a:rPr>
              <a:t>1</a:t>
            </a:r>
          </a:p>
        </p:txBody>
      </p:sp>
      <p:sp>
        <p:nvSpPr>
          <p:cNvPr id="7" name="">
            <a:extLst xmlns:a="http://schemas.openxmlformats.org/drawingml/2006/main">
              <a:ext uri="{FF2B5EF4-FFF2-40B4-BE49-F238E27FC236}">
                <a16:creationId xmlns:a16="http://schemas.microsoft.com/office/drawing/2014/main" id="{708AA745-3DA3-4F6E-9345-C04481F8BB9D}"/>
              </a:ext>
            </a:extLst>
          </p:cNvPr>
          <p:cNvSpPr>
            <a:spLocks xmlns:a="http://schemas.openxmlformats.org/drawingml/2006/main" noGrp="1"/>
          </p:cNvSpPr>
          <p:nvPr/>
        </p:nvSpPr>
        <p:spPr>
          <a:xfrm xmlns:a="http://schemas.openxmlformats.org/drawingml/2006/main">
            <a:off x="1352550" y="257175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143F50"/>
                </a:solidFill>
                <a:latin typeface="Bitstream Charter"/>
                <a:ea typeface="Bitstream Charter"/>
                <a:cs typeface="Bitstream Charter"/>
              </a:defRPr>
            </a:pPr>
            <a:r>
              <a:rPr sz="1875" b="1">
                <a:solidFill>
                  <a:srgbClr val="143F50"/>
                </a:solidFill>
                <a:latin typeface="Bitstream Charter"/>
                <a:ea typeface="Bitstream Charter"/>
                <a:cs typeface="Bitstream Charter"/>
              </a:rPr>
              <a:t>Is there somewhere nearby?</a:t>
            </a:r>
          </a:p>
        </p:txBody>
      </p:sp>
      <p:sp>
        <p:nvSpPr>
          <p:cNvPr id="8" name="">
            <a:extLst xmlns:a="http://schemas.openxmlformats.org/drawingml/2006/main">
              <a:ext uri="{FF2B5EF4-FFF2-40B4-BE49-F238E27FC236}">
                <a16:creationId xmlns:a16="http://schemas.microsoft.com/office/drawing/2014/main" id="{AB967C72-2C33-4B60-ACFB-0A018B278ED9}"/>
              </a:ext>
            </a:extLst>
          </p:cNvPr>
          <p:cNvSpPr>
            <a:spLocks xmlns:a="http://schemas.openxmlformats.org/drawingml/2006/main" noGrp="1"/>
          </p:cNvSpPr>
          <p:nvPr/>
        </p:nvSpPr>
        <p:spPr>
          <a:xfrm xmlns:a="http://schemas.openxmlformats.org/drawingml/2006/main">
            <a:off x="781050" y="3448050"/>
            <a:ext cx="342900" cy="342900"/>
          </a:xfrm>
          <a:prstGeom xmlns:a="http://schemas.openxmlformats.org/drawingml/2006/main" prst="ellipse">
            <a:avLst/>
          </a:prstGeom>
          <a:solidFill xmlns:a="http://schemas.openxmlformats.org/drawingml/2006/main">
            <a:srgbClr val="167D7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ED7A6D8-A346-4691-920F-68CD229FE6E3}"/>
              </a:ext>
            </a:extLst>
          </p:cNvPr>
          <p:cNvSpPr>
            <a:spLocks xmlns:a="http://schemas.openxmlformats.org/drawingml/2006/main" noGrp="1"/>
          </p:cNvSpPr>
          <p:nvPr/>
        </p:nvSpPr>
        <p:spPr>
          <a:xfrm xmlns:a="http://schemas.openxmlformats.org/drawingml/2006/main">
            <a:off x="876300" y="3524250"/>
            <a:ext cx="171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1">
                <a:solidFill>
                  <a:srgbClr val="FFFFFF"/>
                </a:solidFill>
                <a:latin typeface="Bitstream Charter"/>
                <a:ea typeface="Bitstream Charter"/>
                <a:cs typeface="Bitstream Charter"/>
              </a:defRPr>
            </a:pPr>
            <a:r>
              <a:rPr sz="1050" b="1">
                <a:solidFill>
                  <a:srgbClr val="FFFFFF"/>
                </a:solidFill>
                <a:latin typeface="Bitstream Charter"/>
                <a:ea typeface="Bitstream Charter"/>
                <a:cs typeface="Bitstream Charter"/>
              </a:rPr>
              <a:t>2</a:t>
            </a:r>
          </a:p>
        </p:txBody>
      </p:sp>
      <p:sp>
        <p:nvSpPr>
          <p:cNvPr id="10" name="">
            <a:extLst xmlns:a="http://schemas.openxmlformats.org/drawingml/2006/main">
              <a:ext uri="{FF2B5EF4-FFF2-40B4-BE49-F238E27FC236}">
                <a16:creationId xmlns:a16="http://schemas.microsoft.com/office/drawing/2014/main" id="{9074825A-9D0E-444E-B19E-F4FFB090A857}"/>
              </a:ext>
            </a:extLst>
          </p:cNvPr>
          <p:cNvSpPr>
            <a:spLocks xmlns:a="http://schemas.openxmlformats.org/drawingml/2006/main" noGrp="1"/>
          </p:cNvSpPr>
          <p:nvPr/>
        </p:nvSpPr>
        <p:spPr>
          <a:xfrm xmlns:a="http://schemas.openxmlformats.org/drawingml/2006/main">
            <a:off x="1352550" y="339090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143F50"/>
                </a:solidFill>
                <a:latin typeface="Bitstream Charter"/>
                <a:ea typeface="Bitstream Charter"/>
                <a:cs typeface="Bitstream Charter"/>
              </a:defRPr>
            </a:pPr>
            <a:r>
              <a:rPr sz="1875" b="1">
                <a:solidFill>
                  <a:srgbClr val="143F50"/>
                </a:solidFill>
                <a:latin typeface="Bitstream Charter"/>
                <a:ea typeface="Bitstream Charter"/>
                <a:cs typeface="Bitstream Charter"/>
              </a:rPr>
              <a:t>What can I actually do there?</a:t>
            </a:r>
          </a:p>
        </p:txBody>
      </p:sp>
      <p:sp>
        <p:nvSpPr>
          <p:cNvPr id="11" name="">
            <a:extLst xmlns:a="http://schemas.openxmlformats.org/drawingml/2006/main">
              <a:ext uri="{FF2B5EF4-FFF2-40B4-BE49-F238E27FC236}">
                <a16:creationId xmlns:a16="http://schemas.microsoft.com/office/drawing/2014/main" id="{C417D776-5D5E-40FD-B084-1BA22DE02EBB}"/>
              </a:ext>
            </a:extLst>
          </p:cNvPr>
          <p:cNvSpPr>
            <a:spLocks xmlns:a="http://schemas.openxmlformats.org/drawingml/2006/main" noGrp="1"/>
          </p:cNvSpPr>
          <p:nvPr/>
        </p:nvSpPr>
        <p:spPr>
          <a:xfrm xmlns:a="http://schemas.openxmlformats.org/drawingml/2006/main">
            <a:off x="781050" y="4267200"/>
            <a:ext cx="342900" cy="342900"/>
          </a:xfrm>
          <a:prstGeom xmlns:a="http://schemas.openxmlformats.org/drawingml/2006/main" prst="ellipse">
            <a:avLst/>
          </a:prstGeom>
          <a:solidFill xmlns:a="http://schemas.openxmlformats.org/drawingml/2006/main">
            <a:srgbClr val="4A972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339ADCF-D62E-470A-B2C7-18DA3AAD6363}"/>
              </a:ext>
            </a:extLst>
          </p:cNvPr>
          <p:cNvSpPr>
            <a:spLocks xmlns:a="http://schemas.openxmlformats.org/drawingml/2006/main" noGrp="1"/>
          </p:cNvSpPr>
          <p:nvPr/>
        </p:nvSpPr>
        <p:spPr>
          <a:xfrm xmlns:a="http://schemas.openxmlformats.org/drawingml/2006/main">
            <a:off x="876300" y="4343400"/>
            <a:ext cx="171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1">
                <a:solidFill>
                  <a:srgbClr val="FFFFFF"/>
                </a:solidFill>
                <a:latin typeface="Bitstream Charter"/>
                <a:ea typeface="Bitstream Charter"/>
                <a:cs typeface="Bitstream Charter"/>
              </a:defRPr>
            </a:pPr>
            <a:r>
              <a:rPr sz="1050" b="1">
                <a:solidFill>
                  <a:srgbClr val="FFFFFF"/>
                </a:solidFill>
                <a:latin typeface="Bitstream Charter"/>
                <a:ea typeface="Bitstream Charter"/>
                <a:cs typeface="Bitstream Charter"/>
              </a:rPr>
              <a:t>3</a:t>
            </a:r>
          </a:p>
        </p:txBody>
      </p:sp>
      <p:sp>
        <p:nvSpPr>
          <p:cNvPr id="13" name="">
            <a:extLst xmlns:a="http://schemas.openxmlformats.org/drawingml/2006/main">
              <a:ext uri="{FF2B5EF4-FFF2-40B4-BE49-F238E27FC236}">
                <a16:creationId xmlns:a16="http://schemas.microsoft.com/office/drawing/2014/main" id="{8ADBB3F5-804C-478A-BB06-C39C4086EEBA}"/>
              </a:ext>
            </a:extLst>
          </p:cNvPr>
          <p:cNvSpPr>
            <a:spLocks xmlns:a="http://schemas.openxmlformats.org/drawingml/2006/main" noGrp="1"/>
          </p:cNvSpPr>
          <p:nvPr/>
        </p:nvSpPr>
        <p:spPr>
          <a:xfrm xmlns:a="http://schemas.openxmlformats.org/drawingml/2006/main">
            <a:off x="1352550" y="421005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143F50"/>
                </a:solidFill>
                <a:latin typeface="Bitstream Charter"/>
                <a:ea typeface="Bitstream Charter"/>
                <a:cs typeface="Bitstream Charter"/>
              </a:defRPr>
            </a:pPr>
            <a:r>
              <a:rPr sz="1875" b="1">
                <a:solidFill>
                  <a:srgbClr val="143F50"/>
                </a:solidFill>
                <a:latin typeface="Bitstream Charter"/>
                <a:ea typeface="Bitstream Charter"/>
                <a:cs typeface="Bitstream Charter"/>
              </a:rPr>
              <a:t>Will the journey leave time to move?</a:t>
            </a:r>
          </a:p>
        </p:txBody>
      </p:sp>
      <p:sp>
        <p:nvSpPr>
          <p:cNvPr id="14" name="">
            <a:extLst xmlns:a="http://schemas.openxmlformats.org/drawingml/2006/main">
              <a:ext uri="{FF2B5EF4-FFF2-40B4-BE49-F238E27FC236}">
                <a16:creationId xmlns:a16="http://schemas.microsoft.com/office/drawing/2014/main" id="{E753A245-6353-4172-B0AD-618533EAC324}"/>
              </a:ext>
            </a:extLst>
          </p:cNvPr>
          <p:cNvSpPr>
            <a:spLocks xmlns:a="http://schemas.openxmlformats.org/drawingml/2006/main" noGrp="1"/>
          </p:cNvSpPr>
          <p:nvPr/>
        </p:nvSpPr>
        <p:spPr>
          <a:xfrm xmlns:a="http://schemas.openxmlformats.org/drawingml/2006/main">
            <a:off x="6457950" y="2114550"/>
            <a:ext cx="4210050" cy="2876550"/>
          </a:xfrm>
          <a:prstGeom xmlns:a="http://schemas.openxmlformats.org/drawingml/2006/main" prst="rect">
            <a:avLst/>
          </a:prstGeom>
          <a:solidFill xmlns:a="http://schemas.openxmlformats.org/drawingml/2006/main">
            <a:srgbClr val="F3FBFF"/>
          </a:solidFill>
          <a:ln xmlns:a="http://schemas.openxmlformats.org/drawingml/2006/main" w="9525">
            <a:solidFill>
              <a:srgbClr val="BFDBE2"/>
            </a:solidFill>
          </a:ln>
        </p:spPr>
      </p:sp>
      <p:sp>
        <p:nvSpPr>
          <p:cNvPr id="15" name="">
            <a:extLst xmlns:a="http://schemas.openxmlformats.org/drawingml/2006/main">
              <a:ext uri="{FF2B5EF4-FFF2-40B4-BE49-F238E27FC236}">
                <a16:creationId xmlns:a16="http://schemas.microsoft.com/office/drawing/2014/main" id="{B085CB53-B196-41AE-8509-02D15E9F890A}"/>
              </a:ext>
            </a:extLst>
          </p:cNvPr>
          <p:cNvSpPr>
            <a:spLocks xmlns:a="http://schemas.openxmlformats.org/drawingml/2006/main" noGrp="1"/>
          </p:cNvSpPr>
          <p:nvPr/>
        </p:nvSpPr>
        <p:spPr>
          <a:xfrm xmlns:a="http://schemas.openxmlformats.org/drawingml/2006/main">
            <a:off x="6838950" y="24574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THE MISSING CONNECTION</a:t>
            </a:r>
          </a:p>
        </p:txBody>
      </p:sp>
      <p:sp>
        <p:nvSpPr>
          <p:cNvPr id="16" name="">
            <a:extLst xmlns:a="http://schemas.openxmlformats.org/drawingml/2006/main">
              <a:ext uri="{FF2B5EF4-FFF2-40B4-BE49-F238E27FC236}">
                <a16:creationId xmlns:a16="http://schemas.microsoft.com/office/drawing/2014/main" id="{35580A84-5429-4E8E-97A4-E57ED6A62C78}"/>
              </a:ext>
            </a:extLst>
          </p:cNvPr>
          <p:cNvSpPr>
            <a:spLocks xmlns:a="http://schemas.openxmlformats.org/drawingml/2006/main" noGrp="1"/>
          </p:cNvSpPr>
          <p:nvPr/>
        </p:nvSpPr>
        <p:spPr>
          <a:xfrm xmlns:a="http://schemas.openxmlformats.org/drawingml/2006/main">
            <a:off x="6838950" y="2857500"/>
            <a:ext cx="32004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1">
                <a:solidFill>
                  <a:srgbClr val="143F50"/>
                </a:solidFill>
                <a:latin typeface="Bitstream Charter"/>
                <a:ea typeface="Bitstream Charter"/>
                <a:cs typeface="Bitstream Charter"/>
              </a:defRPr>
            </a:pPr>
            <a:r>
              <a:rPr sz="1725" b="1">
                <a:solidFill>
                  <a:srgbClr val="143F50"/>
                </a:solidFill>
                <a:latin typeface="Bitstream Charter"/>
                <a:ea typeface="Bitstream Charter"/>
                <a:cs typeface="Bitstream Charter"/>
              </a:rPr>
              <a:t>A 45-minute window should lead to one realistic public place to move, without handing over health information.</a:t>
            </a:r>
          </a:p>
        </p:txBody>
      </p:sp>
      <p:sp>
        <p:nvSpPr>
          <p:cNvPr id="17" name="">
            <a:extLst xmlns:a="http://schemas.openxmlformats.org/drawingml/2006/main">
              <a:ext uri="{FF2B5EF4-FFF2-40B4-BE49-F238E27FC236}">
                <a16:creationId xmlns:a16="http://schemas.microsoft.com/office/drawing/2014/main" id="{1652DAC4-6FE9-4C8F-9EE2-BAD6DAB1E191}"/>
              </a:ext>
            </a:extLst>
          </p:cNvPr>
          <p:cNvSpPr>
            <a:spLocks xmlns:a="http://schemas.openxmlformats.org/drawingml/2006/main" noGrp="1"/>
          </p:cNvSpPr>
          <p:nvPr/>
        </p:nvSpPr>
        <p:spPr>
          <a:xfrm xmlns:a="http://schemas.openxmlformats.org/drawingml/2006/main">
            <a:off x="6838950" y="4362450"/>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0">
                <a:solidFill>
                  <a:srgbClr val="456773"/>
                </a:solidFill>
                <a:latin typeface="Bitstream Charter"/>
                <a:ea typeface="Bitstream Charter"/>
                <a:cs typeface="Bitstream Charter"/>
              </a:defRPr>
            </a:pPr>
            <a:r>
              <a:rPr sz="1200" b="0">
                <a:solidFill>
                  <a:srgbClr val="456773"/>
                </a:solidFill>
                <a:latin typeface="Bitstream Charter"/>
                <a:ea typeface="Bitstream Charter"/>
                <a:cs typeface="Bitstream Charter"/>
              </a:rPr>
              <a:t>Active City brings the practical choices together and shows its data limits clearly.</a:t>
            </a:r>
          </a:p>
        </p:txBody>
      </p:sp>
      <p:sp>
        <p:nvSpPr>
          <p:cNvPr id="18" name="">
            <a:extLst xmlns:a="http://schemas.openxmlformats.org/drawingml/2006/main">
              <a:ext uri="{FF2B5EF4-FFF2-40B4-BE49-F238E27FC236}">
                <a16:creationId xmlns:a16="http://schemas.microsoft.com/office/drawing/2014/main" id="{FC000D0D-306A-41F9-AC05-021D7199A620}"/>
              </a:ext>
            </a:extLst>
          </p:cNvPr>
          <p:cNvSpPr>
            <a:spLocks xmlns:a="http://schemas.openxmlformats.org/drawingml/2006/main" noGrp="1"/>
          </p:cNvSpPr>
          <p:nvPr/>
        </p:nvSpPr>
        <p:spPr>
          <a:xfrm xmlns:a="http://schemas.openxmlformats.org/drawingml/2006/main">
            <a:off x="723900" y="6419850"/>
            <a:ext cx="10744200" cy="0"/>
          </a:xfrm>
          <a:prstGeom xmlns:a="http://schemas.openxmlformats.org/drawingml/2006/main" prst="line">
            <a:avLst/>
          </a:prstGeom>
          <a:noFill xmlns:a="http://schemas.openxmlformats.org/drawingml/2006/main"/>
          <a:ln xmlns:a="http://schemas.openxmlformats.org/drawingml/2006/main" w="9525">
            <a:solidFill>
              <a:srgbClr val="BFDBE2"/>
            </a:solidFill>
          </a:ln>
        </p:spPr>
      </p:sp>
      <p:sp>
        <p:nvSpPr>
          <p:cNvPr id="19" name="">
            <a:extLst xmlns:a="http://schemas.openxmlformats.org/drawingml/2006/main">
              <a:ext uri="{FF2B5EF4-FFF2-40B4-BE49-F238E27FC236}">
                <a16:creationId xmlns:a16="http://schemas.microsoft.com/office/drawing/2014/main" id="{6673A673-61F6-4ADC-8EFF-DB55451B35F1}"/>
              </a:ext>
            </a:extLst>
          </p:cNvPr>
          <p:cNvSpPr>
            <a:spLocks xmlns:a="http://schemas.openxmlformats.org/drawingml/2006/main" noGrp="1"/>
          </p:cNvSpPr>
          <p:nvPr/>
        </p:nvSpPr>
        <p:spPr>
          <a:xfrm xmlns:a="http://schemas.openxmlformats.org/drawingml/2006/main">
            <a:off x="723900" y="65151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167D73"/>
                </a:solidFill>
                <a:latin typeface="Bitstream Charter"/>
                <a:ea typeface="Bitstream Charter"/>
                <a:cs typeface="Bitstream Charter"/>
              </a:defRPr>
            </a:pPr>
            <a:r>
              <a:rPr sz="825" b="1">
                <a:solidFill>
                  <a:srgbClr val="167D73"/>
                </a:solidFill>
                <a:latin typeface="Bitstream Charter"/>
                <a:ea typeface="Bitstream Charter"/>
                <a:cs typeface="Bitstream Charter"/>
              </a:rPr>
              <a:t>ACTIVE CITY  ·  KRAKÓW PILOT</a:t>
            </a:r>
          </a:p>
        </p:txBody>
      </p:sp>
      <p:sp>
        <p:nvSpPr>
          <p:cNvPr id="20" name="">
            <a:extLst xmlns:a="http://schemas.openxmlformats.org/drawingml/2006/main">
              <a:ext uri="{FF2B5EF4-FFF2-40B4-BE49-F238E27FC236}">
                <a16:creationId xmlns:a16="http://schemas.microsoft.com/office/drawing/2014/main" id="{08C8E9D8-50B7-4101-BAF0-3FAA5FBF26BB}"/>
              </a:ext>
            </a:extLst>
          </p:cNvPr>
          <p:cNvSpPr>
            <a:spLocks xmlns:a="http://schemas.openxmlformats.org/drawingml/2006/main" noGrp="1"/>
          </p:cNvSpPr>
          <p:nvPr/>
        </p:nvSpPr>
        <p:spPr>
          <a:xfrm xmlns:a="http://schemas.openxmlformats.org/drawingml/2006/main">
            <a:off x="107061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456773"/>
                </a:solidFill>
                <a:latin typeface="Bitstream Charter"/>
                <a:ea typeface="Bitstream Charter"/>
                <a:cs typeface="Bitstream Charter"/>
              </a:defRPr>
            </a:pPr>
            <a:r>
              <a:rPr sz="825" b="1">
                <a:solidFill>
                  <a:srgbClr val="456773"/>
                </a:solidFill>
                <a:latin typeface="Bitstream Charter"/>
                <a:ea typeface="Bitstream Charter"/>
                <a:cs typeface="Bitstream Charter"/>
              </a:rPr>
              <a:t>02</a:t>
            </a:r>
          </a:p>
        </p:txBody>
      </p:sp>
    </p:spTree>
    <p:extLst>
      <p:ext uri="{BB962C8B-B14F-4D97-AF65-F5344CB8AC3E}">
        <p14:creationId xmlns:p14="http://schemas.microsoft.com/office/powerpoint/2010/main" val="1057048363"/>
      </p:ext>
    </p:extLst>
  </p:cSld>
</p:sld>
</file>

<file path=ppt/slides/slide3.xml><?xml version="1.0" encoding="utf-8"?>
<p:sld xmlns:p="http://schemas.openxmlformats.org/presentationml/2006/main">
  <p:cSld>
    <p:bg>
      <p:bgPr>
        <a:solidFill xmlns:a="http://schemas.openxmlformats.org/drawingml/2006/main">
          <a:srgbClr val="EEF8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D325A43-7A91-415E-B907-E7AA5438671F}"/>
              </a:ext>
            </a:extLst>
          </p:cNvPr>
          <p:cNvSpPr>
            <a:spLocks xmlns:a="http://schemas.openxmlformats.org/drawingml/2006/main" noGrp="1"/>
          </p:cNvSpPr>
          <p:nvPr/>
        </p:nvSpPr>
        <p:spPr>
          <a:xfrm xmlns:a="http://schemas.openxmlformats.org/drawingml/2006/main">
            <a:off x="704850" y="495300"/>
            <a:ext cx="990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3F50"/>
                </a:solidFill>
                <a:latin typeface="Bitstream Charter"/>
                <a:ea typeface="Bitstream Charter"/>
                <a:cs typeface="Bitstream Charter"/>
              </a:defRPr>
            </a:pPr>
            <a:r>
              <a:rPr sz="2850" b="1">
                <a:solidFill>
                  <a:srgbClr val="143F50"/>
                </a:solidFill>
                <a:latin typeface="Bitstream Charter"/>
                <a:ea typeface="Bitstream Charter"/>
                <a:cs typeface="Bitstream Charter"/>
              </a:rPr>
              <a:t>The primary user</a:t>
            </a:r>
          </a:p>
        </p:txBody>
      </p:sp>
      <p:sp>
        <p:nvSpPr>
          <p:cNvPr id="2" name="">
            <a:extLst xmlns:a="http://schemas.openxmlformats.org/drawingml/2006/main">
              <a:ext uri="{FF2B5EF4-FFF2-40B4-BE49-F238E27FC236}">
                <a16:creationId xmlns:a16="http://schemas.microsoft.com/office/drawing/2014/main" id="{BFFA3571-17FB-41AF-A19D-5EB426792A03}"/>
              </a:ext>
            </a:extLst>
          </p:cNvPr>
          <p:cNvSpPr>
            <a:spLocks xmlns:a="http://schemas.openxmlformats.org/drawingml/2006/main" noGrp="1"/>
          </p:cNvSpPr>
          <p:nvPr/>
        </p:nvSpPr>
        <p:spPr>
          <a:xfrm xmlns:a="http://schemas.openxmlformats.org/drawingml/2006/main">
            <a:off x="723900" y="15049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Kraków residents who want to move more but have limited time, confidence or knowledge of local public facilities.</a:t>
            </a:r>
          </a:p>
        </p:txBody>
      </p:sp>
      <p:sp>
        <p:nvSpPr>
          <p:cNvPr id="3" name="">
            <a:extLst xmlns:a="http://schemas.openxmlformats.org/drawingml/2006/main">
              <a:ext uri="{FF2B5EF4-FFF2-40B4-BE49-F238E27FC236}">
                <a16:creationId xmlns:a16="http://schemas.microsoft.com/office/drawing/2014/main" id="{29437CAC-D261-42A3-A1D8-6E9C3C1F35DF}"/>
              </a:ext>
            </a:extLst>
          </p:cNvPr>
          <p:cNvSpPr>
            <a:spLocks xmlns:a="http://schemas.openxmlformats.org/drawingml/2006/main" noGrp="1"/>
          </p:cNvSpPr>
          <p:nvPr/>
        </p:nvSpPr>
        <p:spPr>
          <a:xfrm xmlns:a="http://schemas.openxmlformats.org/drawingml/2006/main">
            <a:off x="723900" y="1943100"/>
            <a:ext cx="781050" cy="47625"/>
          </a:xfrm>
          <a:prstGeom xmlns:a="http://schemas.openxmlformats.org/drawingml/2006/main" prst="rect">
            <a:avLst/>
          </a:prstGeom>
          <a:solidFill xmlns:a="http://schemas.openxmlformats.org/drawingml/2006/main">
            <a:srgbClr val="F4A92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71B9BA1-DF09-4C4F-B482-DB09C8D7FE91}"/>
              </a:ext>
            </a:extLst>
          </p:cNvPr>
          <p:cNvSpPr>
            <a:spLocks xmlns:a="http://schemas.openxmlformats.org/drawingml/2006/main" noGrp="1"/>
          </p:cNvSpPr>
          <p:nvPr/>
        </p:nvSpPr>
        <p:spPr>
          <a:xfrm xmlns:a="http://schemas.openxmlformats.org/drawingml/2006/main">
            <a:off x="723900" y="2133600"/>
            <a:ext cx="4114800" cy="2952750"/>
          </a:xfrm>
          <a:prstGeom xmlns:a="http://schemas.openxmlformats.org/drawingml/2006/main" prst="rect">
            <a:avLst/>
          </a:prstGeom>
          <a:solidFill xmlns:a="http://schemas.openxmlformats.org/drawingml/2006/main">
            <a:srgbClr val="FFFFFF"/>
          </a:solidFill>
          <a:ln xmlns:a="http://schemas.openxmlformats.org/drawingml/2006/main" w="9525">
            <a:solidFill>
              <a:srgbClr val="BFDBE2"/>
            </a:solidFill>
          </a:ln>
        </p:spPr>
      </p:sp>
      <p:sp>
        <p:nvSpPr>
          <p:cNvPr id="5" name="">
            <a:extLst xmlns:a="http://schemas.openxmlformats.org/drawingml/2006/main">
              <a:ext uri="{FF2B5EF4-FFF2-40B4-BE49-F238E27FC236}">
                <a16:creationId xmlns:a16="http://schemas.microsoft.com/office/drawing/2014/main" id="{AF028BD2-4949-40C8-B2DE-393D69A37DC1}"/>
              </a:ext>
            </a:extLst>
          </p:cNvPr>
          <p:cNvSpPr>
            <a:spLocks xmlns:a="http://schemas.openxmlformats.org/drawingml/2006/main" noGrp="1"/>
          </p:cNvSpPr>
          <p:nvPr/>
        </p:nvSpPr>
        <p:spPr>
          <a:xfrm xmlns:a="http://schemas.openxmlformats.org/drawingml/2006/main">
            <a:off x="1028700" y="247650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A TYPICAL MOMENT</a:t>
            </a:r>
          </a:p>
        </p:txBody>
      </p:sp>
      <p:sp>
        <p:nvSpPr>
          <p:cNvPr id="6" name="">
            <a:extLst xmlns:a="http://schemas.openxmlformats.org/drawingml/2006/main">
              <a:ext uri="{FF2B5EF4-FFF2-40B4-BE49-F238E27FC236}">
                <a16:creationId xmlns:a16="http://schemas.microsoft.com/office/drawing/2014/main" id="{11CC27B1-DED7-4BD7-96FD-A002D7A96074}"/>
              </a:ext>
            </a:extLst>
          </p:cNvPr>
          <p:cNvSpPr>
            <a:spLocks xmlns:a="http://schemas.openxmlformats.org/drawingml/2006/main" noGrp="1"/>
          </p:cNvSpPr>
          <p:nvPr/>
        </p:nvSpPr>
        <p:spPr>
          <a:xfrm xmlns:a="http://schemas.openxmlformats.org/drawingml/2006/main">
            <a:off x="1028700" y="2914650"/>
            <a:ext cx="32004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1">
                <a:solidFill>
                  <a:srgbClr val="143F50"/>
                </a:solidFill>
                <a:latin typeface="Bitstream Charter"/>
                <a:ea typeface="Bitstream Charter"/>
                <a:cs typeface="Bitstream Charter"/>
              </a:defRPr>
            </a:pPr>
            <a:r>
              <a:rPr sz="1800" b="1">
                <a:solidFill>
                  <a:srgbClr val="143F50"/>
                </a:solidFill>
                <a:latin typeface="Bitstream Charter"/>
                <a:ea typeface="Bitstream Charter"/>
                <a:cs typeface="Bitstream Charter"/>
              </a:rPr>
              <a:t>“I have an hour after work. I want to do something useful, but I do not know whether the place I found is worth the journey.”</a:t>
            </a:r>
          </a:p>
        </p:txBody>
      </p:sp>
      <p:sp>
        <p:nvSpPr>
          <p:cNvPr id="7" name="">
            <a:extLst xmlns:a="http://schemas.openxmlformats.org/drawingml/2006/main">
              <a:ext uri="{FF2B5EF4-FFF2-40B4-BE49-F238E27FC236}">
                <a16:creationId xmlns:a16="http://schemas.microsoft.com/office/drawing/2014/main" id="{5B8A6D9E-7F13-4DD4-AE00-BDB994DBFA59}"/>
              </a:ext>
            </a:extLst>
          </p:cNvPr>
          <p:cNvSpPr>
            <a:spLocks xmlns:a="http://schemas.openxmlformats.org/drawingml/2006/main" noGrp="1"/>
          </p:cNvSpPr>
          <p:nvPr/>
        </p:nvSpPr>
        <p:spPr>
          <a:xfrm xmlns:a="http://schemas.openxmlformats.org/drawingml/2006/main">
            <a:off x="1028700" y="4533900"/>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0">
                <a:solidFill>
                  <a:srgbClr val="456773"/>
                </a:solidFill>
                <a:latin typeface="Bitstream Charter"/>
                <a:ea typeface="Bitstream Charter"/>
                <a:cs typeface="Bitstream Charter"/>
              </a:defRPr>
            </a:pPr>
            <a:r>
              <a:rPr sz="1200" b="0">
                <a:solidFill>
                  <a:srgbClr val="456773"/>
                </a:solidFill>
                <a:latin typeface="Bitstream Charter"/>
                <a:ea typeface="Bitstream Charter"/>
                <a:cs typeface="Bitstream Charter"/>
              </a:rPr>
              <a:t>The decision is practical before it becomes motivational.</a:t>
            </a:r>
          </a:p>
        </p:txBody>
      </p:sp>
      <p:sp>
        <p:nvSpPr>
          <p:cNvPr id="8" name="">
            <a:extLst xmlns:a="http://schemas.openxmlformats.org/drawingml/2006/main">
              <a:ext uri="{FF2B5EF4-FFF2-40B4-BE49-F238E27FC236}">
                <a16:creationId xmlns:a16="http://schemas.microsoft.com/office/drawing/2014/main" id="{CCC6BF24-C974-4393-AA26-E30E8E89FD26}"/>
              </a:ext>
            </a:extLst>
          </p:cNvPr>
          <p:cNvSpPr>
            <a:spLocks xmlns:a="http://schemas.openxmlformats.org/drawingml/2006/main" noGrp="1"/>
          </p:cNvSpPr>
          <p:nvPr/>
        </p:nvSpPr>
        <p:spPr>
          <a:xfrm xmlns:a="http://schemas.openxmlformats.org/drawingml/2006/main">
            <a:off x="6000750" y="23241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3600" b="1">
                <a:solidFill>
                  <a:srgbClr val="083F69"/>
                </a:solidFill>
                <a:latin typeface="Bitstream Charter"/>
                <a:ea typeface="Bitstream Charter"/>
                <a:cs typeface="Bitstream Charter"/>
              </a:defRPr>
            </a:pPr>
            <a:r>
              <a:rPr sz="3600" b="1">
                <a:solidFill>
                  <a:srgbClr val="083F69"/>
                </a:solidFill>
                <a:latin typeface="Bitstream Charter"/>
                <a:ea typeface="Bitstream Charter"/>
                <a:cs typeface="Bitstream Charter"/>
              </a:rPr>
              <a:t>30–120</a:t>
            </a:r>
          </a:p>
        </p:txBody>
      </p:sp>
      <p:sp>
        <p:nvSpPr>
          <p:cNvPr id="9" name="">
            <a:extLst xmlns:a="http://schemas.openxmlformats.org/drawingml/2006/main">
              <a:ext uri="{FF2B5EF4-FFF2-40B4-BE49-F238E27FC236}">
                <a16:creationId xmlns:a16="http://schemas.microsoft.com/office/drawing/2014/main" id="{2DF3B1EE-F9D9-4E52-92BB-B3A56AC79CED}"/>
              </a:ext>
            </a:extLst>
          </p:cNvPr>
          <p:cNvSpPr>
            <a:spLocks xmlns:a="http://schemas.openxmlformats.org/drawingml/2006/main" noGrp="1"/>
          </p:cNvSpPr>
          <p:nvPr/>
        </p:nvSpPr>
        <p:spPr>
          <a:xfrm xmlns:a="http://schemas.openxmlformats.org/drawingml/2006/main">
            <a:off x="6000750" y="29718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456773"/>
                </a:solidFill>
                <a:latin typeface="Bitstream Charter"/>
                <a:ea typeface="Bitstream Charter"/>
                <a:cs typeface="Bitstream Charter"/>
              </a:defRPr>
            </a:pPr>
            <a:r>
              <a:rPr sz="1200" b="1">
                <a:solidFill>
                  <a:srgbClr val="456773"/>
                </a:solidFill>
                <a:latin typeface="Bitstream Charter"/>
                <a:ea typeface="Bitstream Charter"/>
                <a:cs typeface="Bitstream Charter"/>
              </a:rPr>
              <a:t>minutes available in Today’s Plan</a:t>
            </a:r>
          </a:p>
        </p:txBody>
      </p:sp>
      <p:sp>
        <p:nvSpPr>
          <p:cNvPr id="10" name="">
            <a:extLst xmlns:a="http://schemas.openxmlformats.org/drawingml/2006/main">
              <a:ext uri="{FF2B5EF4-FFF2-40B4-BE49-F238E27FC236}">
                <a16:creationId xmlns:a16="http://schemas.microsoft.com/office/drawing/2014/main" id="{AA123401-E94D-4666-B40E-86FABE6629FF}"/>
              </a:ext>
            </a:extLst>
          </p:cNvPr>
          <p:cNvSpPr>
            <a:spLocks xmlns:a="http://schemas.openxmlformats.org/drawingml/2006/main" noGrp="1"/>
          </p:cNvSpPr>
          <p:nvPr/>
        </p:nvSpPr>
        <p:spPr>
          <a:xfrm xmlns:a="http://schemas.openxmlformats.org/drawingml/2006/main">
            <a:off x="8667750" y="23241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3600" b="1">
                <a:solidFill>
                  <a:srgbClr val="F4A928"/>
                </a:solidFill>
                <a:latin typeface="Bitstream Charter"/>
                <a:ea typeface="Bitstream Charter"/>
                <a:cs typeface="Bitstream Charter"/>
              </a:defRPr>
            </a:pPr>
            <a:r>
              <a:rPr sz="3600" b="1">
                <a:solidFill>
                  <a:srgbClr val="F4A928"/>
                </a:solidFill>
                <a:latin typeface="Bitstream Charter"/>
                <a:ea typeface="Bitstream Charter"/>
                <a:cs typeface="Bitstream Charter"/>
              </a:rPr>
              <a:t>&lt; 10</a:t>
            </a:r>
          </a:p>
        </p:txBody>
      </p:sp>
      <p:sp>
        <p:nvSpPr>
          <p:cNvPr id="11" name="">
            <a:extLst xmlns:a="http://schemas.openxmlformats.org/drawingml/2006/main">
              <a:ext uri="{FF2B5EF4-FFF2-40B4-BE49-F238E27FC236}">
                <a16:creationId xmlns:a16="http://schemas.microsoft.com/office/drawing/2014/main" id="{39E62BE9-0547-4A3E-BD9B-4EBC0E35D0BC}"/>
              </a:ext>
            </a:extLst>
          </p:cNvPr>
          <p:cNvSpPr>
            <a:spLocks xmlns:a="http://schemas.openxmlformats.org/drawingml/2006/main" noGrp="1"/>
          </p:cNvSpPr>
          <p:nvPr/>
        </p:nvSpPr>
        <p:spPr>
          <a:xfrm xmlns:a="http://schemas.openxmlformats.org/drawingml/2006/main">
            <a:off x="8667750" y="29718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456773"/>
                </a:solidFill>
                <a:latin typeface="Bitstream Charter"/>
                <a:ea typeface="Bitstream Charter"/>
                <a:cs typeface="Bitstream Charter"/>
              </a:defRPr>
            </a:pPr>
            <a:r>
              <a:rPr sz="1200" b="1">
                <a:solidFill>
                  <a:srgbClr val="456773"/>
                </a:solidFill>
                <a:latin typeface="Bitstream Charter"/>
                <a:ea typeface="Bitstream Charter"/>
                <a:cs typeface="Bitstream Charter"/>
              </a:rPr>
              <a:t>minutes left triggers a closer-place suggestion</a:t>
            </a:r>
          </a:p>
        </p:txBody>
      </p:sp>
      <p:sp>
        <p:nvSpPr>
          <p:cNvPr id="12" name="">
            <a:extLst xmlns:a="http://schemas.openxmlformats.org/drawingml/2006/main">
              <a:ext uri="{FF2B5EF4-FFF2-40B4-BE49-F238E27FC236}">
                <a16:creationId xmlns:a16="http://schemas.microsoft.com/office/drawing/2014/main" id="{0B0C619E-BC7B-4A39-BAE6-91A3EDA606ED}"/>
              </a:ext>
            </a:extLst>
          </p:cNvPr>
          <p:cNvSpPr>
            <a:spLocks xmlns:a="http://schemas.openxmlformats.org/drawingml/2006/main" noGrp="1"/>
          </p:cNvSpPr>
          <p:nvPr/>
        </p:nvSpPr>
        <p:spPr>
          <a:xfrm xmlns:a="http://schemas.openxmlformats.org/drawingml/2006/main">
            <a:off x="6057900" y="3952875"/>
            <a:ext cx="4248150" cy="0"/>
          </a:xfrm>
          <a:prstGeom xmlns:a="http://schemas.openxmlformats.org/drawingml/2006/main" prst="line">
            <a:avLst/>
          </a:prstGeom>
          <a:noFill xmlns:a="http://schemas.openxmlformats.org/drawingml/2006/main"/>
          <a:ln xmlns:a="http://schemas.openxmlformats.org/drawingml/2006/main" w="28575">
            <a:solidFill>
              <a:srgbClr val="9ECFD9"/>
            </a:solidFill>
          </a:ln>
        </p:spPr>
      </p:sp>
      <p:sp>
        <p:nvSpPr>
          <p:cNvPr id="13" name="">
            <a:extLst xmlns:a="http://schemas.openxmlformats.org/drawingml/2006/main">
              <a:ext uri="{FF2B5EF4-FFF2-40B4-BE49-F238E27FC236}">
                <a16:creationId xmlns:a16="http://schemas.microsoft.com/office/drawing/2014/main" id="{F165B432-FEAB-41EE-8124-C6CC9C3C4144}"/>
              </a:ext>
            </a:extLst>
          </p:cNvPr>
          <p:cNvSpPr>
            <a:spLocks xmlns:a="http://schemas.openxmlformats.org/drawingml/2006/main" noGrp="1"/>
          </p:cNvSpPr>
          <p:nvPr/>
        </p:nvSpPr>
        <p:spPr>
          <a:xfrm xmlns:a="http://schemas.openxmlformats.org/drawingml/2006/main">
            <a:off x="6019800" y="4324350"/>
            <a:ext cx="4381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1">
                <a:solidFill>
                  <a:srgbClr val="143F50"/>
                </a:solidFill>
                <a:latin typeface="Bitstream Charter"/>
                <a:ea typeface="Bitstream Charter"/>
                <a:cs typeface="Bitstream Charter"/>
              </a:defRPr>
            </a:pPr>
            <a:r>
              <a:rPr sz="1800" b="1">
                <a:solidFill>
                  <a:srgbClr val="143F50"/>
                </a:solidFill>
                <a:latin typeface="Bitstream Charter"/>
                <a:ea typeface="Bitstream Charter"/>
                <a:cs typeface="Bitstream Charter"/>
              </a:rPr>
              <a:t>A plan has to respect the full return journey, not just the activity itself.</a:t>
            </a:r>
          </a:p>
        </p:txBody>
      </p:sp>
      <p:sp>
        <p:nvSpPr>
          <p:cNvPr id="14" name="">
            <a:extLst xmlns:a="http://schemas.openxmlformats.org/drawingml/2006/main">
              <a:ext uri="{FF2B5EF4-FFF2-40B4-BE49-F238E27FC236}">
                <a16:creationId xmlns:a16="http://schemas.microsoft.com/office/drawing/2014/main" id="{142B7729-E451-4113-9252-ACFDB258195C}"/>
              </a:ext>
            </a:extLst>
          </p:cNvPr>
          <p:cNvSpPr>
            <a:spLocks xmlns:a="http://schemas.openxmlformats.org/drawingml/2006/main" noGrp="1"/>
          </p:cNvSpPr>
          <p:nvPr/>
        </p:nvSpPr>
        <p:spPr>
          <a:xfrm xmlns:a="http://schemas.openxmlformats.org/drawingml/2006/main">
            <a:off x="723900" y="6419850"/>
            <a:ext cx="10744200" cy="0"/>
          </a:xfrm>
          <a:prstGeom xmlns:a="http://schemas.openxmlformats.org/drawingml/2006/main" prst="line">
            <a:avLst/>
          </a:prstGeom>
          <a:noFill xmlns:a="http://schemas.openxmlformats.org/drawingml/2006/main"/>
          <a:ln xmlns:a="http://schemas.openxmlformats.org/drawingml/2006/main" w="9525">
            <a:solidFill>
              <a:srgbClr val="BFDBE2"/>
            </a:solidFill>
          </a:ln>
        </p:spPr>
      </p:sp>
      <p:sp>
        <p:nvSpPr>
          <p:cNvPr id="15" name="">
            <a:extLst xmlns:a="http://schemas.openxmlformats.org/drawingml/2006/main">
              <a:ext uri="{FF2B5EF4-FFF2-40B4-BE49-F238E27FC236}">
                <a16:creationId xmlns:a16="http://schemas.microsoft.com/office/drawing/2014/main" id="{7B6810E4-ED73-4364-A7A5-B4CDC1760AFE}"/>
              </a:ext>
            </a:extLst>
          </p:cNvPr>
          <p:cNvSpPr>
            <a:spLocks xmlns:a="http://schemas.openxmlformats.org/drawingml/2006/main" noGrp="1"/>
          </p:cNvSpPr>
          <p:nvPr/>
        </p:nvSpPr>
        <p:spPr>
          <a:xfrm xmlns:a="http://schemas.openxmlformats.org/drawingml/2006/main">
            <a:off x="723900" y="65151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167D73"/>
                </a:solidFill>
                <a:latin typeface="Bitstream Charter"/>
                <a:ea typeface="Bitstream Charter"/>
                <a:cs typeface="Bitstream Charter"/>
              </a:defRPr>
            </a:pPr>
            <a:r>
              <a:rPr sz="825" b="1">
                <a:solidFill>
                  <a:srgbClr val="167D73"/>
                </a:solidFill>
                <a:latin typeface="Bitstream Charter"/>
                <a:ea typeface="Bitstream Charter"/>
                <a:cs typeface="Bitstream Charter"/>
              </a:rPr>
              <a:t>ACTIVE CITY  ·  KRAKÓW PILOT</a:t>
            </a:r>
          </a:p>
        </p:txBody>
      </p:sp>
      <p:sp>
        <p:nvSpPr>
          <p:cNvPr id="16" name="">
            <a:extLst xmlns:a="http://schemas.openxmlformats.org/drawingml/2006/main">
              <a:ext uri="{FF2B5EF4-FFF2-40B4-BE49-F238E27FC236}">
                <a16:creationId xmlns:a16="http://schemas.microsoft.com/office/drawing/2014/main" id="{05FCFD2D-13C6-43E6-B9C7-40B007DC190B}"/>
              </a:ext>
            </a:extLst>
          </p:cNvPr>
          <p:cNvSpPr>
            <a:spLocks xmlns:a="http://schemas.openxmlformats.org/drawingml/2006/main" noGrp="1"/>
          </p:cNvSpPr>
          <p:nvPr/>
        </p:nvSpPr>
        <p:spPr>
          <a:xfrm xmlns:a="http://schemas.openxmlformats.org/drawingml/2006/main">
            <a:off x="107061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456773"/>
                </a:solidFill>
                <a:latin typeface="Bitstream Charter"/>
                <a:ea typeface="Bitstream Charter"/>
                <a:cs typeface="Bitstream Charter"/>
              </a:defRPr>
            </a:pPr>
            <a:r>
              <a:rPr sz="825" b="1">
                <a:solidFill>
                  <a:srgbClr val="456773"/>
                </a:solidFill>
                <a:latin typeface="Bitstream Charter"/>
                <a:ea typeface="Bitstream Charter"/>
                <a:cs typeface="Bitstream Charter"/>
              </a:rPr>
              <a:t>03</a:t>
            </a:r>
          </a:p>
        </p:txBody>
      </p:sp>
    </p:spTree>
    <p:extLst>
      <p:ext uri="{BB962C8B-B14F-4D97-AF65-F5344CB8AC3E}">
        <p14:creationId xmlns:p14="http://schemas.microsoft.com/office/powerpoint/2010/main" val="1764503742"/>
      </p:ext>
    </p:extLst>
  </p:cSld>
</p:sld>
</file>

<file path=ppt/slides/slide4.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50BED60-EE30-4676-9250-F6E64729174F}"/>
              </a:ext>
            </a:extLst>
          </p:cNvPr>
          <p:cNvSpPr>
            <a:spLocks xmlns:a="http://schemas.openxmlformats.org/drawingml/2006/main" noGrp="1"/>
          </p:cNvSpPr>
          <p:nvPr/>
        </p:nvSpPr>
        <p:spPr>
          <a:xfrm xmlns:a="http://schemas.openxmlformats.org/drawingml/2006/main">
            <a:off x="704850" y="495300"/>
            <a:ext cx="990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3F50"/>
                </a:solidFill>
                <a:latin typeface="Bitstream Charter"/>
                <a:ea typeface="Bitstream Charter"/>
                <a:cs typeface="Bitstream Charter"/>
              </a:defRPr>
            </a:pPr>
            <a:r>
              <a:rPr sz="2850" b="1">
                <a:solidFill>
                  <a:srgbClr val="143F50"/>
                </a:solidFill>
                <a:latin typeface="Bitstream Charter"/>
                <a:ea typeface="Bitstream Charter"/>
                <a:cs typeface="Bitstream Charter"/>
              </a:rPr>
              <a:t>One clear journey</a:t>
            </a:r>
          </a:p>
        </p:txBody>
      </p:sp>
      <p:sp>
        <p:nvSpPr>
          <p:cNvPr id="2" name="">
            <a:extLst xmlns:a="http://schemas.openxmlformats.org/drawingml/2006/main">
              <a:ext uri="{FF2B5EF4-FFF2-40B4-BE49-F238E27FC236}">
                <a16:creationId xmlns:a16="http://schemas.microsoft.com/office/drawing/2014/main" id="{8381E863-B649-4897-BAFC-21A43C75DA1F}"/>
              </a:ext>
            </a:extLst>
          </p:cNvPr>
          <p:cNvSpPr>
            <a:spLocks xmlns:a="http://schemas.openxmlformats.org/drawingml/2006/main" noGrp="1"/>
          </p:cNvSpPr>
          <p:nvPr/>
        </p:nvSpPr>
        <p:spPr>
          <a:xfrm xmlns:a="http://schemas.openxmlformats.org/drawingml/2006/main">
            <a:off x="723900" y="15049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The app keeps the person moving forward instead of sending them back through disconnected sources.</a:t>
            </a:r>
          </a:p>
        </p:txBody>
      </p:sp>
      <p:sp>
        <p:nvSpPr>
          <p:cNvPr id="3" name="">
            <a:extLst xmlns:a="http://schemas.openxmlformats.org/drawingml/2006/main">
              <a:ext uri="{FF2B5EF4-FFF2-40B4-BE49-F238E27FC236}">
                <a16:creationId xmlns:a16="http://schemas.microsoft.com/office/drawing/2014/main" id="{361836D2-6504-45AC-8B78-F6AD3155F6EF}"/>
              </a:ext>
            </a:extLst>
          </p:cNvPr>
          <p:cNvSpPr>
            <a:spLocks xmlns:a="http://schemas.openxmlformats.org/drawingml/2006/main" noGrp="1"/>
          </p:cNvSpPr>
          <p:nvPr/>
        </p:nvSpPr>
        <p:spPr>
          <a:xfrm xmlns:a="http://schemas.openxmlformats.org/drawingml/2006/main">
            <a:off x="723900" y="1943100"/>
            <a:ext cx="781050" cy="47625"/>
          </a:xfrm>
          <a:prstGeom xmlns:a="http://schemas.openxmlformats.org/drawingml/2006/main" prst="rect">
            <a:avLst/>
          </a:prstGeom>
          <a:solidFill xmlns:a="http://schemas.openxmlformats.org/drawingml/2006/main">
            <a:srgbClr val="F4A92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1D94D0A-ADE2-47F6-973C-56FBA502F4A5}"/>
              </a:ext>
            </a:extLst>
          </p:cNvPr>
          <p:cNvSpPr>
            <a:spLocks xmlns:a="http://schemas.openxmlformats.org/drawingml/2006/main" noGrp="1"/>
          </p:cNvSpPr>
          <p:nvPr/>
        </p:nvSpPr>
        <p:spPr>
          <a:xfrm xmlns:a="http://schemas.openxmlformats.org/drawingml/2006/main">
            <a:off x="800100" y="2571750"/>
            <a:ext cx="609600" cy="609600"/>
          </a:xfrm>
          <a:prstGeom xmlns:a="http://schemas.openxmlformats.org/drawingml/2006/main" prst="ellipse">
            <a:avLst/>
          </a:prstGeom>
          <a:solidFill xmlns:a="http://schemas.openxmlformats.org/drawingml/2006/main">
            <a:srgbClr val="1599D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8B5BA19-3B3B-43A7-9564-84359B48A501}"/>
              </a:ext>
            </a:extLst>
          </p:cNvPr>
          <p:cNvSpPr>
            <a:spLocks xmlns:a="http://schemas.openxmlformats.org/drawingml/2006/main" noGrp="1"/>
          </p:cNvSpPr>
          <p:nvPr/>
        </p:nvSpPr>
        <p:spPr>
          <a:xfrm xmlns:a="http://schemas.openxmlformats.org/drawingml/2006/main">
            <a:off x="962025" y="273367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FFFFFF"/>
                </a:solidFill>
                <a:latin typeface="Bitstream Charter"/>
                <a:ea typeface="Bitstream Charter"/>
                <a:cs typeface="Bitstream Charter"/>
              </a:defRPr>
            </a:pPr>
            <a:r>
              <a:rPr sz="1500" b="1">
                <a:solidFill>
                  <a:srgbClr val="FFFFFF"/>
                </a:solidFill>
                <a:latin typeface="Bitstream Charter"/>
                <a:ea typeface="Bitstream Charter"/>
                <a:cs typeface="Bitstream Charter"/>
              </a:rPr>
              <a:t>1</a:t>
            </a:r>
          </a:p>
        </p:txBody>
      </p:sp>
      <p:sp>
        <p:nvSpPr>
          <p:cNvPr id="6" name="">
            <a:extLst xmlns:a="http://schemas.openxmlformats.org/drawingml/2006/main">
              <a:ext uri="{FF2B5EF4-FFF2-40B4-BE49-F238E27FC236}">
                <a16:creationId xmlns:a16="http://schemas.microsoft.com/office/drawing/2014/main" id="{7ECADC38-DA10-4583-AF61-7944ADF952A2}"/>
              </a:ext>
            </a:extLst>
          </p:cNvPr>
          <p:cNvSpPr>
            <a:spLocks xmlns:a="http://schemas.openxmlformats.org/drawingml/2006/main" noGrp="1"/>
          </p:cNvSpPr>
          <p:nvPr/>
        </p:nvSpPr>
        <p:spPr>
          <a:xfrm xmlns:a="http://schemas.openxmlformats.org/drawingml/2006/main">
            <a:off x="800100" y="340995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143F50"/>
                </a:solidFill>
                <a:latin typeface="Bitstream Charter"/>
                <a:ea typeface="Bitstream Charter"/>
                <a:cs typeface="Bitstream Charter"/>
              </a:defRPr>
            </a:pPr>
            <a:r>
              <a:rPr sz="1875" b="1">
                <a:solidFill>
                  <a:srgbClr val="143F50"/>
                </a:solidFill>
                <a:latin typeface="Bitstream Charter"/>
                <a:ea typeface="Bitstream Charter"/>
                <a:cs typeface="Bitstream Charter"/>
              </a:rPr>
              <a:t>Explore</a:t>
            </a:r>
          </a:p>
        </p:txBody>
      </p:sp>
      <p:sp>
        <p:nvSpPr>
          <p:cNvPr id="7" name="">
            <a:extLst xmlns:a="http://schemas.openxmlformats.org/drawingml/2006/main">
              <a:ext uri="{FF2B5EF4-FFF2-40B4-BE49-F238E27FC236}">
                <a16:creationId xmlns:a16="http://schemas.microsoft.com/office/drawing/2014/main" id="{1D6E3B57-E6CB-4722-9F88-004B39B3B45A}"/>
              </a:ext>
            </a:extLst>
          </p:cNvPr>
          <p:cNvSpPr>
            <a:spLocks xmlns:a="http://schemas.openxmlformats.org/drawingml/2006/main" noGrp="1"/>
          </p:cNvSpPr>
          <p:nvPr/>
        </p:nvSpPr>
        <p:spPr>
          <a:xfrm xmlns:a="http://schemas.openxmlformats.org/drawingml/2006/main">
            <a:off x="800100" y="3829050"/>
            <a:ext cx="2019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Choose a nearby documented place</a:t>
            </a:r>
          </a:p>
        </p:txBody>
      </p:sp>
      <p:sp>
        <p:nvSpPr>
          <p:cNvPr id="8" name="">
            <a:extLst xmlns:a="http://schemas.openxmlformats.org/drawingml/2006/main">
              <a:ext uri="{FF2B5EF4-FFF2-40B4-BE49-F238E27FC236}">
                <a16:creationId xmlns:a16="http://schemas.microsoft.com/office/drawing/2014/main" id="{41884410-33A8-43F5-9F11-E558698A52D4}"/>
              </a:ext>
            </a:extLst>
          </p:cNvPr>
          <p:cNvSpPr>
            <a:spLocks xmlns:a="http://schemas.openxmlformats.org/drawingml/2006/main" noGrp="1"/>
          </p:cNvSpPr>
          <p:nvPr/>
        </p:nvSpPr>
        <p:spPr>
          <a:xfrm xmlns:a="http://schemas.openxmlformats.org/drawingml/2006/main">
            <a:off x="1524000" y="2876550"/>
            <a:ext cx="1790700" cy="0"/>
          </a:xfrm>
          <a:prstGeom xmlns:a="http://schemas.openxmlformats.org/drawingml/2006/main" prst="line">
            <a:avLst/>
          </a:prstGeom>
          <a:noFill xmlns:a="http://schemas.openxmlformats.org/drawingml/2006/main"/>
          <a:ln xmlns:a="http://schemas.openxmlformats.org/drawingml/2006/main" w="28575">
            <a:solidFill>
              <a:srgbClr val="9BC8D1"/>
            </a:solidFill>
          </a:ln>
        </p:spPr>
      </p:sp>
      <p:sp>
        <p:nvSpPr>
          <p:cNvPr id="9" name="">
            <a:extLst xmlns:a="http://schemas.openxmlformats.org/drawingml/2006/main">
              <a:ext uri="{FF2B5EF4-FFF2-40B4-BE49-F238E27FC236}">
                <a16:creationId xmlns:a16="http://schemas.microsoft.com/office/drawing/2014/main" id="{4C391B62-C918-4CC2-AEB0-B40DF4D326C0}"/>
              </a:ext>
            </a:extLst>
          </p:cNvPr>
          <p:cNvSpPr>
            <a:spLocks xmlns:a="http://schemas.openxmlformats.org/drawingml/2006/main" noGrp="1"/>
          </p:cNvSpPr>
          <p:nvPr/>
        </p:nvSpPr>
        <p:spPr>
          <a:xfrm xmlns:a="http://schemas.openxmlformats.org/drawingml/2006/main">
            <a:off x="3505200" y="2571750"/>
            <a:ext cx="609600" cy="609600"/>
          </a:xfrm>
          <a:prstGeom xmlns:a="http://schemas.openxmlformats.org/drawingml/2006/main" prst="ellipse">
            <a:avLst/>
          </a:prstGeom>
          <a:solidFill xmlns:a="http://schemas.openxmlformats.org/drawingml/2006/main">
            <a:srgbClr val="167D7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8C71279-39A5-4EDD-BC35-C4281CA14E9D}"/>
              </a:ext>
            </a:extLst>
          </p:cNvPr>
          <p:cNvSpPr>
            <a:spLocks xmlns:a="http://schemas.openxmlformats.org/drawingml/2006/main" noGrp="1"/>
          </p:cNvSpPr>
          <p:nvPr/>
        </p:nvSpPr>
        <p:spPr>
          <a:xfrm xmlns:a="http://schemas.openxmlformats.org/drawingml/2006/main">
            <a:off x="3667125" y="273367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FFFFFF"/>
                </a:solidFill>
                <a:latin typeface="Bitstream Charter"/>
                <a:ea typeface="Bitstream Charter"/>
                <a:cs typeface="Bitstream Charter"/>
              </a:defRPr>
            </a:pPr>
            <a:r>
              <a:rPr sz="1500" b="1">
                <a:solidFill>
                  <a:srgbClr val="FFFFFF"/>
                </a:solidFill>
                <a:latin typeface="Bitstream Charter"/>
                <a:ea typeface="Bitstream Charter"/>
                <a:cs typeface="Bitstream Charter"/>
              </a:rPr>
              <a:t>2</a:t>
            </a:r>
          </a:p>
        </p:txBody>
      </p:sp>
      <p:sp>
        <p:nvSpPr>
          <p:cNvPr id="11" name="">
            <a:extLst xmlns:a="http://schemas.openxmlformats.org/drawingml/2006/main">
              <a:ext uri="{FF2B5EF4-FFF2-40B4-BE49-F238E27FC236}">
                <a16:creationId xmlns:a16="http://schemas.microsoft.com/office/drawing/2014/main" id="{CB5CA174-A1C8-4C37-A6F2-1B4E3A943FC4}"/>
              </a:ext>
            </a:extLst>
          </p:cNvPr>
          <p:cNvSpPr>
            <a:spLocks xmlns:a="http://schemas.openxmlformats.org/drawingml/2006/main" noGrp="1"/>
          </p:cNvSpPr>
          <p:nvPr/>
        </p:nvSpPr>
        <p:spPr>
          <a:xfrm xmlns:a="http://schemas.openxmlformats.org/drawingml/2006/main">
            <a:off x="3505200" y="340995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143F50"/>
                </a:solidFill>
                <a:latin typeface="Bitstream Charter"/>
                <a:ea typeface="Bitstream Charter"/>
                <a:cs typeface="Bitstream Charter"/>
              </a:defRPr>
            </a:pPr>
            <a:r>
              <a:rPr sz="1875" b="1">
                <a:solidFill>
                  <a:srgbClr val="143F50"/>
                </a:solidFill>
                <a:latin typeface="Bitstream Charter"/>
                <a:ea typeface="Bitstream Charter"/>
                <a:cs typeface="Bitstream Charter"/>
              </a:rPr>
              <a:t>Plan</a:t>
            </a:r>
          </a:p>
        </p:txBody>
      </p:sp>
      <p:sp>
        <p:nvSpPr>
          <p:cNvPr id="12" name="">
            <a:extLst xmlns:a="http://schemas.openxmlformats.org/drawingml/2006/main">
              <a:ext uri="{FF2B5EF4-FFF2-40B4-BE49-F238E27FC236}">
                <a16:creationId xmlns:a16="http://schemas.microsoft.com/office/drawing/2014/main" id="{6C5956FB-696E-4072-AD2C-8E2B41FA70AA}"/>
              </a:ext>
            </a:extLst>
          </p:cNvPr>
          <p:cNvSpPr>
            <a:spLocks xmlns:a="http://schemas.openxmlformats.org/drawingml/2006/main" noGrp="1"/>
          </p:cNvSpPr>
          <p:nvPr/>
        </p:nvSpPr>
        <p:spPr>
          <a:xfrm xmlns:a="http://schemas.openxmlformats.org/drawingml/2006/main">
            <a:off x="3505200" y="3829050"/>
            <a:ext cx="2019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Check time, route and activity</a:t>
            </a:r>
          </a:p>
        </p:txBody>
      </p:sp>
      <p:sp>
        <p:nvSpPr>
          <p:cNvPr id="13" name="">
            <a:extLst xmlns:a="http://schemas.openxmlformats.org/drawingml/2006/main">
              <a:ext uri="{FF2B5EF4-FFF2-40B4-BE49-F238E27FC236}">
                <a16:creationId xmlns:a16="http://schemas.microsoft.com/office/drawing/2014/main" id="{3CEBBA29-7C7B-4630-861C-A62A42EE94DC}"/>
              </a:ext>
            </a:extLst>
          </p:cNvPr>
          <p:cNvSpPr>
            <a:spLocks xmlns:a="http://schemas.openxmlformats.org/drawingml/2006/main" noGrp="1"/>
          </p:cNvSpPr>
          <p:nvPr/>
        </p:nvSpPr>
        <p:spPr>
          <a:xfrm xmlns:a="http://schemas.openxmlformats.org/drawingml/2006/main">
            <a:off x="4229100" y="2876550"/>
            <a:ext cx="1790700" cy="0"/>
          </a:xfrm>
          <a:prstGeom xmlns:a="http://schemas.openxmlformats.org/drawingml/2006/main" prst="line">
            <a:avLst/>
          </a:prstGeom>
          <a:noFill xmlns:a="http://schemas.openxmlformats.org/drawingml/2006/main"/>
          <a:ln xmlns:a="http://schemas.openxmlformats.org/drawingml/2006/main" w="28575">
            <a:solidFill>
              <a:srgbClr val="9BC8D1"/>
            </a:solidFill>
          </a:ln>
        </p:spPr>
      </p:sp>
      <p:sp>
        <p:nvSpPr>
          <p:cNvPr id="14" name="">
            <a:extLst xmlns:a="http://schemas.openxmlformats.org/drawingml/2006/main">
              <a:ext uri="{FF2B5EF4-FFF2-40B4-BE49-F238E27FC236}">
                <a16:creationId xmlns:a16="http://schemas.microsoft.com/office/drawing/2014/main" id="{ED823DF3-6B31-41CC-9201-C7DD1B1B115E}"/>
              </a:ext>
            </a:extLst>
          </p:cNvPr>
          <p:cNvSpPr>
            <a:spLocks xmlns:a="http://schemas.openxmlformats.org/drawingml/2006/main" noGrp="1"/>
          </p:cNvSpPr>
          <p:nvPr/>
        </p:nvSpPr>
        <p:spPr>
          <a:xfrm xmlns:a="http://schemas.openxmlformats.org/drawingml/2006/main">
            <a:off x="6210300" y="2571750"/>
            <a:ext cx="609600" cy="609600"/>
          </a:xfrm>
          <a:prstGeom xmlns:a="http://schemas.openxmlformats.org/drawingml/2006/main" prst="ellipse">
            <a:avLst/>
          </a:prstGeom>
          <a:solidFill xmlns:a="http://schemas.openxmlformats.org/drawingml/2006/main">
            <a:srgbClr val="4A972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F1303B2-F9A0-4DE5-A4D0-163F1296FB02}"/>
              </a:ext>
            </a:extLst>
          </p:cNvPr>
          <p:cNvSpPr>
            <a:spLocks xmlns:a="http://schemas.openxmlformats.org/drawingml/2006/main" noGrp="1"/>
          </p:cNvSpPr>
          <p:nvPr/>
        </p:nvSpPr>
        <p:spPr>
          <a:xfrm xmlns:a="http://schemas.openxmlformats.org/drawingml/2006/main">
            <a:off x="6372225" y="273367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FFFFFF"/>
                </a:solidFill>
                <a:latin typeface="Bitstream Charter"/>
                <a:ea typeface="Bitstream Charter"/>
                <a:cs typeface="Bitstream Charter"/>
              </a:defRPr>
            </a:pPr>
            <a:r>
              <a:rPr sz="1500" b="1">
                <a:solidFill>
                  <a:srgbClr val="FFFFFF"/>
                </a:solidFill>
                <a:latin typeface="Bitstream Charter"/>
                <a:ea typeface="Bitstream Charter"/>
                <a:cs typeface="Bitstream Charter"/>
              </a:rPr>
              <a:t>3</a:t>
            </a:r>
          </a:p>
        </p:txBody>
      </p:sp>
      <p:sp>
        <p:nvSpPr>
          <p:cNvPr id="16" name="">
            <a:extLst xmlns:a="http://schemas.openxmlformats.org/drawingml/2006/main">
              <a:ext uri="{FF2B5EF4-FFF2-40B4-BE49-F238E27FC236}">
                <a16:creationId xmlns:a16="http://schemas.microsoft.com/office/drawing/2014/main" id="{5F1341D9-4CBF-452A-BFDC-54C208D1D69B}"/>
              </a:ext>
            </a:extLst>
          </p:cNvPr>
          <p:cNvSpPr>
            <a:spLocks xmlns:a="http://schemas.openxmlformats.org/drawingml/2006/main" noGrp="1"/>
          </p:cNvSpPr>
          <p:nvPr/>
        </p:nvSpPr>
        <p:spPr>
          <a:xfrm xmlns:a="http://schemas.openxmlformats.org/drawingml/2006/main">
            <a:off x="6210300" y="340995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143F50"/>
                </a:solidFill>
                <a:latin typeface="Bitstream Charter"/>
                <a:ea typeface="Bitstream Charter"/>
                <a:cs typeface="Bitstream Charter"/>
              </a:defRPr>
            </a:pPr>
            <a:r>
              <a:rPr sz="1875" b="1">
                <a:solidFill>
                  <a:srgbClr val="143F50"/>
                </a:solidFill>
                <a:latin typeface="Bitstream Charter"/>
                <a:ea typeface="Bitstream Charter"/>
                <a:cs typeface="Bitstream Charter"/>
              </a:rPr>
              <a:t>Move</a:t>
            </a:r>
          </a:p>
        </p:txBody>
      </p:sp>
      <p:sp>
        <p:nvSpPr>
          <p:cNvPr id="17" name="">
            <a:extLst xmlns:a="http://schemas.openxmlformats.org/drawingml/2006/main">
              <a:ext uri="{FF2B5EF4-FFF2-40B4-BE49-F238E27FC236}">
                <a16:creationId xmlns:a16="http://schemas.microsoft.com/office/drawing/2014/main" id="{9B3617DF-5525-4D7C-9B30-8D12BE0CC81E}"/>
              </a:ext>
            </a:extLst>
          </p:cNvPr>
          <p:cNvSpPr>
            <a:spLocks xmlns:a="http://schemas.openxmlformats.org/drawingml/2006/main" noGrp="1"/>
          </p:cNvSpPr>
          <p:nvPr/>
        </p:nvSpPr>
        <p:spPr>
          <a:xfrm xmlns:a="http://schemas.openxmlformats.org/drawingml/2006/main">
            <a:off x="6210300" y="3829050"/>
            <a:ext cx="2019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Use a simple venue-aware outline</a:t>
            </a:r>
          </a:p>
        </p:txBody>
      </p:sp>
      <p:sp>
        <p:nvSpPr>
          <p:cNvPr id="18" name="">
            <a:extLst xmlns:a="http://schemas.openxmlformats.org/drawingml/2006/main">
              <a:ext uri="{FF2B5EF4-FFF2-40B4-BE49-F238E27FC236}">
                <a16:creationId xmlns:a16="http://schemas.microsoft.com/office/drawing/2014/main" id="{1DA19ADC-A775-4FC7-9CD7-9788A88415E6}"/>
              </a:ext>
            </a:extLst>
          </p:cNvPr>
          <p:cNvSpPr>
            <a:spLocks xmlns:a="http://schemas.openxmlformats.org/drawingml/2006/main" noGrp="1"/>
          </p:cNvSpPr>
          <p:nvPr/>
        </p:nvSpPr>
        <p:spPr>
          <a:xfrm xmlns:a="http://schemas.openxmlformats.org/drawingml/2006/main">
            <a:off x="6934200" y="2876550"/>
            <a:ext cx="1790700" cy="0"/>
          </a:xfrm>
          <a:prstGeom xmlns:a="http://schemas.openxmlformats.org/drawingml/2006/main" prst="line">
            <a:avLst/>
          </a:prstGeom>
          <a:noFill xmlns:a="http://schemas.openxmlformats.org/drawingml/2006/main"/>
          <a:ln xmlns:a="http://schemas.openxmlformats.org/drawingml/2006/main" w="28575">
            <a:solidFill>
              <a:srgbClr val="9BC8D1"/>
            </a:solidFill>
          </a:ln>
        </p:spPr>
      </p:sp>
      <p:sp>
        <p:nvSpPr>
          <p:cNvPr id="19" name="">
            <a:extLst xmlns:a="http://schemas.openxmlformats.org/drawingml/2006/main">
              <a:ext uri="{FF2B5EF4-FFF2-40B4-BE49-F238E27FC236}">
                <a16:creationId xmlns:a16="http://schemas.microsoft.com/office/drawing/2014/main" id="{16D686B3-2205-4C62-872C-17927EB9BC87}"/>
              </a:ext>
            </a:extLst>
          </p:cNvPr>
          <p:cNvSpPr>
            <a:spLocks xmlns:a="http://schemas.openxmlformats.org/drawingml/2006/main" noGrp="1"/>
          </p:cNvSpPr>
          <p:nvPr/>
        </p:nvSpPr>
        <p:spPr>
          <a:xfrm xmlns:a="http://schemas.openxmlformats.org/drawingml/2006/main">
            <a:off x="8915400" y="2571750"/>
            <a:ext cx="609600" cy="609600"/>
          </a:xfrm>
          <a:prstGeom xmlns:a="http://schemas.openxmlformats.org/drawingml/2006/main" prst="ellipse">
            <a:avLst/>
          </a:prstGeom>
          <a:solidFill xmlns:a="http://schemas.openxmlformats.org/drawingml/2006/main">
            <a:srgbClr val="F4A92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0CD9EDC-A0AA-4EBD-82A2-D266FE8DB564}"/>
              </a:ext>
            </a:extLst>
          </p:cNvPr>
          <p:cNvSpPr>
            <a:spLocks xmlns:a="http://schemas.openxmlformats.org/drawingml/2006/main" noGrp="1"/>
          </p:cNvSpPr>
          <p:nvPr/>
        </p:nvSpPr>
        <p:spPr>
          <a:xfrm xmlns:a="http://schemas.openxmlformats.org/drawingml/2006/main">
            <a:off x="9077325" y="273367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FFFFFF"/>
                </a:solidFill>
                <a:latin typeface="Bitstream Charter"/>
                <a:ea typeface="Bitstream Charter"/>
                <a:cs typeface="Bitstream Charter"/>
              </a:defRPr>
            </a:pPr>
            <a:r>
              <a:rPr sz="1500" b="1">
                <a:solidFill>
                  <a:srgbClr val="FFFFFF"/>
                </a:solidFill>
                <a:latin typeface="Bitstream Charter"/>
                <a:ea typeface="Bitstream Charter"/>
                <a:cs typeface="Bitstream Charter"/>
              </a:rPr>
              <a:t>4</a:t>
            </a:r>
          </a:p>
        </p:txBody>
      </p:sp>
      <p:sp>
        <p:nvSpPr>
          <p:cNvPr id="21" name="">
            <a:extLst xmlns:a="http://schemas.openxmlformats.org/drawingml/2006/main">
              <a:ext uri="{FF2B5EF4-FFF2-40B4-BE49-F238E27FC236}">
                <a16:creationId xmlns:a16="http://schemas.microsoft.com/office/drawing/2014/main" id="{E2815177-699A-458C-9C2E-6C7145563122}"/>
              </a:ext>
            </a:extLst>
          </p:cNvPr>
          <p:cNvSpPr>
            <a:spLocks xmlns:a="http://schemas.openxmlformats.org/drawingml/2006/main" noGrp="1"/>
          </p:cNvSpPr>
          <p:nvPr/>
        </p:nvSpPr>
        <p:spPr>
          <a:xfrm xmlns:a="http://schemas.openxmlformats.org/drawingml/2006/main">
            <a:off x="8915400" y="340995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143F50"/>
                </a:solidFill>
                <a:latin typeface="Bitstream Charter"/>
                <a:ea typeface="Bitstream Charter"/>
                <a:cs typeface="Bitstream Charter"/>
              </a:defRPr>
            </a:pPr>
            <a:r>
              <a:rPr sz="1875" b="1">
                <a:solidFill>
                  <a:srgbClr val="143F50"/>
                </a:solidFill>
                <a:latin typeface="Bitstream Charter"/>
                <a:ea typeface="Bitstream Charter"/>
                <a:cs typeface="Bitstream Charter"/>
              </a:rPr>
              <a:t>My week</a:t>
            </a:r>
          </a:p>
        </p:txBody>
      </p:sp>
      <p:sp>
        <p:nvSpPr>
          <p:cNvPr id="22" name="">
            <a:extLst xmlns:a="http://schemas.openxmlformats.org/drawingml/2006/main">
              <a:ext uri="{FF2B5EF4-FFF2-40B4-BE49-F238E27FC236}">
                <a16:creationId xmlns:a16="http://schemas.microsoft.com/office/drawing/2014/main" id="{1B0F57D0-E01E-4C2D-A92B-7F4216A7D594}"/>
              </a:ext>
            </a:extLst>
          </p:cNvPr>
          <p:cNvSpPr>
            <a:spLocks xmlns:a="http://schemas.openxmlformats.org/drawingml/2006/main" noGrp="1"/>
          </p:cNvSpPr>
          <p:nvPr/>
        </p:nvSpPr>
        <p:spPr>
          <a:xfrm xmlns:a="http://schemas.openxmlformats.org/drawingml/2006/main">
            <a:off x="8915400" y="3829050"/>
            <a:ext cx="2019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Notice what felt doable</a:t>
            </a:r>
          </a:p>
        </p:txBody>
      </p:sp>
      <p:sp>
        <p:nvSpPr>
          <p:cNvPr id="23" name="">
            <a:extLst xmlns:a="http://schemas.openxmlformats.org/drawingml/2006/main">
              <a:ext uri="{FF2B5EF4-FFF2-40B4-BE49-F238E27FC236}">
                <a16:creationId xmlns:a16="http://schemas.microsoft.com/office/drawing/2014/main" id="{A71AC3DB-ADDB-42D6-B3C5-0D1B9DE84BF2}"/>
              </a:ext>
            </a:extLst>
          </p:cNvPr>
          <p:cNvSpPr>
            <a:spLocks xmlns:a="http://schemas.openxmlformats.org/drawingml/2006/main" noGrp="1"/>
          </p:cNvSpPr>
          <p:nvPr/>
        </p:nvSpPr>
        <p:spPr>
          <a:xfrm xmlns:a="http://schemas.openxmlformats.org/drawingml/2006/main">
            <a:off x="1562100" y="53530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1">
                <a:solidFill>
                  <a:srgbClr val="167D73"/>
                </a:solidFill>
                <a:latin typeface="Bitstream Charter"/>
                <a:ea typeface="Bitstream Charter"/>
                <a:cs typeface="Bitstream Charter"/>
              </a:defRPr>
            </a:pPr>
            <a:r>
              <a:rPr sz="1725" b="1">
                <a:solidFill>
                  <a:srgbClr val="167D73"/>
                </a:solidFill>
                <a:latin typeface="Bitstream Charter"/>
                <a:ea typeface="Bitstream Charter"/>
                <a:cs typeface="Bitstream Charter"/>
              </a:rPr>
              <a:t>The outcome is a realistic next activity and a small learning loop for the following week.</a:t>
            </a:r>
          </a:p>
        </p:txBody>
      </p:sp>
      <p:sp>
        <p:nvSpPr>
          <p:cNvPr id="24" name="">
            <a:extLst xmlns:a="http://schemas.openxmlformats.org/drawingml/2006/main">
              <a:ext uri="{FF2B5EF4-FFF2-40B4-BE49-F238E27FC236}">
                <a16:creationId xmlns:a16="http://schemas.microsoft.com/office/drawing/2014/main" id="{B7C864E2-D431-4DED-9EBE-32B7243C844B}"/>
              </a:ext>
            </a:extLst>
          </p:cNvPr>
          <p:cNvSpPr>
            <a:spLocks xmlns:a="http://schemas.openxmlformats.org/drawingml/2006/main" noGrp="1"/>
          </p:cNvSpPr>
          <p:nvPr/>
        </p:nvSpPr>
        <p:spPr>
          <a:xfrm xmlns:a="http://schemas.openxmlformats.org/drawingml/2006/main">
            <a:off x="723900" y="6419850"/>
            <a:ext cx="10744200" cy="0"/>
          </a:xfrm>
          <a:prstGeom xmlns:a="http://schemas.openxmlformats.org/drawingml/2006/main" prst="line">
            <a:avLst/>
          </a:prstGeom>
          <a:noFill xmlns:a="http://schemas.openxmlformats.org/drawingml/2006/main"/>
          <a:ln xmlns:a="http://schemas.openxmlformats.org/drawingml/2006/main" w="9525">
            <a:solidFill>
              <a:srgbClr val="BFDBE2"/>
            </a:solidFill>
          </a:ln>
        </p:spPr>
      </p:sp>
      <p:sp>
        <p:nvSpPr>
          <p:cNvPr id="25" name="">
            <a:extLst xmlns:a="http://schemas.openxmlformats.org/drawingml/2006/main">
              <a:ext uri="{FF2B5EF4-FFF2-40B4-BE49-F238E27FC236}">
                <a16:creationId xmlns:a16="http://schemas.microsoft.com/office/drawing/2014/main" id="{28F1F9E2-8CAA-4933-B12E-EB6FEE997BF0}"/>
              </a:ext>
            </a:extLst>
          </p:cNvPr>
          <p:cNvSpPr>
            <a:spLocks xmlns:a="http://schemas.openxmlformats.org/drawingml/2006/main" noGrp="1"/>
          </p:cNvSpPr>
          <p:nvPr/>
        </p:nvSpPr>
        <p:spPr>
          <a:xfrm xmlns:a="http://schemas.openxmlformats.org/drawingml/2006/main">
            <a:off x="723900" y="65151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167D73"/>
                </a:solidFill>
                <a:latin typeface="Bitstream Charter"/>
                <a:ea typeface="Bitstream Charter"/>
                <a:cs typeface="Bitstream Charter"/>
              </a:defRPr>
            </a:pPr>
            <a:r>
              <a:rPr sz="825" b="1">
                <a:solidFill>
                  <a:srgbClr val="167D73"/>
                </a:solidFill>
                <a:latin typeface="Bitstream Charter"/>
                <a:ea typeface="Bitstream Charter"/>
                <a:cs typeface="Bitstream Charter"/>
              </a:rPr>
              <a:t>ACTIVE CITY  ·  KRAKÓW PILOT</a:t>
            </a:r>
          </a:p>
        </p:txBody>
      </p:sp>
      <p:sp>
        <p:nvSpPr>
          <p:cNvPr id="26" name="">
            <a:extLst xmlns:a="http://schemas.openxmlformats.org/drawingml/2006/main">
              <a:ext uri="{FF2B5EF4-FFF2-40B4-BE49-F238E27FC236}">
                <a16:creationId xmlns:a16="http://schemas.microsoft.com/office/drawing/2014/main" id="{EEB3711C-6A3D-4EAB-ACA5-A514B7125E27}"/>
              </a:ext>
            </a:extLst>
          </p:cNvPr>
          <p:cNvSpPr>
            <a:spLocks xmlns:a="http://schemas.openxmlformats.org/drawingml/2006/main" noGrp="1"/>
          </p:cNvSpPr>
          <p:nvPr/>
        </p:nvSpPr>
        <p:spPr>
          <a:xfrm xmlns:a="http://schemas.openxmlformats.org/drawingml/2006/main">
            <a:off x="107061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456773"/>
                </a:solidFill>
                <a:latin typeface="Bitstream Charter"/>
                <a:ea typeface="Bitstream Charter"/>
                <a:cs typeface="Bitstream Charter"/>
              </a:defRPr>
            </a:pPr>
            <a:r>
              <a:rPr sz="825" b="1">
                <a:solidFill>
                  <a:srgbClr val="456773"/>
                </a:solidFill>
                <a:latin typeface="Bitstream Charter"/>
                <a:ea typeface="Bitstream Charter"/>
                <a:cs typeface="Bitstream Charter"/>
              </a:rPr>
              <a:t>04</a:t>
            </a:r>
          </a:p>
        </p:txBody>
      </p:sp>
    </p:spTree>
    <p:extLst>
      <p:ext uri="{BB962C8B-B14F-4D97-AF65-F5344CB8AC3E}">
        <p14:creationId xmlns:p14="http://schemas.microsoft.com/office/powerpoint/2010/main" val="42533801"/>
      </p:ext>
    </p:extLst>
  </p:cSld>
</p:sld>
</file>

<file path=ppt/slides/slide5.xml><?xml version="1.0" encoding="utf-8"?>
<p:sld xmlns:p="http://schemas.openxmlformats.org/presentationml/2006/main">
  <p:cSld>
    <p:bg>
      <p:bgPr>
        <a:solidFill xmlns:a="http://schemas.openxmlformats.org/drawingml/2006/main">
          <a:srgbClr val="F3FB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F903E89-1AED-44CF-AC05-F2D8E2B11501}"/>
              </a:ext>
            </a:extLst>
          </p:cNvPr>
          <p:cNvSpPr>
            <a:spLocks xmlns:a="http://schemas.openxmlformats.org/drawingml/2006/main" noGrp="1"/>
          </p:cNvSpPr>
          <p:nvPr/>
        </p:nvSpPr>
        <p:spPr>
          <a:xfrm xmlns:a="http://schemas.openxmlformats.org/drawingml/2006/main">
            <a:off x="704850" y="495300"/>
            <a:ext cx="990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3F50"/>
                </a:solidFill>
                <a:latin typeface="Bitstream Charter"/>
                <a:ea typeface="Bitstream Charter"/>
                <a:cs typeface="Bitstream Charter"/>
              </a:defRPr>
            </a:pPr>
            <a:r>
              <a:rPr sz="2850" b="1">
                <a:solidFill>
                  <a:srgbClr val="143F50"/>
                </a:solidFill>
                <a:latin typeface="Bitstream Charter"/>
                <a:ea typeface="Bitstream Charter"/>
                <a:cs typeface="Bitstream Charter"/>
              </a:rPr>
              <a:t>Source-backed public places in Kraków</a:t>
            </a:r>
          </a:p>
        </p:txBody>
      </p:sp>
      <p:sp>
        <p:nvSpPr>
          <p:cNvPr id="2" name="">
            <a:extLst xmlns:a="http://schemas.openxmlformats.org/drawingml/2006/main">
              <a:ext uri="{FF2B5EF4-FFF2-40B4-BE49-F238E27FC236}">
                <a16:creationId xmlns:a16="http://schemas.microsoft.com/office/drawing/2014/main" id="{2945B1F1-A647-4AC2-9FAB-A61DB1D98D8A}"/>
              </a:ext>
            </a:extLst>
          </p:cNvPr>
          <p:cNvSpPr>
            <a:spLocks xmlns:a="http://schemas.openxmlformats.org/drawingml/2006/main" noGrp="1"/>
          </p:cNvSpPr>
          <p:nvPr/>
        </p:nvSpPr>
        <p:spPr>
          <a:xfrm xmlns:a="http://schemas.openxmlformats.org/drawingml/2006/main">
            <a:off x="723900" y="15049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The pilot shows only places with a public source link and documented activity or equipment detail.</a:t>
            </a:r>
          </a:p>
        </p:txBody>
      </p:sp>
      <p:sp>
        <p:nvSpPr>
          <p:cNvPr id="3" name="">
            <a:extLst xmlns:a="http://schemas.openxmlformats.org/drawingml/2006/main">
              <a:ext uri="{FF2B5EF4-FFF2-40B4-BE49-F238E27FC236}">
                <a16:creationId xmlns:a16="http://schemas.microsoft.com/office/drawing/2014/main" id="{5C346EED-9928-49F8-87D5-D611717956D6}"/>
              </a:ext>
            </a:extLst>
          </p:cNvPr>
          <p:cNvSpPr>
            <a:spLocks xmlns:a="http://schemas.openxmlformats.org/drawingml/2006/main" noGrp="1"/>
          </p:cNvSpPr>
          <p:nvPr/>
        </p:nvSpPr>
        <p:spPr>
          <a:xfrm xmlns:a="http://schemas.openxmlformats.org/drawingml/2006/main">
            <a:off x="723900" y="1943100"/>
            <a:ext cx="781050" cy="47625"/>
          </a:xfrm>
          <a:prstGeom xmlns:a="http://schemas.openxmlformats.org/drawingml/2006/main" prst="rect">
            <a:avLst/>
          </a:prstGeom>
          <a:solidFill xmlns:a="http://schemas.openxmlformats.org/drawingml/2006/main">
            <a:srgbClr val="F4A92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40EE7E0-2882-4F5E-8012-A89E08287BA2}"/>
              </a:ext>
            </a:extLst>
          </p:cNvPr>
          <p:cNvSpPr>
            <a:spLocks xmlns:a="http://schemas.openxmlformats.org/drawingml/2006/main" noGrp="1"/>
          </p:cNvSpPr>
          <p:nvPr/>
        </p:nvSpPr>
        <p:spPr>
          <a:xfrm xmlns:a="http://schemas.openxmlformats.org/drawingml/2006/main">
            <a:off x="800100" y="22098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3600" b="1">
                <a:solidFill>
                  <a:srgbClr val="083F69"/>
                </a:solidFill>
                <a:latin typeface="Bitstream Charter"/>
                <a:ea typeface="Bitstream Charter"/>
                <a:cs typeface="Bitstream Charter"/>
              </a:defRPr>
            </a:pPr>
            <a:r>
              <a:rPr sz="3600" b="1">
                <a:solidFill>
                  <a:srgbClr val="083F69"/>
                </a:solidFill>
                <a:latin typeface="Bitstream Charter"/>
                <a:ea typeface="Bitstream Charter"/>
                <a:cs typeface="Bitstream Charter"/>
              </a:rPr>
              <a:t>14</a:t>
            </a:r>
          </a:p>
        </p:txBody>
      </p:sp>
      <p:sp>
        <p:nvSpPr>
          <p:cNvPr id="5" name="">
            <a:extLst xmlns:a="http://schemas.openxmlformats.org/drawingml/2006/main">
              <a:ext uri="{FF2B5EF4-FFF2-40B4-BE49-F238E27FC236}">
                <a16:creationId xmlns:a16="http://schemas.microsoft.com/office/drawing/2014/main" id="{C56ABFFA-3C27-4833-9DBA-94FD724F4147}"/>
              </a:ext>
            </a:extLst>
          </p:cNvPr>
          <p:cNvSpPr>
            <a:spLocks xmlns:a="http://schemas.openxmlformats.org/drawingml/2006/main" noGrp="1"/>
          </p:cNvSpPr>
          <p:nvPr/>
        </p:nvSpPr>
        <p:spPr>
          <a:xfrm xmlns:a="http://schemas.openxmlformats.org/drawingml/2006/main">
            <a:off x="800100" y="28575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456773"/>
                </a:solidFill>
                <a:latin typeface="Bitstream Charter"/>
                <a:ea typeface="Bitstream Charter"/>
                <a:cs typeface="Bitstream Charter"/>
              </a:defRPr>
            </a:pPr>
            <a:r>
              <a:rPr sz="1200" b="1">
                <a:solidFill>
                  <a:srgbClr val="456773"/>
                </a:solidFill>
                <a:latin typeface="Bitstream Charter"/>
                <a:ea typeface="Bitstream Charter"/>
                <a:cs typeface="Bitstream Charter"/>
              </a:rPr>
              <a:t>documented profiles shown in the app</a:t>
            </a:r>
          </a:p>
        </p:txBody>
      </p:sp>
      <p:sp>
        <p:nvSpPr>
          <p:cNvPr id="6" name="">
            <a:extLst xmlns:a="http://schemas.openxmlformats.org/drawingml/2006/main">
              <a:ext uri="{FF2B5EF4-FFF2-40B4-BE49-F238E27FC236}">
                <a16:creationId xmlns:a16="http://schemas.microsoft.com/office/drawing/2014/main" id="{07CE6735-63B8-42A5-A247-77A38B45D46A}"/>
              </a:ext>
            </a:extLst>
          </p:cNvPr>
          <p:cNvSpPr>
            <a:spLocks xmlns:a="http://schemas.openxmlformats.org/drawingml/2006/main" noGrp="1"/>
          </p:cNvSpPr>
          <p:nvPr/>
        </p:nvSpPr>
        <p:spPr>
          <a:xfrm xmlns:a="http://schemas.openxmlformats.org/drawingml/2006/main">
            <a:off x="3486150" y="22098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3600" b="1">
                <a:solidFill>
                  <a:srgbClr val="167D73"/>
                </a:solidFill>
                <a:latin typeface="Bitstream Charter"/>
                <a:ea typeface="Bitstream Charter"/>
                <a:cs typeface="Bitstream Charter"/>
              </a:defRPr>
            </a:pPr>
            <a:r>
              <a:rPr sz="3600" b="1">
                <a:solidFill>
                  <a:srgbClr val="167D73"/>
                </a:solidFill>
                <a:latin typeface="Bitstream Charter"/>
                <a:ea typeface="Bitstream Charter"/>
                <a:cs typeface="Bitstream Charter"/>
              </a:rPr>
              <a:t>5</a:t>
            </a:r>
          </a:p>
        </p:txBody>
      </p:sp>
      <p:sp>
        <p:nvSpPr>
          <p:cNvPr id="7" name="">
            <a:extLst xmlns:a="http://schemas.openxmlformats.org/drawingml/2006/main">
              <a:ext uri="{FF2B5EF4-FFF2-40B4-BE49-F238E27FC236}">
                <a16:creationId xmlns:a16="http://schemas.microsoft.com/office/drawing/2014/main" id="{B4136466-B5AF-473E-88C0-CA2B35EE256E}"/>
              </a:ext>
            </a:extLst>
          </p:cNvPr>
          <p:cNvSpPr>
            <a:spLocks xmlns:a="http://schemas.openxmlformats.org/drawingml/2006/main" noGrp="1"/>
          </p:cNvSpPr>
          <p:nvPr/>
        </p:nvSpPr>
        <p:spPr>
          <a:xfrm xmlns:a="http://schemas.openxmlformats.org/drawingml/2006/main">
            <a:off x="3486150" y="28575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456773"/>
                </a:solidFill>
                <a:latin typeface="Bitstream Charter"/>
                <a:ea typeface="Bitstream Charter"/>
                <a:cs typeface="Bitstream Charter"/>
              </a:defRPr>
            </a:pPr>
            <a:r>
              <a:rPr sz="1200" b="1">
                <a:solidFill>
                  <a:srgbClr val="456773"/>
                </a:solidFill>
                <a:latin typeface="Bitstream Charter"/>
                <a:ea typeface="Bitstream Charter"/>
                <a:cs typeface="Bitstream Charter"/>
              </a:rPr>
              <a:t>activity filters for quick discovery</a:t>
            </a:r>
          </a:p>
        </p:txBody>
      </p:sp>
      <p:sp>
        <p:nvSpPr>
          <p:cNvPr id="8" name="">
            <a:extLst xmlns:a="http://schemas.openxmlformats.org/drawingml/2006/main">
              <a:ext uri="{FF2B5EF4-FFF2-40B4-BE49-F238E27FC236}">
                <a16:creationId xmlns:a16="http://schemas.microsoft.com/office/drawing/2014/main" id="{92F0D9E8-4479-4E03-BD86-741E4F9768ED}"/>
              </a:ext>
            </a:extLst>
          </p:cNvPr>
          <p:cNvSpPr>
            <a:spLocks xmlns:a="http://schemas.openxmlformats.org/drawingml/2006/main" noGrp="1"/>
          </p:cNvSpPr>
          <p:nvPr/>
        </p:nvSpPr>
        <p:spPr>
          <a:xfrm xmlns:a="http://schemas.openxmlformats.org/drawingml/2006/main">
            <a:off x="6172200" y="22098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3600" b="1">
                <a:solidFill>
                  <a:srgbClr val="F4A928"/>
                </a:solidFill>
                <a:latin typeface="Bitstream Charter"/>
                <a:ea typeface="Bitstream Charter"/>
                <a:cs typeface="Bitstream Charter"/>
              </a:defRPr>
            </a:pPr>
            <a:r>
              <a:rPr sz="3600" b="1">
                <a:solidFill>
                  <a:srgbClr val="F4A928"/>
                </a:solidFill>
                <a:latin typeface="Bitstream Charter"/>
                <a:ea typeface="Bitstream Charter"/>
                <a:cs typeface="Bitstream Charter"/>
              </a:rPr>
              <a:t>0</a:t>
            </a:r>
          </a:p>
        </p:txBody>
      </p:sp>
      <p:sp>
        <p:nvSpPr>
          <p:cNvPr id="9" name="">
            <a:extLst xmlns:a="http://schemas.openxmlformats.org/drawingml/2006/main">
              <a:ext uri="{FF2B5EF4-FFF2-40B4-BE49-F238E27FC236}">
                <a16:creationId xmlns:a16="http://schemas.microsoft.com/office/drawing/2014/main" id="{F99A9178-1F27-4EAB-8F8E-E9FA620D699D}"/>
              </a:ext>
            </a:extLst>
          </p:cNvPr>
          <p:cNvSpPr>
            <a:spLocks xmlns:a="http://schemas.openxmlformats.org/drawingml/2006/main" noGrp="1"/>
          </p:cNvSpPr>
          <p:nvPr/>
        </p:nvSpPr>
        <p:spPr>
          <a:xfrm xmlns:a="http://schemas.openxmlformats.org/drawingml/2006/main">
            <a:off x="6172200" y="28575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456773"/>
                </a:solidFill>
                <a:latin typeface="Bitstream Charter"/>
                <a:ea typeface="Bitstream Charter"/>
                <a:cs typeface="Bitstream Charter"/>
              </a:defRPr>
            </a:pPr>
            <a:r>
              <a:rPr sz="1200" b="1">
                <a:solidFill>
                  <a:srgbClr val="456773"/>
                </a:solidFill>
                <a:latin typeface="Bitstream Charter"/>
                <a:ea typeface="Bitstream Charter"/>
                <a:cs typeface="Bitstream Charter"/>
              </a:rPr>
              <a:t>assumed equipment details</a:t>
            </a:r>
          </a:p>
        </p:txBody>
      </p:sp>
      <p:sp>
        <p:nvSpPr>
          <p:cNvPr id="10" name="">
            <a:extLst xmlns:a="http://schemas.openxmlformats.org/drawingml/2006/main">
              <a:ext uri="{FF2B5EF4-FFF2-40B4-BE49-F238E27FC236}">
                <a16:creationId xmlns:a16="http://schemas.microsoft.com/office/drawing/2014/main" id="{269283D1-B36B-4952-9F35-2D40FB94AC05}"/>
              </a:ext>
            </a:extLst>
          </p:cNvPr>
          <p:cNvSpPr>
            <a:spLocks xmlns:a="http://schemas.openxmlformats.org/drawingml/2006/main" noGrp="1"/>
          </p:cNvSpPr>
          <p:nvPr/>
        </p:nvSpPr>
        <p:spPr>
          <a:xfrm xmlns:a="http://schemas.openxmlformats.org/drawingml/2006/main">
            <a:off x="723900" y="4095750"/>
            <a:ext cx="9982200" cy="1295400"/>
          </a:xfrm>
          <a:prstGeom xmlns:a="http://schemas.openxmlformats.org/drawingml/2006/main" prst="rect">
            <a:avLst/>
          </a:prstGeom>
          <a:solidFill xmlns:a="http://schemas.openxmlformats.org/drawingml/2006/main">
            <a:srgbClr val="FFFFFF"/>
          </a:solidFill>
          <a:ln xmlns:a="http://schemas.openxmlformats.org/drawingml/2006/main" w="9525">
            <a:solidFill>
              <a:srgbClr val="BFDBE2"/>
            </a:solidFill>
          </a:ln>
        </p:spPr>
      </p:sp>
      <p:sp>
        <p:nvSpPr>
          <p:cNvPr id="11" name="">
            <a:extLst xmlns:a="http://schemas.openxmlformats.org/drawingml/2006/main">
              <a:ext uri="{FF2B5EF4-FFF2-40B4-BE49-F238E27FC236}">
                <a16:creationId xmlns:a16="http://schemas.microsoft.com/office/drawing/2014/main" id="{872F217E-1789-46E5-9948-13850B0D709B}"/>
              </a:ext>
            </a:extLst>
          </p:cNvPr>
          <p:cNvSpPr>
            <a:spLocks xmlns:a="http://schemas.openxmlformats.org/drawingml/2006/main" noGrp="1"/>
          </p:cNvSpPr>
          <p:nvPr/>
        </p:nvSpPr>
        <p:spPr>
          <a:xfrm xmlns:a="http://schemas.openxmlformats.org/drawingml/2006/main">
            <a:off x="1028700" y="4400550"/>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143F50"/>
                </a:solidFill>
                <a:latin typeface="Bitstream Charter"/>
                <a:ea typeface="Bitstream Charter"/>
                <a:cs typeface="Bitstream Charter"/>
              </a:defRPr>
            </a:pPr>
            <a:r>
              <a:rPr sz="1500" b="1">
                <a:solidFill>
                  <a:srgbClr val="143F50"/>
                </a:solidFill>
                <a:latin typeface="Bitstream Charter"/>
                <a:ea typeface="Bitstream Charter"/>
                <a:cs typeface="Bitstream Charter"/>
              </a:rPr>
              <a:t>Outdoor gyms and street workout</a:t>
            </a:r>
          </a:p>
        </p:txBody>
      </p:sp>
      <p:sp>
        <p:nvSpPr>
          <p:cNvPr id="12" name="">
            <a:extLst xmlns:a="http://schemas.openxmlformats.org/drawingml/2006/main">
              <a:ext uri="{FF2B5EF4-FFF2-40B4-BE49-F238E27FC236}">
                <a16:creationId xmlns:a16="http://schemas.microsoft.com/office/drawing/2014/main" id="{444F5F01-2A28-432F-AAF7-4BDE9D2F92BB}"/>
              </a:ext>
            </a:extLst>
          </p:cNvPr>
          <p:cNvSpPr>
            <a:spLocks xmlns:a="http://schemas.openxmlformats.org/drawingml/2006/main" noGrp="1"/>
          </p:cNvSpPr>
          <p:nvPr/>
        </p:nvSpPr>
        <p:spPr>
          <a:xfrm xmlns:a="http://schemas.openxmlformats.org/drawingml/2006/main">
            <a:off x="4171950" y="44005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143F50"/>
                </a:solidFill>
                <a:latin typeface="Bitstream Charter"/>
                <a:ea typeface="Bitstream Charter"/>
                <a:cs typeface="Bitstream Charter"/>
              </a:defRPr>
            </a:pPr>
            <a:r>
              <a:rPr sz="1500" b="1">
                <a:solidFill>
                  <a:srgbClr val="143F50"/>
                </a:solidFill>
                <a:latin typeface="Bitstream Charter"/>
                <a:ea typeface="Bitstream Charter"/>
                <a:cs typeface="Bitstream Charter"/>
              </a:rPr>
              <a:t>Courts and pitches</a:t>
            </a:r>
          </a:p>
        </p:txBody>
      </p:sp>
      <p:sp>
        <p:nvSpPr>
          <p:cNvPr id="13" name="">
            <a:extLst xmlns:a="http://schemas.openxmlformats.org/drawingml/2006/main">
              <a:ext uri="{FF2B5EF4-FFF2-40B4-BE49-F238E27FC236}">
                <a16:creationId xmlns:a16="http://schemas.microsoft.com/office/drawing/2014/main" id="{F364814E-4C59-47C0-B901-8AF267A4DEC9}"/>
              </a:ext>
            </a:extLst>
          </p:cNvPr>
          <p:cNvSpPr>
            <a:spLocks xmlns:a="http://schemas.openxmlformats.org/drawingml/2006/main" noGrp="1"/>
          </p:cNvSpPr>
          <p:nvPr/>
        </p:nvSpPr>
        <p:spPr>
          <a:xfrm xmlns:a="http://schemas.openxmlformats.org/drawingml/2006/main">
            <a:off x="7124700" y="44005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143F50"/>
                </a:solidFill>
                <a:latin typeface="Bitstream Charter"/>
                <a:ea typeface="Bitstream Charter"/>
                <a:cs typeface="Bitstream Charter"/>
              </a:defRPr>
            </a:pPr>
            <a:r>
              <a:rPr sz="1500" b="1">
                <a:solidFill>
                  <a:srgbClr val="143F50"/>
                </a:solidFill>
                <a:latin typeface="Bitstream Charter"/>
                <a:ea typeface="Bitstream Charter"/>
                <a:cs typeface="Bitstream Charter"/>
              </a:rPr>
              <a:t>Waterfront recreation</a:t>
            </a:r>
          </a:p>
        </p:txBody>
      </p:sp>
      <p:sp>
        <p:nvSpPr>
          <p:cNvPr id="14" name="">
            <a:extLst xmlns:a="http://schemas.openxmlformats.org/drawingml/2006/main">
              <a:ext uri="{FF2B5EF4-FFF2-40B4-BE49-F238E27FC236}">
                <a16:creationId xmlns:a16="http://schemas.microsoft.com/office/drawing/2014/main" id="{E5419916-A5D8-4728-8990-3598CF874A4D}"/>
              </a:ext>
            </a:extLst>
          </p:cNvPr>
          <p:cNvSpPr>
            <a:spLocks xmlns:a="http://schemas.openxmlformats.org/drawingml/2006/main" noGrp="1"/>
          </p:cNvSpPr>
          <p:nvPr/>
        </p:nvSpPr>
        <p:spPr>
          <a:xfrm xmlns:a="http://schemas.openxmlformats.org/drawingml/2006/main">
            <a:off x="1028700" y="485775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Every profile includes documented activities, access caveats and a source link. If a record does not support a detail, the app leaves it unknown.</a:t>
            </a:r>
          </a:p>
        </p:txBody>
      </p:sp>
      <p:sp>
        <p:nvSpPr>
          <p:cNvPr id="15" name="">
            <a:extLst xmlns:a="http://schemas.openxmlformats.org/drawingml/2006/main">
              <a:ext uri="{FF2B5EF4-FFF2-40B4-BE49-F238E27FC236}">
                <a16:creationId xmlns:a16="http://schemas.microsoft.com/office/drawing/2014/main" id="{DC8F2C43-BF90-4E88-B3A0-AD835E0E2353}"/>
              </a:ext>
            </a:extLst>
          </p:cNvPr>
          <p:cNvSpPr>
            <a:spLocks xmlns:a="http://schemas.openxmlformats.org/drawingml/2006/main" noGrp="1"/>
          </p:cNvSpPr>
          <p:nvPr/>
        </p:nvSpPr>
        <p:spPr>
          <a:xfrm xmlns:a="http://schemas.openxmlformats.org/drawingml/2006/main">
            <a:off x="723900" y="6419850"/>
            <a:ext cx="10744200" cy="0"/>
          </a:xfrm>
          <a:prstGeom xmlns:a="http://schemas.openxmlformats.org/drawingml/2006/main" prst="line">
            <a:avLst/>
          </a:prstGeom>
          <a:noFill xmlns:a="http://schemas.openxmlformats.org/drawingml/2006/main"/>
          <a:ln xmlns:a="http://schemas.openxmlformats.org/drawingml/2006/main" w="9525">
            <a:solidFill>
              <a:srgbClr val="BFDBE2"/>
            </a:solidFill>
          </a:ln>
        </p:spPr>
      </p:sp>
      <p:sp>
        <p:nvSpPr>
          <p:cNvPr id="16" name="">
            <a:extLst xmlns:a="http://schemas.openxmlformats.org/drawingml/2006/main">
              <a:ext uri="{FF2B5EF4-FFF2-40B4-BE49-F238E27FC236}">
                <a16:creationId xmlns:a16="http://schemas.microsoft.com/office/drawing/2014/main" id="{6551B3A1-399B-4CB4-8A15-943FE303DC42}"/>
              </a:ext>
            </a:extLst>
          </p:cNvPr>
          <p:cNvSpPr>
            <a:spLocks xmlns:a="http://schemas.openxmlformats.org/drawingml/2006/main" noGrp="1"/>
          </p:cNvSpPr>
          <p:nvPr/>
        </p:nvSpPr>
        <p:spPr>
          <a:xfrm xmlns:a="http://schemas.openxmlformats.org/drawingml/2006/main">
            <a:off x="723900" y="65151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167D73"/>
                </a:solidFill>
                <a:latin typeface="Bitstream Charter"/>
                <a:ea typeface="Bitstream Charter"/>
                <a:cs typeface="Bitstream Charter"/>
              </a:defRPr>
            </a:pPr>
            <a:r>
              <a:rPr sz="825" b="1">
                <a:solidFill>
                  <a:srgbClr val="167D73"/>
                </a:solidFill>
                <a:latin typeface="Bitstream Charter"/>
                <a:ea typeface="Bitstream Charter"/>
                <a:cs typeface="Bitstream Charter"/>
              </a:rPr>
              <a:t>ACTIVE CITY  ·  KRAKÓW PILOT</a:t>
            </a:r>
          </a:p>
        </p:txBody>
      </p:sp>
      <p:sp>
        <p:nvSpPr>
          <p:cNvPr id="17" name="">
            <a:extLst xmlns:a="http://schemas.openxmlformats.org/drawingml/2006/main">
              <a:ext uri="{FF2B5EF4-FFF2-40B4-BE49-F238E27FC236}">
                <a16:creationId xmlns:a16="http://schemas.microsoft.com/office/drawing/2014/main" id="{B266DB9C-1266-4ADB-B1C8-BECEBC905E61}"/>
              </a:ext>
            </a:extLst>
          </p:cNvPr>
          <p:cNvSpPr>
            <a:spLocks xmlns:a="http://schemas.openxmlformats.org/drawingml/2006/main" noGrp="1"/>
          </p:cNvSpPr>
          <p:nvPr/>
        </p:nvSpPr>
        <p:spPr>
          <a:xfrm xmlns:a="http://schemas.openxmlformats.org/drawingml/2006/main">
            <a:off x="107061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456773"/>
                </a:solidFill>
                <a:latin typeface="Bitstream Charter"/>
                <a:ea typeface="Bitstream Charter"/>
                <a:cs typeface="Bitstream Charter"/>
              </a:defRPr>
            </a:pPr>
            <a:r>
              <a:rPr sz="825" b="1">
                <a:solidFill>
                  <a:srgbClr val="456773"/>
                </a:solidFill>
                <a:latin typeface="Bitstream Charter"/>
                <a:ea typeface="Bitstream Charter"/>
                <a:cs typeface="Bitstream Charter"/>
              </a:rPr>
              <a:t>05</a:t>
            </a:r>
          </a:p>
        </p:txBody>
      </p:sp>
    </p:spTree>
    <p:extLst>
      <p:ext uri="{BB962C8B-B14F-4D97-AF65-F5344CB8AC3E}">
        <p14:creationId xmlns:p14="http://schemas.microsoft.com/office/powerpoint/2010/main" val="1055930282"/>
      </p:ext>
    </p:extLst>
  </p:cSld>
</p:sld>
</file>

<file path=ppt/slides/slide6.xml><?xml version="1.0" encoding="utf-8"?>
<p:sld xmlns:p="http://schemas.openxmlformats.org/presentationml/2006/main">
  <p:cSld>
    <p:bg>
      <p:bgPr>
        <a:solidFill xmlns:a="http://schemas.openxmlformats.org/drawingml/2006/main">
          <a:srgbClr val="F4FA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FC9C1A7-DC39-48FA-99D1-4DEF150BBA14}"/>
              </a:ext>
            </a:extLst>
          </p:cNvPr>
          <p:cNvSpPr>
            <a:spLocks xmlns:a="http://schemas.openxmlformats.org/drawingml/2006/main" noGrp="1"/>
          </p:cNvSpPr>
          <p:nvPr/>
        </p:nvSpPr>
        <p:spPr>
          <a:xfrm xmlns:a="http://schemas.openxmlformats.org/drawingml/2006/main">
            <a:off x="704850" y="495300"/>
            <a:ext cx="990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3F50"/>
                </a:solidFill>
                <a:latin typeface="Bitstream Charter"/>
                <a:ea typeface="Bitstream Charter"/>
                <a:cs typeface="Bitstream Charter"/>
              </a:defRPr>
            </a:pPr>
            <a:r>
              <a:rPr sz="2850" b="1">
                <a:solidFill>
                  <a:srgbClr val="143F50"/>
                </a:solidFill>
                <a:latin typeface="Bitstream Charter"/>
                <a:ea typeface="Bitstream Charter"/>
                <a:cs typeface="Bitstream Charter"/>
              </a:rPr>
              <a:t>A plan that respects the clock</a:t>
            </a:r>
          </a:p>
        </p:txBody>
      </p:sp>
      <p:sp>
        <p:nvSpPr>
          <p:cNvPr id="2" name="">
            <a:extLst xmlns:a="http://schemas.openxmlformats.org/drawingml/2006/main">
              <a:ext uri="{FF2B5EF4-FFF2-40B4-BE49-F238E27FC236}">
                <a16:creationId xmlns:a16="http://schemas.microsoft.com/office/drawing/2014/main" id="{8B0F2692-2125-45BC-B9E4-AC93DE2E562D}"/>
              </a:ext>
            </a:extLst>
          </p:cNvPr>
          <p:cNvSpPr>
            <a:spLocks xmlns:a="http://schemas.openxmlformats.org/drawingml/2006/main" noGrp="1"/>
          </p:cNvSpPr>
          <p:nvPr/>
        </p:nvSpPr>
        <p:spPr>
          <a:xfrm xmlns:a="http://schemas.openxmlformats.org/drawingml/2006/main">
            <a:off x="723900" y="15049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Today’s Plan reserves travel time before it proposes an activity outline.</a:t>
            </a:r>
          </a:p>
        </p:txBody>
      </p:sp>
      <p:sp>
        <p:nvSpPr>
          <p:cNvPr id="3" name="">
            <a:extLst xmlns:a="http://schemas.openxmlformats.org/drawingml/2006/main">
              <a:ext uri="{FF2B5EF4-FFF2-40B4-BE49-F238E27FC236}">
                <a16:creationId xmlns:a16="http://schemas.microsoft.com/office/drawing/2014/main" id="{7922C0FE-FA1F-4D70-82F4-1E3D73898114}"/>
              </a:ext>
            </a:extLst>
          </p:cNvPr>
          <p:cNvSpPr>
            <a:spLocks xmlns:a="http://schemas.openxmlformats.org/drawingml/2006/main" noGrp="1"/>
          </p:cNvSpPr>
          <p:nvPr/>
        </p:nvSpPr>
        <p:spPr>
          <a:xfrm xmlns:a="http://schemas.openxmlformats.org/drawingml/2006/main">
            <a:off x="723900" y="1943100"/>
            <a:ext cx="781050" cy="47625"/>
          </a:xfrm>
          <a:prstGeom xmlns:a="http://schemas.openxmlformats.org/drawingml/2006/main" prst="rect">
            <a:avLst/>
          </a:prstGeom>
          <a:solidFill xmlns:a="http://schemas.openxmlformats.org/drawingml/2006/main">
            <a:srgbClr val="F4A92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C2C68C9-9A7F-45AB-89A3-D6A7914E3D99}"/>
              </a:ext>
            </a:extLst>
          </p:cNvPr>
          <p:cNvSpPr>
            <a:spLocks xmlns:a="http://schemas.openxmlformats.org/drawingml/2006/main" noGrp="1"/>
          </p:cNvSpPr>
          <p:nvPr/>
        </p:nvSpPr>
        <p:spPr>
          <a:xfrm xmlns:a="http://schemas.openxmlformats.org/drawingml/2006/main">
            <a:off x="723900" y="2171700"/>
            <a:ext cx="2705100" cy="2419350"/>
          </a:xfrm>
          <a:prstGeom xmlns:a="http://schemas.openxmlformats.org/drawingml/2006/main" prst="rect">
            <a:avLst/>
          </a:prstGeom>
          <a:solidFill xmlns:a="http://schemas.openxmlformats.org/drawingml/2006/main">
            <a:srgbClr val="FFFFFF"/>
          </a:solidFill>
          <a:ln xmlns:a="http://schemas.openxmlformats.org/drawingml/2006/main" w="9525">
            <a:solidFill>
              <a:srgbClr val="B8D8CB"/>
            </a:solidFill>
          </a:ln>
        </p:spPr>
      </p:sp>
      <p:sp>
        <p:nvSpPr>
          <p:cNvPr id="5" name="">
            <a:extLst xmlns:a="http://schemas.openxmlformats.org/drawingml/2006/main">
              <a:ext uri="{FF2B5EF4-FFF2-40B4-BE49-F238E27FC236}">
                <a16:creationId xmlns:a16="http://schemas.microsoft.com/office/drawing/2014/main" id="{C18967AF-FF1D-42CA-AF0C-691BED3F6743}"/>
              </a:ext>
            </a:extLst>
          </p:cNvPr>
          <p:cNvSpPr>
            <a:spLocks xmlns:a="http://schemas.openxmlformats.org/drawingml/2006/main" noGrp="1"/>
          </p:cNvSpPr>
          <p:nvPr/>
        </p:nvSpPr>
        <p:spPr>
          <a:xfrm xmlns:a="http://schemas.openxmlformats.org/drawingml/2006/main">
            <a:off x="1028700" y="24955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1. TIME AVAILABLE</a:t>
            </a:r>
          </a:p>
        </p:txBody>
      </p:sp>
      <p:sp>
        <p:nvSpPr>
          <p:cNvPr id="6" name="">
            <a:extLst xmlns:a="http://schemas.openxmlformats.org/drawingml/2006/main">
              <a:ext uri="{FF2B5EF4-FFF2-40B4-BE49-F238E27FC236}">
                <a16:creationId xmlns:a16="http://schemas.microsoft.com/office/drawing/2014/main" id="{78DBD5F7-CB8E-4316-912F-F17CEC216685}"/>
              </a:ext>
            </a:extLst>
          </p:cNvPr>
          <p:cNvSpPr>
            <a:spLocks xmlns:a="http://schemas.openxmlformats.org/drawingml/2006/main" noGrp="1"/>
          </p:cNvSpPr>
          <p:nvPr/>
        </p:nvSpPr>
        <p:spPr>
          <a:xfrm xmlns:a="http://schemas.openxmlformats.org/drawingml/2006/main">
            <a:off x="1028700" y="293370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3600" b="1">
                <a:solidFill>
                  <a:srgbClr val="143F50"/>
                </a:solidFill>
                <a:latin typeface="Bitstream Charter"/>
                <a:ea typeface="Bitstream Charter"/>
                <a:cs typeface="Bitstream Charter"/>
              </a:defRPr>
            </a:pPr>
            <a:r>
              <a:rPr sz="3600" b="1">
                <a:solidFill>
                  <a:srgbClr val="143F50"/>
                </a:solidFill>
                <a:latin typeface="Bitstream Charter"/>
                <a:ea typeface="Bitstream Charter"/>
                <a:cs typeface="Bitstream Charter"/>
              </a:rPr>
              <a:t>60 min</a:t>
            </a:r>
          </a:p>
        </p:txBody>
      </p:sp>
      <p:sp>
        <p:nvSpPr>
          <p:cNvPr id="7" name="">
            <a:extLst xmlns:a="http://schemas.openxmlformats.org/drawingml/2006/main">
              <a:ext uri="{FF2B5EF4-FFF2-40B4-BE49-F238E27FC236}">
                <a16:creationId xmlns:a16="http://schemas.microsoft.com/office/drawing/2014/main" id="{1E4F53CD-9ADE-43F3-869F-6C3B962BB125}"/>
              </a:ext>
            </a:extLst>
          </p:cNvPr>
          <p:cNvSpPr>
            <a:spLocks xmlns:a="http://schemas.openxmlformats.org/drawingml/2006/main" noGrp="1"/>
          </p:cNvSpPr>
          <p:nvPr/>
        </p:nvSpPr>
        <p:spPr>
          <a:xfrm xmlns:a="http://schemas.openxmlformats.org/drawingml/2006/main">
            <a:off x="1028700" y="3676650"/>
            <a:ext cx="1847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The person sets their whole window, including the journey.</a:t>
            </a:r>
          </a:p>
        </p:txBody>
      </p:sp>
      <p:sp>
        <p:nvSpPr>
          <p:cNvPr id="8" name="">
            <a:extLst xmlns:a="http://schemas.openxmlformats.org/drawingml/2006/main">
              <a:ext uri="{FF2B5EF4-FFF2-40B4-BE49-F238E27FC236}">
                <a16:creationId xmlns:a16="http://schemas.microsoft.com/office/drawing/2014/main" id="{A1E0E615-2203-4FAC-8329-A6DE3C9355E0}"/>
              </a:ext>
            </a:extLst>
          </p:cNvPr>
          <p:cNvSpPr>
            <a:spLocks xmlns:a="http://schemas.openxmlformats.org/drawingml/2006/main" noGrp="1"/>
          </p:cNvSpPr>
          <p:nvPr/>
        </p:nvSpPr>
        <p:spPr>
          <a:xfrm xmlns:a="http://schemas.openxmlformats.org/drawingml/2006/main">
            <a:off x="4381500" y="2171700"/>
            <a:ext cx="2705100" cy="2419350"/>
          </a:xfrm>
          <a:prstGeom xmlns:a="http://schemas.openxmlformats.org/drawingml/2006/main" prst="rect">
            <a:avLst/>
          </a:prstGeom>
          <a:solidFill xmlns:a="http://schemas.openxmlformats.org/drawingml/2006/main">
            <a:srgbClr val="FFFFFF"/>
          </a:solidFill>
          <a:ln xmlns:a="http://schemas.openxmlformats.org/drawingml/2006/main" w="9525">
            <a:solidFill>
              <a:srgbClr val="B8D8CB"/>
            </a:solidFill>
          </a:ln>
        </p:spPr>
      </p:sp>
      <p:sp>
        <p:nvSpPr>
          <p:cNvPr id="9" name="">
            <a:extLst xmlns:a="http://schemas.openxmlformats.org/drawingml/2006/main">
              <a:ext uri="{FF2B5EF4-FFF2-40B4-BE49-F238E27FC236}">
                <a16:creationId xmlns:a16="http://schemas.microsoft.com/office/drawing/2014/main" id="{536CB19F-9CE4-4422-965A-2FDD43214E3F}"/>
              </a:ext>
            </a:extLst>
          </p:cNvPr>
          <p:cNvSpPr>
            <a:spLocks xmlns:a="http://schemas.openxmlformats.org/drawingml/2006/main" noGrp="1"/>
          </p:cNvSpPr>
          <p:nvPr/>
        </p:nvSpPr>
        <p:spPr>
          <a:xfrm xmlns:a="http://schemas.openxmlformats.org/drawingml/2006/main">
            <a:off x="4686300" y="24955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2. JOURNEY CHECK</a:t>
            </a:r>
          </a:p>
        </p:txBody>
      </p:sp>
      <p:sp>
        <p:nvSpPr>
          <p:cNvPr id="10" name="">
            <a:extLst xmlns:a="http://schemas.openxmlformats.org/drawingml/2006/main">
              <a:ext uri="{FF2B5EF4-FFF2-40B4-BE49-F238E27FC236}">
                <a16:creationId xmlns:a16="http://schemas.microsoft.com/office/drawing/2014/main" id="{7B7240F5-11E8-4E77-8748-9F3627E29E89}"/>
              </a:ext>
            </a:extLst>
          </p:cNvPr>
          <p:cNvSpPr>
            <a:spLocks xmlns:a="http://schemas.openxmlformats.org/drawingml/2006/main" noGrp="1"/>
          </p:cNvSpPr>
          <p:nvPr/>
        </p:nvSpPr>
        <p:spPr>
          <a:xfrm xmlns:a="http://schemas.openxmlformats.org/drawingml/2006/main">
            <a:off x="4686300" y="2952750"/>
            <a:ext cx="1952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950" b="1">
                <a:solidFill>
                  <a:srgbClr val="143F50"/>
                </a:solidFill>
                <a:latin typeface="Bitstream Charter"/>
                <a:ea typeface="Bitstream Charter"/>
                <a:cs typeface="Bitstream Charter"/>
              </a:defRPr>
            </a:pPr>
            <a:r>
              <a:rPr sz="1950" b="1">
                <a:solidFill>
                  <a:srgbClr val="143F50"/>
                </a:solidFill>
                <a:latin typeface="Bitstream Charter"/>
                <a:ea typeface="Bitstream Charter"/>
                <a:cs typeface="Bitstream Charter"/>
              </a:rPr>
              <a:t>Return travel</a:t>
            </a:r>
          </a:p>
        </p:txBody>
      </p:sp>
      <p:sp>
        <p:nvSpPr>
          <p:cNvPr id="11" name="">
            <a:extLst xmlns:a="http://schemas.openxmlformats.org/drawingml/2006/main">
              <a:ext uri="{FF2B5EF4-FFF2-40B4-BE49-F238E27FC236}">
                <a16:creationId xmlns:a16="http://schemas.microsoft.com/office/drawing/2014/main" id="{12F23753-FEF4-4288-A59F-698FC8A789E2}"/>
              </a:ext>
            </a:extLst>
          </p:cNvPr>
          <p:cNvSpPr>
            <a:spLocks xmlns:a="http://schemas.openxmlformats.org/drawingml/2006/main" noGrp="1"/>
          </p:cNvSpPr>
          <p:nvPr/>
        </p:nvSpPr>
        <p:spPr>
          <a:xfrm xmlns:a="http://schemas.openxmlformats.org/drawingml/2006/main">
            <a:off x="4686300" y="3429000"/>
            <a:ext cx="1952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Walking, running or public transport. Route estimates stay clearly labelled as guidance.</a:t>
            </a:r>
          </a:p>
        </p:txBody>
      </p:sp>
      <p:sp>
        <p:nvSpPr>
          <p:cNvPr id="12" name="">
            <a:extLst xmlns:a="http://schemas.openxmlformats.org/drawingml/2006/main">
              <a:ext uri="{FF2B5EF4-FFF2-40B4-BE49-F238E27FC236}">
                <a16:creationId xmlns:a16="http://schemas.microsoft.com/office/drawing/2014/main" id="{B595A0F9-FE51-4721-8061-02489B8096E5}"/>
              </a:ext>
            </a:extLst>
          </p:cNvPr>
          <p:cNvSpPr>
            <a:spLocks xmlns:a="http://schemas.openxmlformats.org/drawingml/2006/main" noGrp="1"/>
          </p:cNvSpPr>
          <p:nvPr/>
        </p:nvSpPr>
        <p:spPr>
          <a:xfrm xmlns:a="http://schemas.openxmlformats.org/drawingml/2006/main">
            <a:off x="8039100" y="2171700"/>
            <a:ext cx="2705100" cy="2419350"/>
          </a:xfrm>
          <a:prstGeom xmlns:a="http://schemas.openxmlformats.org/drawingml/2006/main" prst="rect">
            <a:avLst/>
          </a:prstGeom>
          <a:solidFill xmlns:a="http://schemas.openxmlformats.org/drawingml/2006/main">
            <a:srgbClr val="FFFFFF"/>
          </a:solidFill>
          <a:ln xmlns:a="http://schemas.openxmlformats.org/drawingml/2006/main" w="9525">
            <a:solidFill>
              <a:srgbClr val="B8D8CB"/>
            </a:solidFill>
          </a:ln>
        </p:spPr>
      </p:sp>
      <p:sp>
        <p:nvSpPr>
          <p:cNvPr id="13" name="">
            <a:extLst xmlns:a="http://schemas.openxmlformats.org/drawingml/2006/main">
              <a:ext uri="{FF2B5EF4-FFF2-40B4-BE49-F238E27FC236}">
                <a16:creationId xmlns:a16="http://schemas.microsoft.com/office/drawing/2014/main" id="{40773D60-ACF3-4D4C-9497-6B4B2CF83F9F}"/>
              </a:ext>
            </a:extLst>
          </p:cNvPr>
          <p:cNvSpPr>
            <a:spLocks xmlns:a="http://schemas.openxmlformats.org/drawingml/2006/main" noGrp="1"/>
          </p:cNvSpPr>
          <p:nvPr/>
        </p:nvSpPr>
        <p:spPr>
          <a:xfrm xmlns:a="http://schemas.openxmlformats.org/drawingml/2006/main">
            <a:off x="8343900" y="24955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3. A SENSIBLE CHOICE</a:t>
            </a:r>
          </a:p>
        </p:txBody>
      </p:sp>
      <p:sp>
        <p:nvSpPr>
          <p:cNvPr id="14" name="">
            <a:extLst xmlns:a="http://schemas.openxmlformats.org/drawingml/2006/main">
              <a:ext uri="{FF2B5EF4-FFF2-40B4-BE49-F238E27FC236}">
                <a16:creationId xmlns:a16="http://schemas.microsoft.com/office/drawing/2014/main" id="{0FCA6750-3616-4072-BC0F-80B1D9AF77EA}"/>
              </a:ext>
            </a:extLst>
          </p:cNvPr>
          <p:cNvSpPr>
            <a:spLocks xmlns:a="http://schemas.openxmlformats.org/drawingml/2006/main" noGrp="1"/>
          </p:cNvSpPr>
          <p:nvPr/>
        </p:nvSpPr>
        <p:spPr>
          <a:xfrm xmlns:a="http://schemas.openxmlformats.org/drawingml/2006/main">
            <a:off x="8343900" y="2952750"/>
            <a:ext cx="1952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950" b="1">
                <a:solidFill>
                  <a:srgbClr val="143F50"/>
                </a:solidFill>
                <a:latin typeface="Bitstream Charter"/>
                <a:ea typeface="Bitstream Charter"/>
                <a:cs typeface="Bitstream Charter"/>
              </a:defRPr>
            </a:pPr>
            <a:r>
              <a:rPr sz="1950" b="1">
                <a:solidFill>
                  <a:srgbClr val="143F50"/>
                </a:solidFill>
                <a:latin typeface="Bitstream Charter"/>
                <a:ea typeface="Bitstream Charter"/>
                <a:cs typeface="Bitstream Charter"/>
              </a:rPr>
              <a:t>Move or swap</a:t>
            </a:r>
          </a:p>
        </p:txBody>
      </p:sp>
      <p:sp>
        <p:nvSpPr>
          <p:cNvPr id="15" name="">
            <a:extLst xmlns:a="http://schemas.openxmlformats.org/drawingml/2006/main">
              <a:ext uri="{FF2B5EF4-FFF2-40B4-BE49-F238E27FC236}">
                <a16:creationId xmlns:a16="http://schemas.microsoft.com/office/drawing/2014/main" id="{DEF2F434-60FE-4DB8-963D-4993EBDB7D06}"/>
              </a:ext>
            </a:extLst>
          </p:cNvPr>
          <p:cNvSpPr>
            <a:spLocks xmlns:a="http://schemas.openxmlformats.org/drawingml/2006/main" noGrp="1"/>
          </p:cNvSpPr>
          <p:nvPr/>
        </p:nvSpPr>
        <p:spPr>
          <a:xfrm xmlns:a="http://schemas.openxmlformats.org/drawingml/2006/main">
            <a:off x="8343900" y="3429000"/>
            <a:ext cx="1952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If less than 10 minutes remain, the app suggests a closer documented place instead.</a:t>
            </a:r>
          </a:p>
        </p:txBody>
      </p:sp>
      <p:sp>
        <p:nvSpPr>
          <p:cNvPr id="16" name="">
            <a:extLst xmlns:a="http://schemas.openxmlformats.org/drawingml/2006/main">
              <a:ext uri="{FF2B5EF4-FFF2-40B4-BE49-F238E27FC236}">
                <a16:creationId xmlns:a16="http://schemas.microsoft.com/office/drawing/2014/main" id="{8C1A8DFF-3BF1-4D5D-94A4-EA28946899D5}"/>
              </a:ext>
            </a:extLst>
          </p:cNvPr>
          <p:cNvSpPr>
            <a:spLocks xmlns:a="http://schemas.openxmlformats.org/drawingml/2006/main" noGrp="1"/>
          </p:cNvSpPr>
          <p:nvPr/>
        </p:nvSpPr>
        <p:spPr>
          <a:xfrm xmlns:a="http://schemas.openxmlformats.org/drawingml/2006/main">
            <a:off x="1181100" y="535305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167D73"/>
                </a:solidFill>
                <a:latin typeface="Bitstream Charter"/>
                <a:ea typeface="Bitstream Charter"/>
                <a:cs typeface="Bitstream Charter"/>
              </a:defRPr>
            </a:pPr>
            <a:r>
              <a:rPr sz="1650" b="1">
                <a:solidFill>
                  <a:srgbClr val="167D73"/>
                </a:solidFill>
                <a:latin typeface="Bitstream Charter"/>
                <a:ea typeface="Bitstream Charter"/>
                <a:cs typeface="Bitstream Charter"/>
              </a:rPr>
              <a:t>When a place fits, the person sees a warm-up, main movement, control and ease-out outline for the time left.</a:t>
            </a:r>
          </a:p>
        </p:txBody>
      </p:sp>
      <p:sp>
        <p:nvSpPr>
          <p:cNvPr id="17" name="">
            <a:extLst xmlns:a="http://schemas.openxmlformats.org/drawingml/2006/main">
              <a:ext uri="{FF2B5EF4-FFF2-40B4-BE49-F238E27FC236}">
                <a16:creationId xmlns:a16="http://schemas.microsoft.com/office/drawing/2014/main" id="{8F371DEE-64ED-4EAF-8848-D4B16544BB54}"/>
              </a:ext>
            </a:extLst>
          </p:cNvPr>
          <p:cNvSpPr>
            <a:spLocks xmlns:a="http://schemas.openxmlformats.org/drawingml/2006/main" noGrp="1"/>
          </p:cNvSpPr>
          <p:nvPr/>
        </p:nvSpPr>
        <p:spPr>
          <a:xfrm xmlns:a="http://schemas.openxmlformats.org/drawingml/2006/main">
            <a:off x="723900" y="6419850"/>
            <a:ext cx="10744200" cy="0"/>
          </a:xfrm>
          <a:prstGeom xmlns:a="http://schemas.openxmlformats.org/drawingml/2006/main" prst="line">
            <a:avLst/>
          </a:prstGeom>
          <a:noFill xmlns:a="http://schemas.openxmlformats.org/drawingml/2006/main"/>
          <a:ln xmlns:a="http://schemas.openxmlformats.org/drawingml/2006/main" w="9525">
            <a:solidFill>
              <a:srgbClr val="BFDBE2"/>
            </a:solidFill>
          </a:ln>
        </p:spPr>
      </p:sp>
      <p:sp>
        <p:nvSpPr>
          <p:cNvPr id="18" name="">
            <a:extLst xmlns:a="http://schemas.openxmlformats.org/drawingml/2006/main">
              <a:ext uri="{FF2B5EF4-FFF2-40B4-BE49-F238E27FC236}">
                <a16:creationId xmlns:a16="http://schemas.microsoft.com/office/drawing/2014/main" id="{1A1772BB-33D2-4CE5-AF48-D4E6148B1C04}"/>
              </a:ext>
            </a:extLst>
          </p:cNvPr>
          <p:cNvSpPr>
            <a:spLocks xmlns:a="http://schemas.openxmlformats.org/drawingml/2006/main" noGrp="1"/>
          </p:cNvSpPr>
          <p:nvPr/>
        </p:nvSpPr>
        <p:spPr>
          <a:xfrm xmlns:a="http://schemas.openxmlformats.org/drawingml/2006/main">
            <a:off x="723900" y="65151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167D73"/>
                </a:solidFill>
                <a:latin typeface="Bitstream Charter"/>
                <a:ea typeface="Bitstream Charter"/>
                <a:cs typeface="Bitstream Charter"/>
              </a:defRPr>
            </a:pPr>
            <a:r>
              <a:rPr sz="825" b="1">
                <a:solidFill>
                  <a:srgbClr val="167D73"/>
                </a:solidFill>
                <a:latin typeface="Bitstream Charter"/>
                <a:ea typeface="Bitstream Charter"/>
                <a:cs typeface="Bitstream Charter"/>
              </a:rPr>
              <a:t>ACTIVE CITY  ·  KRAKÓW PILOT</a:t>
            </a:r>
          </a:p>
        </p:txBody>
      </p:sp>
      <p:sp>
        <p:nvSpPr>
          <p:cNvPr id="19" name="">
            <a:extLst xmlns:a="http://schemas.openxmlformats.org/drawingml/2006/main">
              <a:ext uri="{FF2B5EF4-FFF2-40B4-BE49-F238E27FC236}">
                <a16:creationId xmlns:a16="http://schemas.microsoft.com/office/drawing/2014/main" id="{C8F99C60-CC1E-408E-AB75-8C8CCFDE46A2}"/>
              </a:ext>
            </a:extLst>
          </p:cNvPr>
          <p:cNvSpPr>
            <a:spLocks xmlns:a="http://schemas.openxmlformats.org/drawingml/2006/main" noGrp="1"/>
          </p:cNvSpPr>
          <p:nvPr/>
        </p:nvSpPr>
        <p:spPr>
          <a:xfrm xmlns:a="http://schemas.openxmlformats.org/drawingml/2006/main">
            <a:off x="107061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456773"/>
                </a:solidFill>
                <a:latin typeface="Bitstream Charter"/>
                <a:ea typeface="Bitstream Charter"/>
                <a:cs typeface="Bitstream Charter"/>
              </a:defRPr>
            </a:pPr>
            <a:r>
              <a:rPr sz="825" b="1">
                <a:solidFill>
                  <a:srgbClr val="456773"/>
                </a:solidFill>
                <a:latin typeface="Bitstream Charter"/>
                <a:ea typeface="Bitstream Charter"/>
                <a:cs typeface="Bitstream Charter"/>
              </a:rPr>
              <a:t>06</a:t>
            </a:r>
          </a:p>
        </p:txBody>
      </p:sp>
    </p:spTree>
    <p:extLst>
      <p:ext uri="{BB962C8B-B14F-4D97-AF65-F5344CB8AC3E}">
        <p14:creationId xmlns:p14="http://schemas.microsoft.com/office/powerpoint/2010/main" val="1808903854"/>
      </p:ext>
    </p:extLst>
  </p:cSld>
</p:sld>
</file>

<file path=ppt/slides/slide7.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081B02E-ED5B-4509-B688-0E3F813D01AE}"/>
              </a:ext>
            </a:extLst>
          </p:cNvPr>
          <p:cNvSpPr>
            <a:spLocks xmlns:a="http://schemas.openxmlformats.org/drawingml/2006/main" noGrp="1"/>
          </p:cNvSpPr>
          <p:nvPr/>
        </p:nvSpPr>
        <p:spPr>
          <a:xfrm xmlns:a="http://schemas.openxmlformats.org/drawingml/2006/main">
            <a:off x="704850" y="495300"/>
            <a:ext cx="990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3F50"/>
                </a:solidFill>
                <a:latin typeface="Bitstream Charter"/>
                <a:ea typeface="Bitstream Charter"/>
                <a:cs typeface="Bitstream Charter"/>
              </a:defRPr>
            </a:pPr>
            <a:r>
              <a:rPr sz="2850" b="1">
                <a:solidFill>
                  <a:srgbClr val="143F50"/>
                </a:solidFill>
                <a:latin typeface="Bitstream Charter"/>
                <a:ea typeface="Bitstream Charter"/>
                <a:cs typeface="Bitstream Charter"/>
              </a:rPr>
              <a:t>My week stays personal</a:t>
            </a:r>
          </a:p>
        </p:txBody>
      </p:sp>
      <p:sp>
        <p:nvSpPr>
          <p:cNvPr id="2" name="">
            <a:extLst xmlns:a="http://schemas.openxmlformats.org/drawingml/2006/main">
              <a:ext uri="{FF2B5EF4-FFF2-40B4-BE49-F238E27FC236}">
                <a16:creationId xmlns:a16="http://schemas.microsoft.com/office/drawing/2014/main" id="{A8AC3E8C-3BD5-4252-9089-FF697028DFAB}"/>
              </a:ext>
            </a:extLst>
          </p:cNvPr>
          <p:cNvSpPr>
            <a:spLocks xmlns:a="http://schemas.openxmlformats.org/drawingml/2006/main" noGrp="1"/>
          </p:cNvSpPr>
          <p:nvPr/>
        </p:nvSpPr>
        <p:spPr>
          <a:xfrm xmlns:a="http://schemas.openxmlformats.org/drawingml/2006/main">
            <a:off x="723900" y="15049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A person can keep a simple private record of what felt manageable and what they might try next.</a:t>
            </a:r>
          </a:p>
        </p:txBody>
      </p:sp>
      <p:sp>
        <p:nvSpPr>
          <p:cNvPr id="3" name="">
            <a:extLst xmlns:a="http://schemas.openxmlformats.org/drawingml/2006/main">
              <a:ext uri="{FF2B5EF4-FFF2-40B4-BE49-F238E27FC236}">
                <a16:creationId xmlns:a16="http://schemas.microsoft.com/office/drawing/2014/main" id="{6CE00999-6EFC-47B4-B3E3-84CE20B19CB2}"/>
              </a:ext>
            </a:extLst>
          </p:cNvPr>
          <p:cNvSpPr>
            <a:spLocks xmlns:a="http://schemas.openxmlformats.org/drawingml/2006/main" noGrp="1"/>
          </p:cNvSpPr>
          <p:nvPr/>
        </p:nvSpPr>
        <p:spPr>
          <a:xfrm xmlns:a="http://schemas.openxmlformats.org/drawingml/2006/main">
            <a:off x="723900" y="1943100"/>
            <a:ext cx="781050" cy="47625"/>
          </a:xfrm>
          <a:prstGeom xmlns:a="http://schemas.openxmlformats.org/drawingml/2006/main" prst="rect">
            <a:avLst/>
          </a:prstGeom>
          <a:solidFill xmlns:a="http://schemas.openxmlformats.org/drawingml/2006/main">
            <a:srgbClr val="F4A92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C766FD2-D3D9-4861-BA08-2F75A1821CA2}"/>
              </a:ext>
            </a:extLst>
          </p:cNvPr>
          <p:cNvSpPr>
            <a:spLocks xmlns:a="http://schemas.openxmlformats.org/drawingml/2006/main" noGrp="1"/>
          </p:cNvSpPr>
          <p:nvPr/>
        </p:nvSpPr>
        <p:spPr>
          <a:xfrm xmlns:a="http://schemas.openxmlformats.org/drawingml/2006/main">
            <a:off x="723900" y="2171700"/>
            <a:ext cx="4267200" cy="2800350"/>
          </a:xfrm>
          <a:prstGeom xmlns:a="http://schemas.openxmlformats.org/drawingml/2006/main" prst="rect">
            <a:avLst/>
          </a:prstGeom>
          <a:solidFill xmlns:a="http://schemas.openxmlformats.org/drawingml/2006/main">
            <a:srgbClr val="EEF8F7"/>
          </a:solidFill>
          <a:ln xmlns:a="http://schemas.openxmlformats.org/drawingml/2006/main" w="9525">
            <a:solidFill>
              <a:srgbClr val="BFDBE2"/>
            </a:solidFill>
          </a:ln>
        </p:spPr>
      </p:sp>
      <p:sp>
        <p:nvSpPr>
          <p:cNvPr id="5" name="">
            <a:extLst xmlns:a="http://schemas.openxmlformats.org/drawingml/2006/main">
              <a:ext uri="{FF2B5EF4-FFF2-40B4-BE49-F238E27FC236}">
                <a16:creationId xmlns:a16="http://schemas.microsoft.com/office/drawing/2014/main" id="{2543A7D7-9A21-44CF-AC53-6E4A34D276A9}"/>
              </a:ext>
            </a:extLst>
          </p:cNvPr>
          <p:cNvSpPr>
            <a:spLocks xmlns:a="http://schemas.openxmlformats.org/drawingml/2006/main" noGrp="1"/>
          </p:cNvSpPr>
          <p:nvPr/>
        </p:nvSpPr>
        <p:spPr>
          <a:xfrm xmlns:a="http://schemas.openxmlformats.org/drawingml/2006/main">
            <a:off x="1028700" y="24955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WHAT THE PERSON CAN KEEP</a:t>
            </a:r>
          </a:p>
        </p:txBody>
      </p:sp>
      <p:sp>
        <p:nvSpPr>
          <p:cNvPr id="6" name="">
            <a:extLst xmlns:a="http://schemas.openxmlformats.org/drawingml/2006/main">
              <a:ext uri="{FF2B5EF4-FFF2-40B4-BE49-F238E27FC236}">
                <a16:creationId xmlns:a16="http://schemas.microsoft.com/office/drawing/2014/main" id="{F8AD1777-F8FA-42D9-B209-3120F87EFF4C}"/>
              </a:ext>
            </a:extLst>
          </p:cNvPr>
          <p:cNvSpPr>
            <a:spLocks xmlns:a="http://schemas.openxmlformats.org/drawingml/2006/main" noGrp="1"/>
          </p:cNvSpPr>
          <p:nvPr/>
        </p:nvSpPr>
        <p:spPr>
          <a:xfrm xmlns:a="http://schemas.openxmlformats.org/drawingml/2006/main">
            <a:off x="1028700" y="2971800"/>
            <a:ext cx="323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143F50"/>
                </a:solidFill>
                <a:latin typeface="Bitstream Charter"/>
                <a:ea typeface="Bitstream Charter"/>
                <a:cs typeface="Bitstream Charter"/>
              </a:defRPr>
            </a:pPr>
            <a:r>
              <a:rPr sz="1650" b="1">
                <a:solidFill>
                  <a:srgbClr val="143F50"/>
                </a:solidFill>
                <a:latin typeface="Bitstream Charter"/>
                <a:ea typeface="Bitstream Charter"/>
                <a:cs typeface="Bitstream Charter"/>
              </a:rPr>
              <a:t>Separate profiles on one device</a:t>
            </a:r>
          </a:p>
          <a:p xmlns:a="http://schemas.openxmlformats.org/drawingml/2006/main">
            <a:pPr>
              <a:defRPr sz="1650" b="1">
                <a:solidFill>
                  <a:srgbClr val="143F50"/>
                </a:solidFill>
                <a:latin typeface="Bitstream Charter"/>
                <a:ea typeface="Bitstream Charter"/>
                <a:cs typeface="Bitstream Charter"/>
              </a:defRPr>
            </a:pPr>
            <a:r>
              <a:rPr sz="1650" b="1">
                <a:solidFill>
                  <a:srgbClr val="143F50"/>
                </a:solidFill>
                <a:latin typeface="Bitstream Charter"/>
                <a:ea typeface="Bitstream Charter"/>
                <a:cs typeface="Bitstream Charter"/>
              </a:rPr>
              <a:t>Optional device-only saving</a:t>
            </a:r>
          </a:p>
          <a:p xmlns:a="http://schemas.openxmlformats.org/drawingml/2006/main">
            <a:pPr>
              <a:defRPr sz="1650" b="1">
                <a:solidFill>
                  <a:srgbClr val="143F50"/>
                </a:solidFill>
                <a:latin typeface="Bitstream Charter"/>
                <a:ea typeface="Bitstream Charter"/>
                <a:cs typeface="Bitstream Charter"/>
              </a:defRPr>
            </a:pPr>
            <a:r>
              <a:rPr sz="1650" b="1">
                <a:solidFill>
                  <a:srgbClr val="143F50"/>
                </a:solidFill>
                <a:latin typeface="Bitstream Charter"/>
                <a:ea typeface="Bitstream Charter"/>
                <a:cs typeface="Bitstream Charter"/>
              </a:rPr>
              <a:t>Selected-entry share link</a:t>
            </a:r>
          </a:p>
          <a:p xmlns:a="http://schemas.openxmlformats.org/drawingml/2006/main">
            <a:pPr>
              <a:defRPr sz="1650" b="1">
                <a:solidFill>
                  <a:srgbClr val="143F50"/>
                </a:solidFill>
                <a:latin typeface="Bitstream Charter"/>
                <a:ea typeface="Bitstream Charter"/>
                <a:cs typeface="Bitstream Charter"/>
              </a:defRPr>
            </a:pPr>
            <a:r>
              <a:rPr sz="1650" b="1">
                <a:solidFill>
                  <a:srgbClr val="143F50"/>
                </a:solidFill>
                <a:latin typeface="Bitstream Charter"/>
                <a:ea typeface="Bitstream Charter"/>
                <a:cs typeface="Bitstream Charter"/>
              </a:rPr>
              <a:t>Private reflection after activity</a:t>
            </a:r>
          </a:p>
        </p:txBody>
      </p:sp>
      <p:sp>
        <p:nvSpPr>
          <p:cNvPr id="7" name="">
            <a:extLst xmlns:a="http://schemas.openxmlformats.org/drawingml/2006/main">
              <a:ext uri="{FF2B5EF4-FFF2-40B4-BE49-F238E27FC236}">
                <a16:creationId xmlns:a16="http://schemas.microsoft.com/office/drawing/2014/main" id="{D8B21E82-091C-4353-B333-D9606F9F5DEF}"/>
              </a:ext>
            </a:extLst>
          </p:cNvPr>
          <p:cNvSpPr>
            <a:spLocks xmlns:a="http://schemas.openxmlformats.org/drawingml/2006/main" noGrp="1"/>
          </p:cNvSpPr>
          <p:nvPr/>
        </p:nvSpPr>
        <p:spPr>
          <a:xfrm xmlns:a="http://schemas.openxmlformats.org/drawingml/2006/main">
            <a:off x="6038850" y="2171700"/>
            <a:ext cx="4705350" cy="2800350"/>
          </a:xfrm>
          <a:prstGeom xmlns:a="http://schemas.openxmlformats.org/drawingml/2006/main" prst="rect">
            <a:avLst/>
          </a:prstGeom>
          <a:solidFill xmlns:a="http://schemas.openxmlformats.org/drawingml/2006/main">
            <a:srgbClr val="F3FBFF"/>
          </a:solidFill>
          <a:ln xmlns:a="http://schemas.openxmlformats.org/drawingml/2006/main" w="9525">
            <a:solidFill>
              <a:srgbClr val="BFDBE2"/>
            </a:solidFill>
          </a:ln>
        </p:spPr>
      </p:sp>
      <p:sp>
        <p:nvSpPr>
          <p:cNvPr id="8" name="">
            <a:extLst xmlns:a="http://schemas.openxmlformats.org/drawingml/2006/main">
              <a:ext uri="{FF2B5EF4-FFF2-40B4-BE49-F238E27FC236}">
                <a16:creationId xmlns:a16="http://schemas.microsoft.com/office/drawing/2014/main" id="{58A94178-CE7A-4D16-83D0-A3EC0FA13ADB}"/>
              </a:ext>
            </a:extLst>
          </p:cNvPr>
          <p:cNvSpPr>
            <a:spLocks xmlns:a="http://schemas.openxmlformats.org/drawingml/2006/main" noGrp="1"/>
          </p:cNvSpPr>
          <p:nvPr/>
        </p:nvSpPr>
        <p:spPr>
          <a:xfrm xmlns:a="http://schemas.openxmlformats.org/drawingml/2006/main">
            <a:off x="6343650" y="24955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THE NEW WEEKLY GAP WE CLOSED</a:t>
            </a:r>
          </a:p>
        </p:txBody>
      </p:sp>
      <p:sp>
        <p:nvSpPr>
          <p:cNvPr id="9" name="">
            <a:extLst xmlns:a="http://schemas.openxmlformats.org/drawingml/2006/main">
              <a:ext uri="{FF2B5EF4-FFF2-40B4-BE49-F238E27FC236}">
                <a16:creationId xmlns:a16="http://schemas.microsoft.com/office/drawing/2014/main" id="{72CA5CF1-F5AE-44C0-8646-95AC0C516028}"/>
              </a:ext>
            </a:extLst>
          </p:cNvPr>
          <p:cNvSpPr>
            <a:spLocks xmlns:a="http://schemas.openxmlformats.org/drawingml/2006/main" noGrp="1"/>
          </p:cNvSpPr>
          <p:nvPr/>
        </p:nvSpPr>
        <p:spPr>
          <a:xfrm xmlns:a="http://schemas.openxmlformats.org/drawingml/2006/main">
            <a:off x="6343650" y="2971800"/>
            <a:ext cx="3429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143F50"/>
                </a:solidFill>
                <a:latin typeface="Bitstream Charter"/>
                <a:ea typeface="Bitstream Charter"/>
                <a:cs typeface="Bitstream Charter"/>
              </a:defRPr>
            </a:pPr>
            <a:r>
              <a:rPr sz="1500" b="1">
                <a:solidFill>
                  <a:srgbClr val="143F50"/>
                </a:solidFill>
                <a:latin typeface="Bitstream Charter"/>
                <a:ea typeface="Bitstream Charter"/>
                <a:cs typeface="Bitstream Charter"/>
              </a:rPr>
              <a:t>The app turns a few check-ins into a small picture of the week: movement days, familiar place and one modest next step.</a:t>
            </a:r>
          </a:p>
        </p:txBody>
      </p:sp>
      <p:sp>
        <p:nvSpPr>
          <p:cNvPr id="10" name="">
            <a:extLst xmlns:a="http://schemas.openxmlformats.org/drawingml/2006/main">
              <a:ext uri="{FF2B5EF4-FFF2-40B4-BE49-F238E27FC236}">
                <a16:creationId xmlns:a16="http://schemas.microsoft.com/office/drawing/2014/main" id="{B3DCC066-45D9-487B-B4CD-3C8321AECF80}"/>
              </a:ext>
            </a:extLst>
          </p:cNvPr>
          <p:cNvSpPr>
            <a:spLocks xmlns:a="http://schemas.openxmlformats.org/drawingml/2006/main" noGrp="1"/>
          </p:cNvSpPr>
          <p:nvPr/>
        </p:nvSpPr>
        <p:spPr>
          <a:xfrm xmlns:a="http://schemas.openxmlformats.org/drawingml/2006/main">
            <a:off x="6343650" y="4362450"/>
            <a:ext cx="3295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0">
                <a:solidFill>
                  <a:srgbClr val="456773"/>
                </a:solidFill>
                <a:latin typeface="Bitstream Charter"/>
                <a:ea typeface="Bitstream Charter"/>
                <a:cs typeface="Bitstream Charter"/>
              </a:defRPr>
            </a:pPr>
            <a:r>
              <a:rPr sz="1125" b="0">
                <a:solidFill>
                  <a:srgbClr val="456773"/>
                </a:solidFill>
                <a:latin typeface="Bitstream Charter"/>
                <a:ea typeface="Bitstream Charter"/>
                <a:cs typeface="Bitstream Charter"/>
              </a:rPr>
              <a:t>No diagnosis, score or health record. The person controls whether anything remains on the device.</a:t>
            </a:r>
          </a:p>
        </p:txBody>
      </p:sp>
      <p:sp>
        <p:nvSpPr>
          <p:cNvPr id="11" name="">
            <a:extLst xmlns:a="http://schemas.openxmlformats.org/drawingml/2006/main">
              <a:ext uri="{FF2B5EF4-FFF2-40B4-BE49-F238E27FC236}">
                <a16:creationId xmlns:a16="http://schemas.microsoft.com/office/drawing/2014/main" id="{302CD874-4035-4D1A-95D4-ECD4ABD8A19A}"/>
              </a:ext>
            </a:extLst>
          </p:cNvPr>
          <p:cNvSpPr>
            <a:spLocks xmlns:a="http://schemas.openxmlformats.org/drawingml/2006/main" noGrp="1"/>
          </p:cNvSpPr>
          <p:nvPr/>
        </p:nvSpPr>
        <p:spPr>
          <a:xfrm xmlns:a="http://schemas.openxmlformats.org/drawingml/2006/main">
            <a:off x="723900" y="6419850"/>
            <a:ext cx="10744200" cy="0"/>
          </a:xfrm>
          <a:prstGeom xmlns:a="http://schemas.openxmlformats.org/drawingml/2006/main" prst="line">
            <a:avLst/>
          </a:prstGeom>
          <a:noFill xmlns:a="http://schemas.openxmlformats.org/drawingml/2006/main"/>
          <a:ln xmlns:a="http://schemas.openxmlformats.org/drawingml/2006/main" w="9525">
            <a:solidFill>
              <a:srgbClr val="BFDBE2"/>
            </a:solidFill>
          </a:ln>
        </p:spPr>
      </p:sp>
      <p:sp>
        <p:nvSpPr>
          <p:cNvPr id="12" name="">
            <a:extLst xmlns:a="http://schemas.openxmlformats.org/drawingml/2006/main">
              <a:ext uri="{FF2B5EF4-FFF2-40B4-BE49-F238E27FC236}">
                <a16:creationId xmlns:a16="http://schemas.microsoft.com/office/drawing/2014/main" id="{11D74BDF-DA01-451A-99E7-DC9718B74197}"/>
              </a:ext>
            </a:extLst>
          </p:cNvPr>
          <p:cNvSpPr>
            <a:spLocks xmlns:a="http://schemas.openxmlformats.org/drawingml/2006/main" noGrp="1"/>
          </p:cNvSpPr>
          <p:nvPr/>
        </p:nvSpPr>
        <p:spPr>
          <a:xfrm xmlns:a="http://schemas.openxmlformats.org/drawingml/2006/main">
            <a:off x="723900" y="65151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167D73"/>
                </a:solidFill>
                <a:latin typeface="Bitstream Charter"/>
                <a:ea typeface="Bitstream Charter"/>
                <a:cs typeface="Bitstream Charter"/>
              </a:defRPr>
            </a:pPr>
            <a:r>
              <a:rPr sz="825" b="1">
                <a:solidFill>
                  <a:srgbClr val="167D73"/>
                </a:solidFill>
                <a:latin typeface="Bitstream Charter"/>
                <a:ea typeface="Bitstream Charter"/>
                <a:cs typeface="Bitstream Charter"/>
              </a:rPr>
              <a:t>ACTIVE CITY  ·  KRAKÓW PILOT</a:t>
            </a:r>
          </a:p>
        </p:txBody>
      </p:sp>
      <p:sp>
        <p:nvSpPr>
          <p:cNvPr id="13" name="">
            <a:extLst xmlns:a="http://schemas.openxmlformats.org/drawingml/2006/main">
              <a:ext uri="{FF2B5EF4-FFF2-40B4-BE49-F238E27FC236}">
                <a16:creationId xmlns:a16="http://schemas.microsoft.com/office/drawing/2014/main" id="{D5E30456-F1E9-4B6A-9043-003F8A55BF97}"/>
              </a:ext>
            </a:extLst>
          </p:cNvPr>
          <p:cNvSpPr>
            <a:spLocks xmlns:a="http://schemas.openxmlformats.org/drawingml/2006/main" noGrp="1"/>
          </p:cNvSpPr>
          <p:nvPr/>
        </p:nvSpPr>
        <p:spPr>
          <a:xfrm xmlns:a="http://schemas.openxmlformats.org/drawingml/2006/main">
            <a:off x="107061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456773"/>
                </a:solidFill>
                <a:latin typeface="Bitstream Charter"/>
                <a:ea typeface="Bitstream Charter"/>
                <a:cs typeface="Bitstream Charter"/>
              </a:defRPr>
            </a:pPr>
            <a:r>
              <a:rPr sz="825" b="1">
                <a:solidFill>
                  <a:srgbClr val="456773"/>
                </a:solidFill>
                <a:latin typeface="Bitstream Charter"/>
                <a:ea typeface="Bitstream Charter"/>
                <a:cs typeface="Bitstream Charter"/>
              </a:rPr>
              <a:t>07</a:t>
            </a:r>
          </a:p>
        </p:txBody>
      </p:sp>
    </p:spTree>
    <p:extLst>
      <p:ext uri="{BB962C8B-B14F-4D97-AF65-F5344CB8AC3E}">
        <p14:creationId xmlns:p14="http://schemas.microsoft.com/office/powerpoint/2010/main" val="2052427869"/>
      </p:ext>
    </p:extLst>
  </p:cSld>
</p:sld>
</file>

<file path=ppt/slides/slide8.xml><?xml version="1.0" encoding="utf-8"?>
<p:sld xmlns:p="http://schemas.openxmlformats.org/presentationml/2006/main">
  <p:cSld>
    <p:bg>
      <p:bgPr>
        <a:solidFill xmlns:a="http://schemas.openxmlformats.org/drawingml/2006/main">
          <a:srgbClr val="F3FB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E4D7B7B-2ED8-4C83-8D23-1262ED83AC29}"/>
              </a:ext>
            </a:extLst>
          </p:cNvPr>
          <p:cNvSpPr>
            <a:spLocks xmlns:a="http://schemas.openxmlformats.org/drawingml/2006/main" noGrp="1"/>
          </p:cNvSpPr>
          <p:nvPr/>
        </p:nvSpPr>
        <p:spPr>
          <a:xfrm xmlns:a="http://schemas.openxmlformats.org/drawingml/2006/main">
            <a:off x="704850" y="495300"/>
            <a:ext cx="990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3F50"/>
                </a:solidFill>
                <a:latin typeface="Bitstream Charter"/>
                <a:ea typeface="Bitstream Charter"/>
                <a:cs typeface="Bitstream Charter"/>
              </a:defRPr>
            </a:pPr>
            <a:r>
              <a:rPr sz="2850" b="1">
                <a:solidFill>
                  <a:srgbClr val="143F50"/>
                </a:solidFill>
                <a:latin typeface="Bitstream Charter"/>
                <a:ea typeface="Bitstream Charter"/>
                <a:cs typeface="Bitstream Charter"/>
              </a:rPr>
              <a:t>Community support needs a real operating partner</a:t>
            </a:r>
          </a:p>
        </p:txBody>
      </p:sp>
      <p:sp>
        <p:nvSpPr>
          <p:cNvPr id="2" name="">
            <a:extLst xmlns:a="http://schemas.openxmlformats.org/drawingml/2006/main">
              <a:ext uri="{FF2B5EF4-FFF2-40B4-BE49-F238E27FC236}">
                <a16:creationId xmlns:a16="http://schemas.microsoft.com/office/drawing/2014/main" id="{EBD12CB0-5535-4BDD-A87A-7E6F061BDA61}"/>
              </a:ext>
            </a:extLst>
          </p:cNvPr>
          <p:cNvSpPr>
            <a:spLocks xmlns:a="http://schemas.openxmlformats.org/drawingml/2006/main" noGrp="1"/>
          </p:cNvSpPr>
          <p:nvPr/>
        </p:nvSpPr>
        <p:spPr>
          <a:xfrm xmlns:a="http://schemas.openxmlformats.org/drawingml/2006/main">
            <a:off x="723900" y="15049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The prototype shows the pathway without pretending that a live volunteer or trainer service already exists.</a:t>
            </a:r>
          </a:p>
        </p:txBody>
      </p:sp>
      <p:sp>
        <p:nvSpPr>
          <p:cNvPr id="3" name="">
            <a:extLst xmlns:a="http://schemas.openxmlformats.org/drawingml/2006/main">
              <a:ext uri="{FF2B5EF4-FFF2-40B4-BE49-F238E27FC236}">
                <a16:creationId xmlns:a16="http://schemas.microsoft.com/office/drawing/2014/main" id="{86BDA5E7-C237-4109-B923-9967DD008363}"/>
              </a:ext>
            </a:extLst>
          </p:cNvPr>
          <p:cNvSpPr>
            <a:spLocks xmlns:a="http://schemas.openxmlformats.org/drawingml/2006/main" noGrp="1"/>
          </p:cNvSpPr>
          <p:nvPr/>
        </p:nvSpPr>
        <p:spPr>
          <a:xfrm xmlns:a="http://schemas.openxmlformats.org/drawingml/2006/main">
            <a:off x="723900" y="1943100"/>
            <a:ext cx="781050" cy="47625"/>
          </a:xfrm>
          <a:prstGeom xmlns:a="http://schemas.openxmlformats.org/drawingml/2006/main" prst="rect">
            <a:avLst/>
          </a:prstGeom>
          <a:solidFill xmlns:a="http://schemas.openxmlformats.org/drawingml/2006/main">
            <a:srgbClr val="F4A92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F51D5E2-EEB3-43DF-8B48-E3743B98185A}"/>
              </a:ext>
            </a:extLst>
          </p:cNvPr>
          <p:cNvSpPr>
            <a:spLocks xmlns:a="http://schemas.openxmlformats.org/drawingml/2006/main" noGrp="1"/>
          </p:cNvSpPr>
          <p:nvPr/>
        </p:nvSpPr>
        <p:spPr>
          <a:xfrm xmlns:a="http://schemas.openxmlformats.org/drawingml/2006/main">
            <a:off x="838200" y="2209800"/>
            <a:ext cx="400050" cy="400050"/>
          </a:xfrm>
          <a:prstGeom xmlns:a="http://schemas.openxmlformats.org/drawingml/2006/main" prst="ellipse">
            <a:avLst/>
          </a:prstGeom>
          <a:solidFill xmlns:a="http://schemas.openxmlformats.org/drawingml/2006/main">
            <a:srgbClr val="1599D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5D1C830-A536-48B0-B017-DD7AAD87A624}"/>
              </a:ext>
            </a:extLst>
          </p:cNvPr>
          <p:cNvSpPr>
            <a:spLocks xmlns:a="http://schemas.openxmlformats.org/drawingml/2006/main" noGrp="1"/>
          </p:cNvSpPr>
          <p:nvPr/>
        </p:nvSpPr>
        <p:spPr>
          <a:xfrm xmlns:a="http://schemas.openxmlformats.org/drawingml/2006/main">
            <a:off x="942975" y="2324100"/>
            <a:ext cx="19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1">
                <a:solidFill>
                  <a:srgbClr val="FFFFFF"/>
                </a:solidFill>
                <a:latin typeface="Bitstream Charter"/>
                <a:ea typeface="Bitstream Charter"/>
                <a:cs typeface="Bitstream Charter"/>
              </a:defRPr>
            </a:pPr>
            <a:r>
              <a:rPr sz="1050" b="1">
                <a:solidFill>
                  <a:srgbClr val="FFFFFF"/>
                </a:solidFill>
                <a:latin typeface="Bitstream Charter"/>
                <a:ea typeface="Bitstream Charter"/>
                <a:cs typeface="Bitstream Charter"/>
              </a:rPr>
              <a:t>1</a:t>
            </a:r>
          </a:p>
        </p:txBody>
      </p:sp>
      <p:sp>
        <p:nvSpPr>
          <p:cNvPr id="6" name="">
            <a:extLst xmlns:a="http://schemas.openxmlformats.org/drawingml/2006/main">
              <a:ext uri="{FF2B5EF4-FFF2-40B4-BE49-F238E27FC236}">
                <a16:creationId xmlns:a16="http://schemas.microsoft.com/office/drawing/2014/main" id="{6FC41E79-B5F3-466A-BA9A-DA363BDC3C81}"/>
              </a:ext>
            </a:extLst>
          </p:cNvPr>
          <p:cNvSpPr>
            <a:spLocks xmlns:a="http://schemas.openxmlformats.org/drawingml/2006/main" noGrp="1"/>
          </p:cNvSpPr>
          <p:nvPr/>
        </p:nvSpPr>
        <p:spPr>
          <a:xfrm xmlns:a="http://schemas.openxmlformats.org/drawingml/2006/main">
            <a:off x="1504950" y="21717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143F50"/>
                </a:solidFill>
                <a:latin typeface="Bitstream Charter"/>
                <a:ea typeface="Bitstream Charter"/>
                <a:cs typeface="Bitstream Charter"/>
              </a:defRPr>
            </a:pPr>
            <a:r>
              <a:rPr sz="1650" b="1">
                <a:solidFill>
                  <a:srgbClr val="143F50"/>
                </a:solidFill>
                <a:latin typeface="Bitstream Charter"/>
                <a:ea typeface="Bitstream Charter"/>
                <a:cs typeface="Bitstream Charter"/>
              </a:rPr>
              <a:t>Named operator</a:t>
            </a:r>
          </a:p>
        </p:txBody>
      </p:sp>
      <p:sp>
        <p:nvSpPr>
          <p:cNvPr id="7" name="">
            <a:extLst xmlns:a="http://schemas.openxmlformats.org/drawingml/2006/main">
              <a:ext uri="{FF2B5EF4-FFF2-40B4-BE49-F238E27FC236}">
                <a16:creationId xmlns:a16="http://schemas.microsoft.com/office/drawing/2014/main" id="{C0F2B98A-1FB1-4546-B7D0-1CE6B9175037}"/>
              </a:ext>
            </a:extLst>
          </p:cNvPr>
          <p:cNvSpPr>
            <a:spLocks xmlns:a="http://schemas.openxmlformats.org/drawingml/2006/main" noGrp="1"/>
          </p:cNvSpPr>
          <p:nvPr/>
        </p:nvSpPr>
        <p:spPr>
          <a:xfrm xmlns:a="http://schemas.openxmlformats.org/drawingml/2006/main">
            <a:off x="1504950" y="25336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0">
                <a:solidFill>
                  <a:srgbClr val="456773"/>
                </a:solidFill>
                <a:latin typeface="Bitstream Charter"/>
                <a:ea typeface="Bitstream Charter"/>
                <a:cs typeface="Bitstream Charter"/>
              </a:defRPr>
            </a:pPr>
            <a:r>
              <a:rPr sz="1200" b="0">
                <a:solidFill>
                  <a:srgbClr val="456773"/>
                </a:solidFill>
                <a:latin typeface="Bitstream Charter"/>
                <a:ea typeface="Bitstream Charter"/>
                <a:cs typeface="Bitstream Charter"/>
              </a:rPr>
              <a:t>A city, NGO or venue operator owns the service.</a:t>
            </a:r>
          </a:p>
        </p:txBody>
      </p:sp>
      <p:sp>
        <p:nvSpPr>
          <p:cNvPr id="8" name="">
            <a:extLst xmlns:a="http://schemas.openxmlformats.org/drawingml/2006/main">
              <a:ext uri="{FF2B5EF4-FFF2-40B4-BE49-F238E27FC236}">
                <a16:creationId xmlns:a16="http://schemas.microsoft.com/office/drawing/2014/main" id="{5EBB4699-632E-41C0-BFFA-53156A57CBA2}"/>
              </a:ext>
            </a:extLst>
          </p:cNvPr>
          <p:cNvSpPr>
            <a:spLocks xmlns:a="http://schemas.openxmlformats.org/drawingml/2006/main" noGrp="1"/>
          </p:cNvSpPr>
          <p:nvPr/>
        </p:nvSpPr>
        <p:spPr>
          <a:xfrm xmlns:a="http://schemas.openxmlformats.org/drawingml/2006/main">
            <a:off x="838200" y="3200400"/>
            <a:ext cx="400050" cy="400050"/>
          </a:xfrm>
          <a:prstGeom xmlns:a="http://schemas.openxmlformats.org/drawingml/2006/main" prst="ellipse">
            <a:avLst/>
          </a:prstGeom>
          <a:solidFill xmlns:a="http://schemas.openxmlformats.org/drawingml/2006/main">
            <a:srgbClr val="167D7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25661B8-BFF6-476E-A62B-5974C8F64AB6}"/>
              </a:ext>
            </a:extLst>
          </p:cNvPr>
          <p:cNvSpPr>
            <a:spLocks xmlns:a="http://schemas.openxmlformats.org/drawingml/2006/main" noGrp="1"/>
          </p:cNvSpPr>
          <p:nvPr/>
        </p:nvSpPr>
        <p:spPr>
          <a:xfrm xmlns:a="http://schemas.openxmlformats.org/drawingml/2006/main">
            <a:off x="942975" y="3314700"/>
            <a:ext cx="19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1">
                <a:solidFill>
                  <a:srgbClr val="FFFFFF"/>
                </a:solidFill>
                <a:latin typeface="Bitstream Charter"/>
                <a:ea typeface="Bitstream Charter"/>
                <a:cs typeface="Bitstream Charter"/>
              </a:defRPr>
            </a:pPr>
            <a:r>
              <a:rPr sz="1050" b="1">
                <a:solidFill>
                  <a:srgbClr val="FFFFFF"/>
                </a:solidFill>
                <a:latin typeface="Bitstream Charter"/>
                <a:ea typeface="Bitstream Charter"/>
                <a:cs typeface="Bitstream Charter"/>
              </a:rPr>
              <a:t>2</a:t>
            </a:r>
          </a:p>
        </p:txBody>
      </p:sp>
      <p:sp>
        <p:nvSpPr>
          <p:cNvPr id="10" name="">
            <a:extLst xmlns:a="http://schemas.openxmlformats.org/drawingml/2006/main">
              <a:ext uri="{FF2B5EF4-FFF2-40B4-BE49-F238E27FC236}">
                <a16:creationId xmlns:a16="http://schemas.microsoft.com/office/drawing/2014/main" id="{9097F19D-F32D-4753-B399-6BEC8622D597}"/>
              </a:ext>
            </a:extLst>
          </p:cNvPr>
          <p:cNvSpPr>
            <a:spLocks xmlns:a="http://schemas.openxmlformats.org/drawingml/2006/main" noGrp="1"/>
          </p:cNvSpPr>
          <p:nvPr/>
        </p:nvSpPr>
        <p:spPr>
          <a:xfrm xmlns:a="http://schemas.openxmlformats.org/drawingml/2006/main">
            <a:off x="1504950" y="31623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143F50"/>
                </a:solidFill>
                <a:latin typeface="Bitstream Charter"/>
                <a:ea typeface="Bitstream Charter"/>
                <a:cs typeface="Bitstream Charter"/>
              </a:defRPr>
            </a:pPr>
            <a:r>
              <a:rPr sz="1650" b="1">
                <a:solidFill>
                  <a:srgbClr val="143F50"/>
                </a:solidFill>
                <a:latin typeface="Bitstream Charter"/>
                <a:ea typeface="Bitstream Charter"/>
                <a:cs typeface="Bitstream Charter"/>
              </a:rPr>
              <a:t>Verification</a:t>
            </a:r>
          </a:p>
        </p:txBody>
      </p:sp>
      <p:sp>
        <p:nvSpPr>
          <p:cNvPr id="11" name="">
            <a:extLst xmlns:a="http://schemas.openxmlformats.org/drawingml/2006/main">
              <a:ext uri="{FF2B5EF4-FFF2-40B4-BE49-F238E27FC236}">
                <a16:creationId xmlns:a16="http://schemas.microsoft.com/office/drawing/2014/main" id="{F047B162-0BAE-467D-AB1D-40EFBD71D0C3}"/>
              </a:ext>
            </a:extLst>
          </p:cNvPr>
          <p:cNvSpPr>
            <a:spLocks xmlns:a="http://schemas.openxmlformats.org/drawingml/2006/main" noGrp="1"/>
          </p:cNvSpPr>
          <p:nvPr/>
        </p:nvSpPr>
        <p:spPr>
          <a:xfrm xmlns:a="http://schemas.openxmlformats.org/drawingml/2006/main">
            <a:off x="1504950" y="35242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0">
                <a:solidFill>
                  <a:srgbClr val="456773"/>
                </a:solidFill>
                <a:latin typeface="Bitstream Charter"/>
                <a:ea typeface="Bitstream Charter"/>
                <a:cs typeface="Bitstream Charter"/>
              </a:defRPr>
            </a:pPr>
            <a:r>
              <a:rPr sz="1200" b="0">
                <a:solidFill>
                  <a:srgbClr val="456773"/>
                </a:solidFill>
                <a:latin typeface="Bitstream Charter"/>
                <a:ea typeface="Bitstream Charter"/>
                <a:cs typeface="Bitstream Charter"/>
              </a:rPr>
              <a:t>Identity, appropriate qualifications and insurance where relevant.</a:t>
            </a:r>
          </a:p>
        </p:txBody>
      </p:sp>
      <p:sp>
        <p:nvSpPr>
          <p:cNvPr id="12" name="">
            <a:extLst xmlns:a="http://schemas.openxmlformats.org/drawingml/2006/main">
              <a:ext uri="{FF2B5EF4-FFF2-40B4-BE49-F238E27FC236}">
                <a16:creationId xmlns:a16="http://schemas.microsoft.com/office/drawing/2014/main" id="{E252CE10-03F5-4A0E-B772-00EEB68A573E}"/>
              </a:ext>
            </a:extLst>
          </p:cNvPr>
          <p:cNvSpPr>
            <a:spLocks xmlns:a="http://schemas.openxmlformats.org/drawingml/2006/main" noGrp="1"/>
          </p:cNvSpPr>
          <p:nvPr/>
        </p:nvSpPr>
        <p:spPr>
          <a:xfrm xmlns:a="http://schemas.openxmlformats.org/drawingml/2006/main">
            <a:off x="838200" y="4191000"/>
            <a:ext cx="400050" cy="400050"/>
          </a:xfrm>
          <a:prstGeom xmlns:a="http://schemas.openxmlformats.org/drawingml/2006/main" prst="ellipse">
            <a:avLst/>
          </a:prstGeom>
          <a:solidFill xmlns:a="http://schemas.openxmlformats.org/drawingml/2006/main">
            <a:srgbClr val="4A972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F5D4153-06DE-4167-A3DE-E1656D05BF43}"/>
              </a:ext>
            </a:extLst>
          </p:cNvPr>
          <p:cNvSpPr>
            <a:spLocks xmlns:a="http://schemas.openxmlformats.org/drawingml/2006/main" noGrp="1"/>
          </p:cNvSpPr>
          <p:nvPr/>
        </p:nvSpPr>
        <p:spPr>
          <a:xfrm xmlns:a="http://schemas.openxmlformats.org/drawingml/2006/main">
            <a:off x="942975" y="4305300"/>
            <a:ext cx="19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1">
                <a:solidFill>
                  <a:srgbClr val="FFFFFF"/>
                </a:solidFill>
                <a:latin typeface="Bitstream Charter"/>
                <a:ea typeface="Bitstream Charter"/>
                <a:cs typeface="Bitstream Charter"/>
              </a:defRPr>
            </a:pPr>
            <a:r>
              <a:rPr sz="1050" b="1">
                <a:solidFill>
                  <a:srgbClr val="FFFFFF"/>
                </a:solidFill>
                <a:latin typeface="Bitstream Charter"/>
                <a:ea typeface="Bitstream Charter"/>
                <a:cs typeface="Bitstream Charter"/>
              </a:rPr>
              <a:t>3</a:t>
            </a:r>
          </a:p>
        </p:txBody>
      </p:sp>
      <p:sp>
        <p:nvSpPr>
          <p:cNvPr id="14" name="">
            <a:extLst xmlns:a="http://schemas.openxmlformats.org/drawingml/2006/main">
              <a:ext uri="{FF2B5EF4-FFF2-40B4-BE49-F238E27FC236}">
                <a16:creationId xmlns:a16="http://schemas.microsoft.com/office/drawing/2014/main" id="{06B6E308-DBD2-424D-8BD5-B463A86FE888}"/>
              </a:ext>
            </a:extLst>
          </p:cNvPr>
          <p:cNvSpPr>
            <a:spLocks xmlns:a="http://schemas.openxmlformats.org/drawingml/2006/main" noGrp="1"/>
          </p:cNvSpPr>
          <p:nvPr/>
        </p:nvSpPr>
        <p:spPr>
          <a:xfrm xmlns:a="http://schemas.openxmlformats.org/drawingml/2006/main">
            <a:off x="1504950" y="41529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143F50"/>
                </a:solidFill>
                <a:latin typeface="Bitstream Charter"/>
                <a:ea typeface="Bitstream Charter"/>
                <a:cs typeface="Bitstream Charter"/>
              </a:defRPr>
            </a:pPr>
            <a:r>
              <a:rPr sz="1650" b="1">
                <a:solidFill>
                  <a:srgbClr val="143F50"/>
                </a:solidFill>
                <a:latin typeface="Bitstream Charter"/>
                <a:ea typeface="Bitstream Charter"/>
                <a:cs typeface="Bitstream Charter"/>
              </a:rPr>
              <a:t>Safeguarding</a:t>
            </a:r>
          </a:p>
        </p:txBody>
      </p:sp>
      <p:sp>
        <p:nvSpPr>
          <p:cNvPr id="15" name="">
            <a:extLst xmlns:a="http://schemas.openxmlformats.org/drawingml/2006/main">
              <a:ext uri="{FF2B5EF4-FFF2-40B4-BE49-F238E27FC236}">
                <a16:creationId xmlns:a16="http://schemas.microsoft.com/office/drawing/2014/main" id="{83084F61-4FAF-4D7D-BD86-B6D5ED0FC447}"/>
              </a:ext>
            </a:extLst>
          </p:cNvPr>
          <p:cNvSpPr>
            <a:spLocks xmlns:a="http://schemas.openxmlformats.org/drawingml/2006/main" noGrp="1"/>
          </p:cNvSpPr>
          <p:nvPr/>
        </p:nvSpPr>
        <p:spPr>
          <a:xfrm xmlns:a="http://schemas.openxmlformats.org/drawingml/2006/main">
            <a:off x="1504950" y="45148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0">
                <a:solidFill>
                  <a:srgbClr val="456773"/>
                </a:solidFill>
                <a:latin typeface="Bitstream Charter"/>
                <a:ea typeface="Bitstream Charter"/>
                <a:cs typeface="Bitstream Charter"/>
              </a:defRPr>
            </a:pPr>
            <a:r>
              <a:rPr sz="1200" b="0">
                <a:solidFill>
                  <a:srgbClr val="456773"/>
                </a:solidFill>
                <a:latin typeface="Bitstream Charter"/>
                <a:ea typeface="Bitstream Charter"/>
                <a:cs typeface="Bitstream Charter"/>
              </a:rPr>
              <a:t>Role boundaries, moderation, reporting and venue approval.</a:t>
            </a:r>
          </a:p>
        </p:txBody>
      </p:sp>
      <p:sp>
        <p:nvSpPr>
          <p:cNvPr id="16" name="">
            <a:extLst xmlns:a="http://schemas.openxmlformats.org/drawingml/2006/main">
              <a:ext uri="{FF2B5EF4-FFF2-40B4-BE49-F238E27FC236}">
                <a16:creationId xmlns:a16="http://schemas.microsoft.com/office/drawing/2014/main" id="{B990C5E7-FDEB-413B-A412-D096105AFD59}"/>
              </a:ext>
            </a:extLst>
          </p:cNvPr>
          <p:cNvSpPr>
            <a:spLocks xmlns:a="http://schemas.openxmlformats.org/drawingml/2006/main" noGrp="1"/>
          </p:cNvSpPr>
          <p:nvPr/>
        </p:nvSpPr>
        <p:spPr>
          <a:xfrm xmlns:a="http://schemas.openxmlformats.org/drawingml/2006/main">
            <a:off x="6305550" y="2209800"/>
            <a:ext cx="3924300" cy="2647950"/>
          </a:xfrm>
          <a:prstGeom xmlns:a="http://schemas.openxmlformats.org/drawingml/2006/main" prst="rect">
            <a:avLst/>
          </a:prstGeom>
          <a:solidFill xmlns:a="http://schemas.openxmlformats.org/drawingml/2006/main">
            <a:srgbClr val="FFFFFF"/>
          </a:solidFill>
          <a:ln xmlns:a="http://schemas.openxmlformats.org/drawingml/2006/main" w="9525">
            <a:solidFill>
              <a:srgbClr val="BFDBE2"/>
            </a:solidFill>
          </a:ln>
        </p:spPr>
      </p:sp>
      <p:sp>
        <p:nvSpPr>
          <p:cNvPr id="17" name="">
            <a:extLst xmlns:a="http://schemas.openxmlformats.org/drawingml/2006/main">
              <a:ext uri="{FF2B5EF4-FFF2-40B4-BE49-F238E27FC236}">
                <a16:creationId xmlns:a16="http://schemas.microsoft.com/office/drawing/2014/main" id="{C998806C-5B06-402C-9410-C50FED870777}"/>
              </a:ext>
            </a:extLst>
          </p:cNvPr>
          <p:cNvSpPr>
            <a:spLocks xmlns:a="http://schemas.openxmlformats.org/drawingml/2006/main" noGrp="1"/>
          </p:cNvSpPr>
          <p:nvPr/>
        </p:nvSpPr>
        <p:spPr>
          <a:xfrm xmlns:a="http://schemas.openxmlformats.org/drawingml/2006/main">
            <a:off x="6648450" y="255270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WHAT THE DEMO DOES TODAY</a:t>
            </a:r>
          </a:p>
        </p:txBody>
      </p:sp>
      <p:sp>
        <p:nvSpPr>
          <p:cNvPr id="18" name="">
            <a:extLst xmlns:a="http://schemas.openxmlformats.org/drawingml/2006/main">
              <a:ext uri="{FF2B5EF4-FFF2-40B4-BE49-F238E27FC236}">
                <a16:creationId xmlns:a16="http://schemas.microsoft.com/office/drawing/2014/main" id="{A6CC33E4-2C77-4C9C-AF07-A9D7EFA01165}"/>
              </a:ext>
            </a:extLst>
          </p:cNvPr>
          <p:cNvSpPr>
            <a:spLocks xmlns:a="http://schemas.openxmlformats.org/drawingml/2006/main" noGrp="1"/>
          </p:cNvSpPr>
          <p:nvPr/>
        </p:nvSpPr>
        <p:spPr>
          <a:xfrm xmlns:a="http://schemas.openxmlformats.org/drawingml/2006/main">
            <a:off x="6648450" y="3009900"/>
            <a:ext cx="30003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143F50"/>
                </a:solidFill>
                <a:latin typeface="Bitstream Charter"/>
                <a:ea typeface="Bitstream Charter"/>
                <a:cs typeface="Bitstream Charter"/>
              </a:defRPr>
            </a:pPr>
            <a:r>
              <a:rPr sz="1500" b="1">
                <a:solidFill>
                  <a:srgbClr val="143F50"/>
                </a:solidFill>
                <a:latin typeface="Bitstream Charter"/>
                <a:ea typeface="Bitstream Charter"/>
                <a:cs typeface="Bitstream Charter"/>
              </a:rPr>
              <a:t>It can add a public-place activity to a private plan, make a draft, and explain the checks needed before a listing could go live.</a:t>
            </a:r>
          </a:p>
        </p:txBody>
      </p:sp>
      <p:sp>
        <p:nvSpPr>
          <p:cNvPr id="19" name="">
            <a:extLst xmlns:a="http://schemas.openxmlformats.org/drawingml/2006/main">
              <a:ext uri="{FF2B5EF4-FFF2-40B4-BE49-F238E27FC236}">
                <a16:creationId xmlns:a16="http://schemas.microsoft.com/office/drawing/2014/main" id="{065F190C-328A-44FA-8E64-CFB6ED9C9D51}"/>
              </a:ext>
            </a:extLst>
          </p:cNvPr>
          <p:cNvSpPr>
            <a:spLocks xmlns:a="http://schemas.openxmlformats.org/drawingml/2006/main" noGrp="1"/>
          </p:cNvSpPr>
          <p:nvPr/>
        </p:nvSpPr>
        <p:spPr>
          <a:xfrm xmlns:a="http://schemas.openxmlformats.org/drawingml/2006/main">
            <a:off x="6648450" y="44005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0">
                <a:solidFill>
                  <a:srgbClr val="456773"/>
                </a:solidFill>
                <a:latin typeface="Bitstream Charter"/>
                <a:ea typeface="Bitstream Charter"/>
                <a:cs typeface="Bitstream Charter"/>
              </a:defRPr>
            </a:pPr>
            <a:r>
              <a:rPr sz="1050" b="0">
                <a:solidFill>
                  <a:srgbClr val="456773"/>
                </a:solidFill>
                <a:latin typeface="Bitstream Charter"/>
                <a:ea typeface="Bitstream Charter"/>
                <a:cs typeface="Bitstream Charter"/>
              </a:rPr>
              <a:t>It does not create accounts, publish requests, exchange contact details or verify credentials.</a:t>
            </a:r>
          </a:p>
        </p:txBody>
      </p:sp>
      <p:sp>
        <p:nvSpPr>
          <p:cNvPr id="20" name="">
            <a:extLst xmlns:a="http://schemas.openxmlformats.org/drawingml/2006/main">
              <a:ext uri="{FF2B5EF4-FFF2-40B4-BE49-F238E27FC236}">
                <a16:creationId xmlns:a16="http://schemas.microsoft.com/office/drawing/2014/main" id="{27D197AB-F696-4F22-BDB4-DE43A20A3D57}"/>
              </a:ext>
            </a:extLst>
          </p:cNvPr>
          <p:cNvSpPr>
            <a:spLocks xmlns:a="http://schemas.openxmlformats.org/drawingml/2006/main" noGrp="1"/>
          </p:cNvSpPr>
          <p:nvPr/>
        </p:nvSpPr>
        <p:spPr>
          <a:xfrm xmlns:a="http://schemas.openxmlformats.org/drawingml/2006/main">
            <a:off x="723900" y="6419850"/>
            <a:ext cx="10744200" cy="0"/>
          </a:xfrm>
          <a:prstGeom xmlns:a="http://schemas.openxmlformats.org/drawingml/2006/main" prst="line">
            <a:avLst/>
          </a:prstGeom>
          <a:noFill xmlns:a="http://schemas.openxmlformats.org/drawingml/2006/main"/>
          <a:ln xmlns:a="http://schemas.openxmlformats.org/drawingml/2006/main" w="9525">
            <a:solidFill>
              <a:srgbClr val="BFDBE2"/>
            </a:solidFill>
          </a:ln>
        </p:spPr>
      </p:sp>
      <p:sp>
        <p:nvSpPr>
          <p:cNvPr id="21" name="">
            <a:extLst xmlns:a="http://schemas.openxmlformats.org/drawingml/2006/main">
              <a:ext uri="{FF2B5EF4-FFF2-40B4-BE49-F238E27FC236}">
                <a16:creationId xmlns:a16="http://schemas.microsoft.com/office/drawing/2014/main" id="{3F62406E-955A-4417-9D1C-0D5BFB40F346}"/>
              </a:ext>
            </a:extLst>
          </p:cNvPr>
          <p:cNvSpPr>
            <a:spLocks xmlns:a="http://schemas.openxmlformats.org/drawingml/2006/main" noGrp="1"/>
          </p:cNvSpPr>
          <p:nvPr/>
        </p:nvSpPr>
        <p:spPr>
          <a:xfrm xmlns:a="http://schemas.openxmlformats.org/drawingml/2006/main">
            <a:off x="723900" y="65151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167D73"/>
                </a:solidFill>
                <a:latin typeface="Bitstream Charter"/>
                <a:ea typeface="Bitstream Charter"/>
                <a:cs typeface="Bitstream Charter"/>
              </a:defRPr>
            </a:pPr>
            <a:r>
              <a:rPr sz="825" b="1">
                <a:solidFill>
                  <a:srgbClr val="167D73"/>
                </a:solidFill>
                <a:latin typeface="Bitstream Charter"/>
                <a:ea typeface="Bitstream Charter"/>
                <a:cs typeface="Bitstream Charter"/>
              </a:rPr>
              <a:t>ACTIVE CITY  ·  KRAKÓW PILOT</a:t>
            </a:r>
          </a:p>
        </p:txBody>
      </p:sp>
      <p:sp>
        <p:nvSpPr>
          <p:cNvPr id="22" name="">
            <a:extLst xmlns:a="http://schemas.openxmlformats.org/drawingml/2006/main">
              <a:ext uri="{FF2B5EF4-FFF2-40B4-BE49-F238E27FC236}">
                <a16:creationId xmlns:a16="http://schemas.microsoft.com/office/drawing/2014/main" id="{3319B30B-4773-46E4-9640-8D030CF1EB63}"/>
              </a:ext>
            </a:extLst>
          </p:cNvPr>
          <p:cNvSpPr>
            <a:spLocks xmlns:a="http://schemas.openxmlformats.org/drawingml/2006/main" noGrp="1"/>
          </p:cNvSpPr>
          <p:nvPr/>
        </p:nvSpPr>
        <p:spPr>
          <a:xfrm xmlns:a="http://schemas.openxmlformats.org/drawingml/2006/main">
            <a:off x="107061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456773"/>
                </a:solidFill>
                <a:latin typeface="Bitstream Charter"/>
                <a:ea typeface="Bitstream Charter"/>
                <a:cs typeface="Bitstream Charter"/>
              </a:defRPr>
            </a:pPr>
            <a:r>
              <a:rPr sz="825" b="1">
                <a:solidFill>
                  <a:srgbClr val="456773"/>
                </a:solidFill>
                <a:latin typeface="Bitstream Charter"/>
                <a:ea typeface="Bitstream Charter"/>
                <a:cs typeface="Bitstream Charter"/>
              </a:rPr>
              <a:t>08</a:t>
            </a:r>
          </a:p>
        </p:txBody>
      </p:sp>
    </p:spTree>
    <p:extLst>
      <p:ext uri="{BB962C8B-B14F-4D97-AF65-F5344CB8AC3E}">
        <p14:creationId xmlns:p14="http://schemas.microsoft.com/office/powerpoint/2010/main" val="54822949"/>
      </p:ext>
    </p:extLst>
  </p:cSld>
</p:sld>
</file>

<file path=ppt/slides/slide9.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5A41A7E-34F5-4D71-BEDB-D261D148C348}"/>
              </a:ext>
            </a:extLst>
          </p:cNvPr>
          <p:cNvSpPr>
            <a:spLocks xmlns:a="http://schemas.openxmlformats.org/drawingml/2006/main" noGrp="1"/>
          </p:cNvSpPr>
          <p:nvPr/>
        </p:nvSpPr>
        <p:spPr>
          <a:xfrm xmlns:a="http://schemas.openxmlformats.org/drawingml/2006/main">
            <a:off x="704850" y="495300"/>
            <a:ext cx="990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3F50"/>
                </a:solidFill>
                <a:latin typeface="Bitstream Charter"/>
                <a:ea typeface="Bitstream Charter"/>
                <a:cs typeface="Bitstream Charter"/>
              </a:defRPr>
            </a:pPr>
            <a:r>
              <a:rPr sz="2850" b="1">
                <a:solidFill>
                  <a:srgbClr val="143F50"/>
                </a:solidFill>
                <a:latin typeface="Bitstream Charter"/>
                <a:ea typeface="Bitstream Charter"/>
                <a:cs typeface="Bitstream Charter"/>
              </a:rPr>
              <a:t>Evidence, boundaries and next pilot</a:t>
            </a:r>
          </a:p>
        </p:txBody>
      </p:sp>
      <p:sp>
        <p:nvSpPr>
          <p:cNvPr id="2" name="">
            <a:extLst xmlns:a="http://schemas.openxmlformats.org/drawingml/2006/main">
              <a:ext uri="{FF2B5EF4-FFF2-40B4-BE49-F238E27FC236}">
                <a16:creationId xmlns:a16="http://schemas.microsoft.com/office/drawing/2014/main" id="{3957285A-C666-40E9-A2E3-66ECD5E14140}"/>
              </a:ext>
            </a:extLst>
          </p:cNvPr>
          <p:cNvSpPr>
            <a:spLocks xmlns:a="http://schemas.openxmlformats.org/drawingml/2006/main" noGrp="1"/>
          </p:cNvSpPr>
          <p:nvPr/>
        </p:nvSpPr>
        <p:spPr>
          <a:xfrm xmlns:a="http://schemas.openxmlformats.org/drawingml/2006/main">
            <a:off x="723900" y="15049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The Kraków prototype gives the judging panel something real to inspect while keeping the next stage clear.</a:t>
            </a:r>
          </a:p>
        </p:txBody>
      </p:sp>
      <p:sp>
        <p:nvSpPr>
          <p:cNvPr id="3" name="">
            <a:extLst xmlns:a="http://schemas.openxmlformats.org/drawingml/2006/main">
              <a:ext uri="{FF2B5EF4-FFF2-40B4-BE49-F238E27FC236}">
                <a16:creationId xmlns:a16="http://schemas.microsoft.com/office/drawing/2014/main" id="{BAD6A898-E9EB-4FA0-8CB5-F4057EFF19CD}"/>
              </a:ext>
            </a:extLst>
          </p:cNvPr>
          <p:cNvSpPr>
            <a:spLocks xmlns:a="http://schemas.openxmlformats.org/drawingml/2006/main" noGrp="1"/>
          </p:cNvSpPr>
          <p:nvPr/>
        </p:nvSpPr>
        <p:spPr>
          <a:xfrm xmlns:a="http://schemas.openxmlformats.org/drawingml/2006/main">
            <a:off x="723900" y="1943100"/>
            <a:ext cx="781050" cy="47625"/>
          </a:xfrm>
          <a:prstGeom xmlns:a="http://schemas.openxmlformats.org/drawingml/2006/main" prst="rect">
            <a:avLst/>
          </a:prstGeom>
          <a:solidFill xmlns:a="http://schemas.openxmlformats.org/drawingml/2006/main">
            <a:srgbClr val="F4A92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3A39CE2-E008-48FA-81D2-0CBC3A08F393}"/>
              </a:ext>
            </a:extLst>
          </p:cNvPr>
          <p:cNvSpPr>
            <a:spLocks xmlns:a="http://schemas.openxmlformats.org/drawingml/2006/main" noGrp="1"/>
          </p:cNvSpPr>
          <p:nvPr/>
        </p:nvSpPr>
        <p:spPr>
          <a:xfrm xmlns:a="http://schemas.openxmlformats.org/drawingml/2006/main">
            <a:off x="800100" y="213360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WHAT EXISTS NOW</a:t>
            </a:r>
          </a:p>
        </p:txBody>
      </p:sp>
      <p:sp>
        <p:nvSpPr>
          <p:cNvPr id="5" name="">
            <a:extLst xmlns:a="http://schemas.openxmlformats.org/drawingml/2006/main">
              <a:ext uri="{FF2B5EF4-FFF2-40B4-BE49-F238E27FC236}">
                <a16:creationId xmlns:a16="http://schemas.microsoft.com/office/drawing/2014/main" id="{18B41297-27FD-416D-89EB-12A00FBF49F9}"/>
              </a:ext>
            </a:extLst>
          </p:cNvPr>
          <p:cNvSpPr>
            <a:spLocks xmlns:a="http://schemas.openxmlformats.org/drawingml/2006/main" noGrp="1"/>
          </p:cNvSpPr>
          <p:nvPr/>
        </p:nvSpPr>
        <p:spPr>
          <a:xfrm xmlns:a="http://schemas.openxmlformats.org/drawingml/2006/main">
            <a:off x="800100" y="2533650"/>
            <a:ext cx="4095750"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React + TypeScript + Leaflet prototype</a:t>
            </a:r>
          </a:p>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14 documented place profiles</a:t>
            </a:r>
          </a:p>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Map and text alternative</a:t>
            </a:r>
          </a:p>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Distance, route and time-aware plan</a:t>
            </a:r>
          </a:p>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Local profiles, reflection and weekly prompt</a:t>
            </a:r>
          </a:p>
        </p:txBody>
      </p:sp>
      <p:sp>
        <p:nvSpPr>
          <p:cNvPr id="6" name="">
            <a:extLst xmlns:a="http://schemas.openxmlformats.org/drawingml/2006/main">
              <a:ext uri="{FF2B5EF4-FFF2-40B4-BE49-F238E27FC236}">
                <a16:creationId xmlns:a16="http://schemas.microsoft.com/office/drawing/2014/main" id="{4EA513DE-E189-484A-B567-8AECEED7E07D}"/>
              </a:ext>
            </a:extLst>
          </p:cNvPr>
          <p:cNvSpPr>
            <a:spLocks xmlns:a="http://schemas.openxmlformats.org/drawingml/2006/main" noGrp="1"/>
          </p:cNvSpPr>
          <p:nvPr/>
        </p:nvSpPr>
        <p:spPr>
          <a:xfrm xmlns:a="http://schemas.openxmlformats.org/drawingml/2006/main">
            <a:off x="6153150" y="213360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WHAT A CITY PILOT SHOULD TEST</a:t>
            </a:r>
          </a:p>
        </p:txBody>
      </p:sp>
      <p:sp>
        <p:nvSpPr>
          <p:cNvPr id="7" name="">
            <a:extLst xmlns:a="http://schemas.openxmlformats.org/drawingml/2006/main">
              <a:ext uri="{FF2B5EF4-FFF2-40B4-BE49-F238E27FC236}">
                <a16:creationId xmlns:a16="http://schemas.microsoft.com/office/drawing/2014/main" id="{13195129-365F-455A-BE74-F3A5ACCCAAF2}"/>
              </a:ext>
            </a:extLst>
          </p:cNvPr>
          <p:cNvSpPr>
            <a:spLocks xmlns:a="http://schemas.openxmlformats.org/drawingml/2006/main" noGrp="1"/>
          </p:cNvSpPr>
          <p:nvPr/>
        </p:nvSpPr>
        <p:spPr>
          <a:xfrm xmlns:a="http://schemas.openxmlformats.org/drawingml/2006/main">
            <a:off x="6153150" y="2533650"/>
            <a:ext cx="39052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Verify more sites with operators</a:t>
            </a:r>
          </a:p>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Test the plan with residents</a:t>
            </a:r>
          </a:p>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Check accessibility and language needs</a:t>
            </a:r>
          </a:p>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Decide whether a named partner can run community support safely</a:t>
            </a:r>
          </a:p>
        </p:txBody>
      </p:sp>
      <p:sp>
        <p:nvSpPr>
          <p:cNvPr id="8" name="">
            <a:extLst xmlns:a="http://schemas.openxmlformats.org/drawingml/2006/main">
              <a:ext uri="{FF2B5EF4-FFF2-40B4-BE49-F238E27FC236}">
                <a16:creationId xmlns:a16="http://schemas.microsoft.com/office/drawing/2014/main" id="{D43A5718-1FFA-4490-A549-B23754E07A15}"/>
              </a:ext>
            </a:extLst>
          </p:cNvPr>
          <p:cNvSpPr>
            <a:spLocks xmlns:a="http://schemas.openxmlformats.org/drawingml/2006/main" noGrp="1"/>
          </p:cNvSpPr>
          <p:nvPr/>
        </p:nvSpPr>
        <p:spPr>
          <a:xfrm xmlns:a="http://schemas.openxmlformats.org/drawingml/2006/main">
            <a:off x="723900" y="5010150"/>
            <a:ext cx="9982200" cy="781050"/>
          </a:xfrm>
          <a:prstGeom xmlns:a="http://schemas.openxmlformats.org/drawingml/2006/main" prst="rect">
            <a:avLst/>
          </a:prstGeom>
          <a:solidFill xmlns:a="http://schemas.openxmlformats.org/drawingml/2006/main">
            <a:srgbClr val="EEF8F7"/>
          </a:solidFill>
          <a:ln xmlns:a="http://schemas.openxmlformats.org/drawingml/2006/main" w="9525">
            <a:solidFill>
              <a:srgbClr val="BFDBE2"/>
            </a:solidFill>
          </a:ln>
        </p:spPr>
      </p:sp>
      <p:sp>
        <p:nvSpPr>
          <p:cNvPr id="9" name="">
            <a:extLst xmlns:a="http://schemas.openxmlformats.org/drawingml/2006/main">
              <a:ext uri="{FF2B5EF4-FFF2-40B4-BE49-F238E27FC236}">
                <a16:creationId xmlns:a16="http://schemas.microsoft.com/office/drawing/2014/main" id="{73A465B1-AEBD-49C7-8D31-278B3694A30B}"/>
              </a:ext>
            </a:extLst>
          </p:cNvPr>
          <p:cNvSpPr>
            <a:spLocks xmlns:a="http://schemas.openxmlformats.org/drawingml/2006/main" noGrp="1"/>
          </p:cNvSpPr>
          <p:nvPr/>
        </p:nvSpPr>
        <p:spPr>
          <a:xfrm xmlns:a="http://schemas.openxmlformats.org/drawingml/2006/main">
            <a:off x="1028700" y="5238750"/>
            <a:ext cx="904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0">
                <a:solidFill>
                  <a:srgbClr val="456773"/>
                </a:solidFill>
                <a:latin typeface="Bitstream Charter"/>
                <a:ea typeface="Bitstream Charter"/>
                <a:cs typeface="Bitstream Charter"/>
              </a:defRPr>
            </a:pPr>
            <a:r>
              <a:rPr sz="1125" b="0">
                <a:solidFill>
                  <a:srgbClr val="456773"/>
                </a:solidFill>
                <a:latin typeface="Bitstream Charter"/>
                <a:ea typeface="Bitstream Charter"/>
                <a:cs typeface="Bitstream Charter"/>
              </a:rPr>
              <a:t>Sources and disclosure: Kraków municipal facility records, OpenStreetMap and NHS instructional links support the prototype. The retained cover illustration was AI-generated and is disclosed. No external health data or personal data is sent by the app.</a:t>
            </a:r>
          </a:p>
        </p:txBody>
      </p:sp>
      <p:sp>
        <p:nvSpPr>
          <p:cNvPr id="10" name="">
            <a:extLst xmlns:a="http://schemas.openxmlformats.org/drawingml/2006/main">
              <a:ext uri="{FF2B5EF4-FFF2-40B4-BE49-F238E27FC236}">
                <a16:creationId xmlns:a16="http://schemas.microsoft.com/office/drawing/2014/main" id="{5F3A9EFD-9853-4AAC-B845-4DB3B48B9A2E}"/>
              </a:ext>
            </a:extLst>
          </p:cNvPr>
          <p:cNvSpPr>
            <a:spLocks xmlns:a="http://schemas.openxmlformats.org/drawingml/2006/main" noGrp="1"/>
          </p:cNvSpPr>
          <p:nvPr/>
        </p:nvSpPr>
        <p:spPr>
          <a:xfrm xmlns:a="http://schemas.openxmlformats.org/drawingml/2006/main">
            <a:off x="723900" y="6419850"/>
            <a:ext cx="10744200" cy="0"/>
          </a:xfrm>
          <a:prstGeom xmlns:a="http://schemas.openxmlformats.org/drawingml/2006/main" prst="line">
            <a:avLst/>
          </a:prstGeom>
          <a:noFill xmlns:a="http://schemas.openxmlformats.org/drawingml/2006/main"/>
          <a:ln xmlns:a="http://schemas.openxmlformats.org/drawingml/2006/main" w="9525">
            <a:solidFill>
              <a:srgbClr val="BFDBE2"/>
            </a:solidFill>
          </a:ln>
        </p:spPr>
      </p:sp>
      <p:sp>
        <p:nvSpPr>
          <p:cNvPr id="11" name="">
            <a:extLst xmlns:a="http://schemas.openxmlformats.org/drawingml/2006/main">
              <a:ext uri="{FF2B5EF4-FFF2-40B4-BE49-F238E27FC236}">
                <a16:creationId xmlns:a16="http://schemas.microsoft.com/office/drawing/2014/main" id="{753C4B97-2A05-4E93-866A-D07CB1B03C50}"/>
              </a:ext>
            </a:extLst>
          </p:cNvPr>
          <p:cNvSpPr>
            <a:spLocks xmlns:a="http://schemas.openxmlformats.org/drawingml/2006/main" noGrp="1"/>
          </p:cNvSpPr>
          <p:nvPr/>
        </p:nvSpPr>
        <p:spPr>
          <a:xfrm xmlns:a="http://schemas.openxmlformats.org/drawingml/2006/main">
            <a:off x="723900" y="65151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167D73"/>
                </a:solidFill>
                <a:latin typeface="Bitstream Charter"/>
                <a:ea typeface="Bitstream Charter"/>
                <a:cs typeface="Bitstream Charter"/>
              </a:defRPr>
            </a:pPr>
            <a:r>
              <a:rPr sz="825" b="1">
                <a:solidFill>
                  <a:srgbClr val="167D73"/>
                </a:solidFill>
                <a:latin typeface="Bitstream Charter"/>
                <a:ea typeface="Bitstream Charter"/>
                <a:cs typeface="Bitstream Charter"/>
              </a:rPr>
              <a:t>ACTIVE CITY  ·  KRAKÓW PILOT</a:t>
            </a:r>
          </a:p>
        </p:txBody>
      </p:sp>
      <p:sp>
        <p:nvSpPr>
          <p:cNvPr id="12" name="">
            <a:extLst xmlns:a="http://schemas.openxmlformats.org/drawingml/2006/main">
              <a:ext uri="{FF2B5EF4-FFF2-40B4-BE49-F238E27FC236}">
                <a16:creationId xmlns:a16="http://schemas.microsoft.com/office/drawing/2014/main" id="{06225A1B-F61E-4309-9939-0093FDC4369A}"/>
              </a:ext>
            </a:extLst>
          </p:cNvPr>
          <p:cNvSpPr>
            <a:spLocks xmlns:a="http://schemas.openxmlformats.org/drawingml/2006/main" noGrp="1"/>
          </p:cNvSpPr>
          <p:nvPr/>
        </p:nvSpPr>
        <p:spPr>
          <a:xfrm xmlns:a="http://schemas.openxmlformats.org/drawingml/2006/main">
            <a:off x="107061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456773"/>
                </a:solidFill>
                <a:latin typeface="Bitstream Charter"/>
                <a:ea typeface="Bitstream Charter"/>
                <a:cs typeface="Bitstream Charter"/>
              </a:defRPr>
            </a:pPr>
            <a:r>
              <a:rPr sz="825" b="1">
                <a:solidFill>
                  <a:srgbClr val="456773"/>
                </a:solidFill>
                <a:latin typeface="Bitstream Charter"/>
                <a:ea typeface="Bitstream Charter"/>
                <a:cs typeface="Bitstream Charter"/>
              </a:rPr>
              <a:t>09</a:t>
            </a:r>
          </a:p>
        </p:txBody>
      </p:sp>
    </p:spTree>
    <p:extLst>
      <p:ext uri="{BB962C8B-B14F-4D97-AF65-F5344CB8AC3E}">
        <p14:creationId xmlns:p14="http://schemas.microsoft.com/office/powerpoint/2010/main" val="1900843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2026-10-03T13:51:11.5270000Z</dcterms:created>
  <dcterms:modified xsi:type="dcterms:W3CDTF">2026-10-03T13:51:11.5270000Z</dcterms:modified>
</coreProperties>
</file>