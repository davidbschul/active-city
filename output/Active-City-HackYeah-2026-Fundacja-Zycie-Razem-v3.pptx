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d59e2f2f5e4654" /><Relationship Type="http://schemas.openxmlformats.org/officeDocument/2006/relationships/extended-properties" Target="/docProps/app.xml" Id="R23eb0aa286c042f2" /><Relationship Type="http://schemas.openxmlformats.org/officeDocument/2006/relationships/officeDocument" Target="/ppt/presentation.xml" Id="Rc1ab2e9c2d7549d8" /></Relationships>
</file>

<file path=ppt/presentation.xml><?xml version="1.0" encoding="utf-8"?>
<p:presentation xmlns:p="http://schemas.openxmlformats.org/presentationml/2006/main">
  <p:sldMasterIdLst>
    <p:sldMasterId xmlns:r="http://schemas.openxmlformats.org/officeDocument/2006/relationships" id="2147483648" r:id="Rc3d381fdaa904012"/>
  </p:sldMasterIdLst>
  <p:notesMasterIdLst>
    <p:notesMasterId xmlns:r="http://schemas.openxmlformats.org/officeDocument/2006/relationships" r:id="Rb06749b0769b4b31"/>
  </p:notesMasterIdLst>
  <p:sldIdLst>
    <p:sldId xmlns:r="http://schemas.openxmlformats.org/officeDocument/2006/relationships" id="256" r:id="R0883e01eddc9423e"/>
    <p:sldId xmlns:r="http://schemas.openxmlformats.org/officeDocument/2006/relationships" id="257" r:id="Rf09931e7348a416e"/>
    <p:sldId xmlns:r="http://schemas.openxmlformats.org/officeDocument/2006/relationships" id="258" r:id="R342733ca283746d3"/>
    <p:sldId xmlns:r="http://schemas.openxmlformats.org/officeDocument/2006/relationships" id="259" r:id="R422d7f6db1f14fe9"/>
    <p:sldId xmlns:r="http://schemas.openxmlformats.org/officeDocument/2006/relationships" id="260" r:id="R4c5e8bc84ae34cfe"/>
    <p:sldId xmlns:r="http://schemas.openxmlformats.org/officeDocument/2006/relationships" id="261" r:id="Rcb5edd261a9a42d0"/>
    <p:sldId xmlns:r="http://schemas.openxmlformats.org/officeDocument/2006/relationships" id="262" r:id="Rbbead5fe580d4c04"/>
    <p:sldId xmlns:r="http://schemas.openxmlformats.org/officeDocument/2006/relationships" id="263" r:id="Rfcc65bc6f90c460c"/>
    <p:sldId xmlns:r="http://schemas.openxmlformats.org/officeDocument/2006/relationships" id="264" r:id="R3c81450f70b04ab5"/>
    <p:sldId xmlns:r="http://schemas.openxmlformats.org/officeDocument/2006/relationships" id="265" r:id="Rd7f65b20c01f4edd"/>
    <p:sldId xmlns:r="http://schemas.openxmlformats.org/officeDocument/2006/relationships" id="266" r:id="Rfaf9ada7808e49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4824a8415d4388" /><Relationship Type="http://schemas.openxmlformats.org/officeDocument/2006/relationships/slideMaster" Target="/ppt/slideMasters/slideMaster1.xml" Id="Rc3d381fdaa904012" /><Relationship Type="http://schemas.openxmlformats.org/officeDocument/2006/relationships/notesMaster" Target="/ppt/notesMasters/notesMaster1.xml" Id="Rb06749b0769b4b31" /><Relationship Type="http://schemas.openxmlformats.org/officeDocument/2006/relationships/presProps" Target="/ppt/presProps.xml" Id="Rf1353f701d2a4eaf" /><Relationship Type="http://schemas.openxmlformats.org/officeDocument/2006/relationships/tableStyles" Target="/ppt/tableStyles.xml" Id="R857b9892cc2642a4" /><Relationship Type="http://schemas.openxmlformats.org/officeDocument/2006/relationships/slide" Target="/ppt/slides/slide1.xml" Id="R0883e01eddc9423e" /><Relationship Type="http://schemas.openxmlformats.org/officeDocument/2006/relationships/slide" Target="/ppt/slides/slide2.xml" Id="Rf09931e7348a416e" /><Relationship Type="http://schemas.openxmlformats.org/officeDocument/2006/relationships/slide" Target="/ppt/slides/slide3.xml" Id="R342733ca283746d3" /><Relationship Type="http://schemas.openxmlformats.org/officeDocument/2006/relationships/slide" Target="/ppt/slides/slide4.xml" Id="R422d7f6db1f14fe9" /><Relationship Type="http://schemas.openxmlformats.org/officeDocument/2006/relationships/slide" Target="/ppt/slides/slide5.xml" Id="R4c5e8bc84ae34cfe" /><Relationship Type="http://schemas.openxmlformats.org/officeDocument/2006/relationships/slide" Target="/ppt/slides/slide6.xml" Id="Rcb5edd261a9a42d0" /><Relationship Type="http://schemas.openxmlformats.org/officeDocument/2006/relationships/slide" Target="/ppt/slides/slide7.xml" Id="Rbbead5fe580d4c04" /><Relationship Type="http://schemas.openxmlformats.org/officeDocument/2006/relationships/slide" Target="/ppt/slides/slide8.xml" Id="Rfcc65bc6f90c460c" /><Relationship Type="http://schemas.openxmlformats.org/officeDocument/2006/relationships/slide" Target="/ppt/slides/slide9.xml" Id="R3c81450f70b04ab5" /><Relationship Type="http://schemas.openxmlformats.org/officeDocument/2006/relationships/slide" Target="/ppt/slides/slide10.xml" Id="Rd7f65b20c01f4edd" /><Relationship Type="http://schemas.openxmlformats.org/officeDocument/2006/relationships/slide" Target="/ppt/slides/slide11.xml" Id="Rfaf9ada7808e49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c9df1d79b34d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5e066ba1dc4bd7" /><Relationship Type="http://schemas.openxmlformats.org/officeDocument/2006/relationships/notesMaster" Target="/ppt/notesMasters/notesMaster1.xml" Id="R7355b0c4173e44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baae5c7ea54c0c" /><Relationship Type="http://schemas.openxmlformats.org/officeDocument/2006/relationships/notesMaster" Target="/ppt/notesMasters/notesMaster1.xml" Id="R2ce793babc1043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a9aafbda4e4161" /><Relationship Type="http://schemas.openxmlformats.org/officeDocument/2006/relationships/notesMaster" Target="/ppt/notesMasters/notesMaster1.xml" Id="R259042f400944d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53211cf7024cf7" /><Relationship Type="http://schemas.openxmlformats.org/officeDocument/2006/relationships/notesMaster" Target="/ppt/notesMasters/notesMaster1.xml" Id="R27b97929c0fa4d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35afbf0bbf450a" /><Relationship Type="http://schemas.openxmlformats.org/officeDocument/2006/relationships/notesMaster" Target="/ppt/notesMasters/notesMaster1.xml" Id="Ra97d1861057a49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431a249a834039" /><Relationship Type="http://schemas.openxmlformats.org/officeDocument/2006/relationships/notesMaster" Target="/ppt/notesMasters/notesMaster1.xml" Id="Re9e1411c62a940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af990cd8a44119" /><Relationship Type="http://schemas.openxmlformats.org/officeDocument/2006/relationships/notesMaster" Target="/ppt/notesMasters/notesMaster1.xml" Id="R480482d568474e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91e565795b2484a" /><Relationship Type="http://schemas.openxmlformats.org/officeDocument/2006/relationships/notesMaster" Target="/ppt/notesMasters/notesMaster1.xml" Id="R1d70549bb9eb4a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ae78b07ae94c9e" /><Relationship Type="http://schemas.openxmlformats.org/officeDocument/2006/relationships/notesMaster" Target="/ppt/notesMasters/notesMaster1.xml" Id="Rb740fdcb5ac344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419c59a0d844e7" /><Relationship Type="http://schemas.openxmlformats.org/officeDocument/2006/relationships/notesMaster" Target="/ppt/notesMasters/notesMaster1.xml" Id="R418e75dd642f4f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398977fcad493b" /><Relationship Type="http://schemas.openxmlformats.org/officeDocument/2006/relationships/notesMaster" Target="/ppt/notesMasters/notesMaster1.xml" Id="R6e0a84b748dc40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City mark is a project visual generated with AI from the team-owned Foundation tree-and-roots identity; it is not presented as a photograph or official city mark. The slide intentionally avoids an AI-generated scenic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Sport &amp; Healthcare details. The brief describes fragmented health, activity and wellbeing information and asks for a clear user journey that makes an achievable next step easier. Local facility sources: Kraków municipal records, documented in the repository data-source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assumption for the pilot, based on user testing feedback in the project conversation: distant venues are unrealistic when a person has limited time. The 30–120 minute options and less-than-10-minute threshold are prototype product rules, not a clinical or transport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 source: Sport &amp; Healthcare details. The brief asks for a practical user journey, accessibility, motivation and a next step that is achievable. This slide shows the working pilot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sources: Kraków municipal services, Zarząd Zieleni Miejskiej, Zarząd Infrastruktury Sportowej and cited district/public records. See docs/DATA_SOURCES.md. The 14 count reflects the source-backed records currently displayed in the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behaviour from the working app. Walking and running can request pedestrian routing on demand. Public transport opens an external journey planner. Estimates are planning guidance, not live arrival promises or medical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handling: profiles and diary entries remain in browser memory by default. Device persistence is opt-in. A share link contains only entries selected by the person and creates no Active City server copy. The weekly prompt is a reflection aid, not a health assessment or clinical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Visitor reports and map suggestions are browser-only interaction prototypes. The project does not publish reports, change a marker, create accounts, collect evidence documents or verify a contributor. A live update service would need a named operator, privacy process, public-place/evidence rules, moderation, incident handling and trained reviewers. Volunteer and trainer flows remain separately bounded demos.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 are captured from the locally running React prototype. Map tiles are intentionally stubbed for this test capture; no external map, routing or geocoding request was sent. The screens demonstrate the actual interface,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 are captured from the locally running React prototype. The diary and contribution flows stay local to the browser in the current prototype. The contribution screen shows the safety boundary directly in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Sport &amp; Healthcare challenge brief and rules; Kraków municipal records; OpenStreetMap attribution; NHS instructional resources; WHO physical-activity guidance. AI asset disclosure: the Active City project mark is AI-generated from the team-owned Foundation tree-and-roots identity and is not an official city mark. See docs/DATA_SOURCES.md and docs/DEVELOPMENT_LOG.md for full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ea7cef083849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b12390e3064c31" /><Relationship Type="http://schemas.openxmlformats.org/officeDocument/2006/relationships/slideLayout" Target="/ppt/slideLayouts/slideLayout1.xml" Id="R7c32cc6b7dfa4b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32cc6b7dfa4b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d521959e3c401b" /><Relationship Type="http://schemas.openxmlformats.org/officeDocument/2006/relationships/image" Target="/ppt/media/image.png" Id="R9d8bdb078b324254" /><Relationship Type="http://schemas.openxmlformats.org/officeDocument/2006/relationships/notesSlide" Target="/ppt/notesSlides/notesSlide1.xml" Id="Rd57ebccb44a145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8958833b594c6d" /><Relationship Type="http://schemas.openxmlformats.org/officeDocument/2006/relationships/image" Target="/ppt/media/image2.png" Id="Rf256036aed144375" /><Relationship Type="http://schemas.openxmlformats.org/officeDocument/2006/relationships/notesSlide" Target="/ppt/notesSlides/notesSlide2.xml" Id="Rd11c30504aa34e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882e1782a949e8" /><Relationship Type="http://schemas.openxmlformats.org/officeDocument/2006/relationships/image" Target="/ppt/media/image3.png" Id="R7b5d18d541404077" /><Relationship Type="http://schemas.openxmlformats.org/officeDocument/2006/relationships/notesSlide" Target="/ppt/notesSlides/notesSlide3.xml" Id="Red18165e5f1b4e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f4b856cb584f69" /><Relationship Type="http://schemas.openxmlformats.org/officeDocument/2006/relationships/image" Target="/ppt/media/image4.png" Id="R93b9501cf476459a" /><Relationship Type="http://schemas.openxmlformats.org/officeDocument/2006/relationships/notesSlide" Target="/ppt/notesSlides/notesSlide4.xml" Id="R437f8d9bf2f54c6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b0dc88623245b4" /><Relationship Type="http://schemas.openxmlformats.org/officeDocument/2006/relationships/image" Target="/ppt/media/image5.png" Id="R3bbe482e7d2b4830" /><Relationship Type="http://schemas.openxmlformats.org/officeDocument/2006/relationships/notesSlide" Target="/ppt/notesSlides/notesSlide5.xml" Id="Rcddcf52113314c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fedb873b444583" /><Relationship Type="http://schemas.openxmlformats.org/officeDocument/2006/relationships/image" Target="/ppt/media/image6.png" Id="R060f649798604a5c" /><Relationship Type="http://schemas.openxmlformats.org/officeDocument/2006/relationships/notesSlide" Target="/ppt/notesSlides/notesSlide6.xml" Id="R751d6b371fd34e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932cf2c84c4f95" /><Relationship Type="http://schemas.openxmlformats.org/officeDocument/2006/relationships/image" Target="/ppt/media/image7.png" Id="R783840f9aeeb420a" /><Relationship Type="http://schemas.openxmlformats.org/officeDocument/2006/relationships/notesSlide" Target="/ppt/notesSlides/notesSlide7.xml" Id="Raf3452f1c72a48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16f21dda994e86" /><Relationship Type="http://schemas.openxmlformats.org/officeDocument/2006/relationships/image" Target="/ppt/media/image8.png" Id="R8856a73fb42b491b" /><Relationship Type="http://schemas.openxmlformats.org/officeDocument/2006/relationships/notesSlide" Target="/ppt/notesSlides/notesSlide8.xml" Id="R81ff26bc99704b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dd166aeed2418b" /><Relationship Type="http://schemas.openxmlformats.org/officeDocument/2006/relationships/image" Target="/ppt/media/image9.png" Id="R036ca4d330e341ca" /><Relationship Type="http://schemas.openxmlformats.org/officeDocument/2006/relationships/image" Target="/ppt/media/image10.png" Id="R6d0c6351dfb04124" /><Relationship Type="http://schemas.openxmlformats.org/officeDocument/2006/relationships/image" Target="/ppt/media/image11.png" Id="Rce7adbf3fa5c4e9b" /><Relationship Type="http://schemas.openxmlformats.org/officeDocument/2006/relationships/notesSlide" Target="/ppt/notesSlides/notesSlide9.xml" Id="R3e90df9656c945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b8b72df0c844d39" /><Relationship Type="http://schemas.openxmlformats.org/officeDocument/2006/relationships/image" Target="/ppt/media/image12.png" Id="R954689930a8a4185" /><Relationship Type="http://schemas.openxmlformats.org/officeDocument/2006/relationships/image" Target="/ppt/media/image13.png" Id="Rb3e9870713da4a1c" /><Relationship Type="http://schemas.openxmlformats.org/officeDocument/2006/relationships/image" Target="/ppt/media/image14.png" Id="R728b119f5a3449a9" /><Relationship Type="http://schemas.openxmlformats.org/officeDocument/2006/relationships/notesSlide" Target="/ppt/notesSlides/notesSlide10.xml" Id="R293319e647d24a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43a6e9cfd17410d" /><Relationship Type="http://schemas.openxmlformats.org/officeDocument/2006/relationships/image" Target="/ppt/media/image15.png" Id="Ra676534330074ffd" /><Relationship Type="http://schemas.openxmlformats.org/officeDocument/2006/relationships/notesSlide" Target="/ppt/notesSlides/notesSlide11.xml" Id="R50a0888bd69641f8" /></Relationships>
</file>

<file path=ppt/slides/slide1.xml><?xml version="1.0" encoding="utf-8"?>
<p:sld xmlns:p="http://schemas.openxmlformats.org/presentationml/2006/main">
  <p:cSld>
    <p:bg>
      <p:bgPr>
        <a:solidFill xmlns:a="http://schemas.openxmlformats.org/drawingml/2006/main">
          <a:srgbClr val="F4FA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853885-E981-413D-8F92-746E74600C19}"/>
              </a:ext>
            </a:extLst>
          </p:cNvPr>
          <p:cNvSpPr>
            <a:spLocks xmlns:a="http://schemas.openxmlformats.org/drawingml/2006/main" noGrp="1"/>
          </p:cNvSpPr>
          <p:nvPr/>
        </p:nvSpPr>
        <p:spPr>
          <a:xfrm xmlns:a="http://schemas.openxmlformats.org/drawingml/2006/main">
            <a:off x="0" y="0"/>
            <a:ext cx="12192000" cy="1524000"/>
          </a:xfrm>
          <a:prstGeom xmlns:a="http://schemas.openxmlformats.org/drawingml/2006/main" prst="rect">
            <a:avLst/>
          </a:prstGeom>
          <a:solidFill xmlns:a="http://schemas.openxmlformats.org/drawingml/2006/main">
            <a:srgbClr val="083F6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A334C0-0F64-499C-9E45-DD8E3274E309}"/>
              </a:ext>
            </a:extLst>
          </p:cNvPr>
          <p:cNvSpPr>
            <a:spLocks xmlns:a="http://schemas.openxmlformats.org/drawingml/2006/main" noGrp="1"/>
          </p:cNvSpPr>
          <p:nvPr/>
        </p:nvSpPr>
        <p:spPr>
          <a:xfrm xmlns:a="http://schemas.openxmlformats.org/drawingml/2006/main">
            <a:off x="7715250" y="1790700"/>
            <a:ext cx="3381375" cy="3381375"/>
          </a:xfrm>
          <a:prstGeom xmlns:a="http://schemas.openxmlformats.org/drawingml/2006/main" prst="ellipse">
            <a:avLst/>
          </a:prstGeom>
          <a:solidFill xmlns:a="http://schemas.openxmlformats.org/drawingml/2006/main">
            <a:srgbClr val="DFF1D5"/>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6A454D-8552-41F2-8C93-68690C9DB209}"/>
              </a:ext>
            </a:extLst>
          </p:cNvPr>
          <p:cNvSpPr>
            <a:spLocks xmlns:a="http://schemas.openxmlformats.org/drawingml/2006/main" noGrp="1"/>
          </p:cNvSpPr>
          <p:nvPr/>
        </p:nvSpPr>
        <p:spPr>
          <a:xfrm xmlns:a="http://schemas.openxmlformats.org/drawingml/2006/main">
            <a:off x="8172450" y="2247900"/>
            <a:ext cx="2466975" cy="2466975"/>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CF245F-800C-4345-93E9-C48F65A3D56F}"/>
              </a:ext>
            </a:extLst>
          </p:cNvPr>
          <p:cNvSpPr>
            <a:spLocks xmlns:a="http://schemas.openxmlformats.org/drawingml/2006/main" noGrp="1"/>
          </p:cNvSpPr>
          <p:nvPr/>
        </p:nvSpPr>
        <p:spPr>
          <a:xfrm xmlns:a="http://schemas.openxmlformats.org/drawingml/2006/main">
            <a:off x="0" y="5581650"/>
            <a:ext cx="12192000" cy="1276350"/>
          </a:xfrm>
          <a:prstGeom xmlns:a="http://schemas.openxmlformats.org/drawingml/2006/main" prst="rect">
            <a:avLst/>
          </a:prstGeom>
          <a:solidFill xmlns:a="http://schemas.openxmlformats.org/drawingml/2006/main">
            <a:srgbClr val="167D7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B502388-E2EC-40D4-8040-E6DD50A20E6F}"/>
              </a:ext>
            </a:extLst>
          </p:cNvPr>
          <p:cNvSpPr>
            <a:spLocks xmlns:a="http://schemas.openxmlformats.org/drawingml/2006/main" noGrp="1"/>
          </p:cNvSpPr>
          <p:nvPr/>
        </p:nvSpPr>
        <p:spPr>
          <a:xfrm xmlns:a="http://schemas.openxmlformats.org/drawingml/2006/main">
            <a:off x="704850" y="6286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DFF1D5"/>
                </a:solidFill>
                <a:latin typeface="Bitstream Charter"/>
                <a:ea typeface="Bitstream Charter"/>
                <a:cs typeface="Bitstream Charter"/>
              </a:defRPr>
            </a:pPr>
            <a:r>
              <a:rPr sz="900" b="1">
                <a:solidFill>
                  <a:srgbClr val="DFF1D5"/>
                </a:solidFill>
                <a:latin typeface="Bitstream Charter"/>
                <a:ea typeface="Bitstream Charter"/>
                <a:cs typeface="Bitstream Charter"/>
              </a:rPr>
              <a:t>HACKYEAH 2026 · SPORT &amp; HEALTHCARE</a:t>
            </a:r>
          </a:p>
        </p:txBody>
      </p:sp>
      <p:sp>
        <p:nvSpPr>
          <p:cNvPr id="6" name="">
            <a:extLst xmlns:a="http://schemas.openxmlformats.org/drawingml/2006/main">
              <a:ext uri="{FF2B5EF4-FFF2-40B4-BE49-F238E27FC236}">
                <a16:creationId xmlns:a16="http://schemas.microsoft.com/office/drawing/2014/main" id="{F89EE796-A6E1-423F-A6A0-68E1699AABA5}"/>
              </a:ext>
            </a:extLst>
          </p:cNvPr>
          <p:cNvSpPr>
            <a:spLocks xmlns:a="http://schemas.openxmlformats.org/drawingml/2006/main" noGrp="1"/>
          </p:cNvSpPr>
          <p:nvPr/>
        </p:nvSpPr>
        <p:spPr>
          <a:xfrm xmlns:a="http://schemas.openxmlformats.org/drawingml/2006/main">
            <a:off x="704850" y="2133600"/>
            <a:ext cx="628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4500" b="1">
                <a:solidFill>
                  <a:srgbClr val="083F69"/>
                </a:solidFill>
                <a:latin typeface="Bitstream Charter"/>
                <a:ea typeface="Bitstream Charter"/>
                <a:cs typeface="Bitstream Charter"/>
              </a:defRPr>
            </a:pPr>
            <a:r>
              <a:rPr sz="4500" b="1">
                <a:solidFill>
                  <a:srgbClr val="083F69"/>
                </a:solidFill>
                <a:latin typeface="Bitstream Charter"/>
                <a:ea typeface="Bitstream Charter"/>
                <a:cs typeface="Bitstream Charter"/>
              </a:rPr>
              <a:t>Active City</a:t>
            </a:r>
          </a:p>
        </p:txBody>
      </p:sp>
      <p:sp>
        <p:nvSpPr>
          <p:cNvPr id="7" name="">
            <a:extLst xmlns:a="http://schemas.openxmlformats.org/drawingml/2006/main">
              <a:ext uri="{FF2B5EF4-FFF2-40B4-BE49-F238E27FC236}">
                <a16:creationId xmlns:a16="http://schemas.microsoft.com/office/drawing/2014/main" id="{A55C10A4-AB25-442E-B021-B77B59F79421}"/>
              </a:ext>
            </a:extLst>
          </p:cNvPr>
          <p:cNvSpPr>
            <a:spLocks xmlns:a="http://schemas.openxmlformats.org/drawingml/2006/main" noGrp="1"/>
          </p:cNvSpPr>
          <p:nvPr/>
        </p:nvSpPr>
        <p:spPr>
          <a:xfrm xmlns:a="http://schemas.openxmlformats.org/drawingml/2006/main">
            <a:off x="742950" y="30099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4A9728"/>
                </a:solidFill>
                <a:latin typeface="Bitstream Charter"/>
                <a:ea typeface="Bitstream Charter"/>
                <a:cs typeface="Bitstream Charter"/>
              </a:defRPr>
            </a:pPr>
            <a:r>
              <a:rPr sz="1875" b="1">
                <a:solidFill>
                  <a:srgbClr val="4A9728"/>
                </a:solidFill>
                <a:latin typeface="Bitstream Charter"/>
                <a:ea typeface="Bitstream Charter"/>
                <a:cs typeface="Bitstream Charter"/>
              </a:rPr>
              <a:t>Kraków pilot</a:t>
            </a:r>
          </a:p>
        </p:txBody>
      </p:sp>
      <p:sp>
        <p:nvSpPr>
          <p:cNvPr id="8" name="">
            <a:extLst xmlns:a="http://schemas.openxmlformats.org/drawingml/2006/main">
              <a:ext uri="{FF2B5EF4-FFF2-40B4-BE49-F238E27FC236}">
                <a16:creationId xmlns:a16="http://schemas.microsoft.com/office/drawing/2014/main" id="{DA88A887-0FB9-4CA7-BA00-DD2F9B72133D}"/>
              </a:ext>
            </a:extLst>
          </p:cNvPr>
          <p:cNvSpPr>
            <a:spLocks xmlns:a="http://schemas.openxmlformats.org/drawingml/2006/main" noGrp="1"/>
          </p:cNvSpPr>
          <p:nvPr/>
        </p:nvSpPr>
        <p:spPr>
          <a:xfrm xmlns:a="http://schemas.openxmlformats.org/drawingml/2006/main">
            <a:off x="742950" y="3657600"/>
            <a:ext cx="5715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0">
                <a:solidFill>
                  <a:srgbClr val="143F50"/>
                </a:solidFill>
                <a:latin typeface="Bitstream Charter"/>
                <a:ea typeface="Bitstream Charter"/>
                <a:cs typeface="Bitstream Charter"/>
              </a:defRPr>
            </a:pPr>
            <a:r>
              <a:rPr sz="1725" b="0">
                <a:solidFill>
                  <a:srgbClr val="143F50"/>
                </a:solidFill>
                <a:latin typeface="Bitstream Charter"/>
                <a:ea typeface="Bitstream Charter"/>
                <a:cs typeface="Bitstream Charter"/>
              </a:rPr>
              <a:t>Make the most of a nearby public place, the time you have today, and the small things that help you come back tomorrow.</a:t>
            </a:r>
          </a:p>
        </p:txBody>
      </p:sp>
      <p:sp>
        <p:nvSpPr>
          <p:cNvPr id="9" name="">
            <a:extLst xmlns:a="http://schemas.openxmlformats.org/drawingml/2006/main">
              <a:ext uri="{FF2B5EF4-FFF2-40B4-BE49-F238E27FC236}">
                <a16:creationId xmlns:a16="http://schemas.microsoft.com/office/drawing/2014/main" id="{99371D1C-8257-477B-9EF0-9DBD09A7E6CC}"/>
              </a:ext>
            </a:extLst>
          </p:cNvPr>
          <p:cNvSpPr>
            <a:spLocks xmlns:a="http://schemas.openxmlformats.org/drawingml/2006/main" noGrp="1"/>
          </p:cNvSpPr>
          <p:nvPr/>
        </p:nvSpPr>
        <p:spPr>
          <a:xfrm xmlns:a="http://schemas.openxmlformats.org/drawingml/2006/main">
            <a:off x="742950" y="48006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1">
                <a:solidFill>
                  <a:srgbClr val="167D73"/>
                </a:solidFill>
                <a:latin typeface="Bitstream Charter"/>
                <a:ea typeface="Bitstream Charter"/>
                <a:cs typeface="Bitstream Charter"/>
              </a:defRPr>
            </a:pPr>
            <a:r>
              <a:rPr sz="1125" b="1">
                <a:solidFill>
                  <a:srgbClr val="167D73"/>
                </a:solidFill>
                <a:latin typeface="Bitstream Charter"/>
                <a:ea typeface="Bitstream Charter"/>
                <a:cs typeface="Bitstream Charter"/>
              </a:rPr>
              <a:t>14 documented public places · private wellbeing diary · review-ready map updates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d8bdb078b324254"/>
          <a:stretch xmlns:a="http://schemas.openxmlformats.org/drawingml/2006/main"/>
        </p:blipFill>
        <p:spPr>
          <a:xfrm xmlns:a="http://schemas.openxmlformats.org/drawingml/2006/main">
            <a:off x="8305800" y="2381250"/>
            <a:ext cx="2190750" cy="2190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CA5E3E7-C257-44C7-98E4-6E9D9E16A811}"/>
              </a:ext>
            </a:extLst>
          </p:cNvPr>
          <p:cNvSpPr>
            <a:spLocks xmlns:a="http://schemas.openxmlformats.org/drawingml/2006/main" noGrp="1"/>
          </p:cNvSpPr>
          <p:nvPr/>
        </p:nvSpPr>
        <p:spPr>
          <a:xfrm xmlns:a="http://schemas.openxmlformats.org/drawingml/2006/main">
            <a:off x="723900" y="60007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FFFFFF"/>
                </a:solidFill>
                <a:latin typeface="Bitstream Charter"/>
                <a:ea typeface="Bitstream Charter"/>
                <a:cs typeface="Bitstream Charter"/>
              </a:defRPr>
            </a:pPr>
            <a:r>
              <a:rPr sz="1200" b="1">
                <a:solidFill>
                  <a:srgbClr val="FFFFFF"/>
                </a:solidFill>
                <a:latin typeface="Bitstream Charter"/>
                <a:ea typeface="Bitstream Charter"/>
                <a:cs typeface="Bitstream Charter"/>
              </a:rPr>
              <a:t>Fundacja Życie, Razem</a:t>
            </a:r>
          </a:p>
        </p:txBody>
      </p:sp>
      <p:sp>
        <p:nvSpPr>
          <p:cNvPr id="12" name="">
            <a:extLst xmlns:a="http://schemas.openxmlformats.org/drawingml/2006/main">
              <a:ext uri="{FF2B5EF4-FFF2-40B4-BE49-F238E27FC236}">
                <a16:creationId xmlns:a16="http://schemas.microsoft.com/office/drawing/2014/main" id="{6F733480-8B18-41CC-8371-C87A4AC639C7}"/>
              </a:ext>
            </a:extLst>
          </p:cNvPr>
          <p:cNvSpPr>
            <a:spLocks xmlns:a="http://schemas.openxmlformats.org/drawingml/2006/main" noGrp="1"/>
          </p:cNvSpPr>
          <p:nvPr/>
        </p:nvSpPr>
        <p:spPr>
          <a:xfrm xmlns:a="http://schemas.openxmlformats.org/drawingml/2006/main">
            <a:off x="9906000" y="60007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75" b="1">
                <a:solidFill>
                  <a:srgbClr val="DFF1D5"/>
                </a:solidFill>
                <a:latin typeface="Bitstream Charter"/>
                <a:ea typeface="Bitstream Charter"/>
                <a:cs typeface="Bitstream Charter"/>
              </a:defRPr>
            </a:pPr>
            <a:r>
              <a:rPr sz="975" b="1">
                <a:solidFill>
                  <a:srgbClr val="DFF1D5"/>
                </a:solidFill>
                <a:latin typeface="Bitstream Charter"/>
                <a:ea typeface="Bitstream Charter"/>
                <a:cs typeface="Bitstream Charter"/>
              </a:rPr>
              <a:t>KRAKÓW</a:t>
            </a:r>
          </a:p>
        </p:txBody>
      </p:sp>
    </p:spTree>
    <p:extLst>
      <p:ext uri="{BB962C8B-B14F-4D97-AF65-F5344CB8AC3E}">
        <p14:creationId xmlns:p14="http://schemas.microsoft.com/office/powerpoint/2010/main" val="190336542"/>
      </p:ext>
    </p:extLst>
  </p:cSld>
</p:sld>
</file>

<file path=ppt/slides/slide2.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2FBA212-FD87-48BD-AE42-9BB2AE7252E4}"/>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Getting active should not start with a search puzzle</a:t>
            </a:r>
          </a:p>
        </p:txBody>
      </p:sp>
      <p:sp>
        <p:nvSpPr>
          <p:cNvPr id="2" name="">
            <a:extLst xmlns:a="http://schemas.openxmlformats.org/drawingml/2006/main">
              <a:ext uri="{FF2B5EF4-FFF2-40B4-BE49-F238E27FC236}">
                <a16:creationId xmlns:a16="http://schemas.microsoft.com/office/drawing/2014/main" id="{AB936AA2-0A81-42CC-9FF9-8F3AD2EFDBA7}"/>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Public recreation information is scattered across municipal pages, maps and signs on site.</a:t>
            </a:r>
          </a:p>
        </p:txBody>
      </p:sp>
      <p:sp>
        <p:nvSpPr>
          <p:cNvPr id="3" name="">
            <a:extLst xmlns:a="http://schemas.openxmlformats.org/drawingml/2006/main">
              <a:ext uri="{FF2B5EF4-FFF2-40B4-BE49-F238E27FC236}">
                <a16:creationId xmlns:a16="http://schemas.microsoft.com/office/drawing/2014/main" id="{00A93E8E-7FB9-402F-9F66-7F1060419FAE}"/>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256036aed144375"/>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FC6CD6B-CED5-48C5-943D-325B6822C7A6}"/>
              </a:ext>
            </a:extLst>
          </p:cNvPr>
          <p:cNvSpPr>
            <a:spLocks xmlns:a="http://schemas.openxmlformats.org/drawingml/2006/main" noGrp="1"/>
          </p:cNvSpPr>
          <p:nvPr/>
        </p:nvSpPr>
        <p:spPr>
          <a:xfrm xmlns:a="http://schemas.openxmlformats.org/drawingml/2006/main">
            <a:off x="723900" y="2133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A RESIDENT HAS TO WORK OUT</a:t>
            </a:r>
          </a:p>
        </p:txBody>
      </p:sp>
      <p:sp>
        <p:nvSpPr>
          <p:cNvPr id="6" name="">
            <a:extLst xmlns:a="http://schemas.openxmlformats.org/drawingml/2006/main">
              <a:ext uri="{FF2B5EF4-FFF2-40B4-BE49-F238E27FC236}">
                <a16:creationId xmlns:a16="http://schemas.microsoft.com/office/drawing/2014/main" id="{07981808-FE05-4287-8556-5BD2D3CBA6BB}"/>
              </a:ext>
            </a:extLst>
          </p:cNvPr>
          <p:cNvSpPr>
            <a:spLocks xmlns:a="http://schemas.openxmlformats.org/drawingml/2006/main" noGrp="1"/>
          </p:cNvSpPr>
          <p:nvPr/>
        </p:nvSpPr>
        <p:spPr>
          <a:xfrm xmlns:a="http://schemas.openxmlformats.org/drawingml/2006/main">
            <a:off x="781050" y="2628900"/>
            <a:ext cx="342900" cy="342900"/>
          </a:xfrm>
          <a:prstGeom xmlns:a="http://schemas.openxmlformats.org/drawingml/2006/main" prst="ellipse">
            <a:avLst/>
          </a:prstGeom>
          <a:solidFill xmlns:a="http://schemas.openxmlformats.org/drawingml/2006/main">
            <a:srgbClr val="1599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440361C-441C-4A9F-9468-983D6D966EB3}"/>
              </a:ext>
            </a:extLst>
          </p:cNvPr>
          <p:cNvSpPr>
            <a:spLocks xmlns:a="http://schemas.openxmlformats.org/drawingml/2006/main" noGrp="1"/>
          </p:cNvSpPr>
          <p:nvPr/>
        </p:nvSpPr>
        <p:spPr>
          <a:xfrm xmlns:a="http://schemas.openxmlformats.org/drawingml/2006/main">
            <a:off x="876300" y="2705100"/>
            <a:ext cx="171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1</a:t>
            </a:r>
          </a:p>
        </p:txBody>
      </p:sp>
      <p:sp>
        <p:nvSpPr>
          <p:cNvPr id="8" name="">
            <a:extLst xmlns:a="http://schemas.openxmlformats.org/drawingml/2006/main">
              <a:ext uri="{FF2B5EF4-FFF2-40B4-BE49-F238E27FC236}">
                <a16:creationId xmlns:a16="http://schemas.microsoft.com/office/drawing/2014/main" id="{8256E4A8-CA1E-449D-BBFE-52C1F34F129A}"/>
              </a:ext>
            </a:extLst>
          </p:cNvPr>
          <p:cNvSpPr>
            <a:spLocks xmlns:a="http://schemas.openxmlformats.org/drawingml/2006/main" noGrp="1"/>
          </p:cNvSpPr>
          <p:nvPr/>
        </p:nvSpPr>
        <p:spPr>
          <a:xfrm xmlns:a="http://schemas.openxmlformats.org/drawingml/2006/main">
            <a:off x="1352550" y="25717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Is there somewhere nearby?</a:t>
            </a:r>
          </a:p>
        </p:txBody>
      </p:sp>
      <p:sp>
        <p:nvSpPr>
          <p:cNvPr id="9" name="">
            <a:extLst xmlns:a="http://schemas.openxmlformats.org/drawingml/2006/main">
              <a:ext uri="{FF2B5EF4-FFF2-40B4-BE49-F238E27FC236}">
                <a16:creationId xmlns:a16="http://schemas.microsoft.com/office/drawing/2014/main" id="{DF7CBBCF-9463-4EF5-81AA-326A8ACAAAA3}"/>
              </a:ext>
            </a:extLst>
          </p:cNvPr>
          <p:cNvSpPr>
            <a:spLocks xmlns:a="http://schemas.openxmlformats.org/drawingml/2006/main" noGrp="1"/>
          </p:cNvSpPr>
          <p:nvPr/>
        </p:nvSpPr>
        <p:spPr>
          <a:xfrm xmlns:a="http://schemas.openxmlformats.org/drawingml/2006/main">
            <a:off x="781050" y="3448050"/>
            <a:ext cx="342900" cy="342900"/>
          </a:xfrm>
          <a:prstGeom xmlns:a="http://schemas.openxmlformats.org/drawingml/2006/main" prst="ellipse">
            <a:avLst/>
          </a:prstGeom>
          <a:solidFill xmlns:a="http://schemas.openxmlformats.org/drawingml/2006/main">
            <a:srgbClr val="167D7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61E13E-1A96-477F-8D60-CA1F8035C7AA}"/>
              </a:ext>
            </a:extLst>
          </p:cNvPr>
          <p:cNvSpPr>
            <a:spLocks xmlns:a="http://schemas.openxmlformats.org/drawingml/2006/main" noGrp="1"/>
          </p:cNvSpPr>
          <p:nvPr/>
        </p:nvSpPr>
        <p:spPr>
          <a:xfrm xmlns:a="http://schemas.openxmlformats.org/drawingml/2006/main">
            <a:off x="876300" y="3524250"/>
            <a:ext cx="171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2</a:t>
            </a:r>
          </a:p>
        </p:txBody>
      </p:sp>
      <p:sp>
        <p:nvSpPr>
          <p:cNvPr id="11" name="">
            <a:extLst xmlns:a="http://schemas.openxmlformats.org/drawingml/2006/main">
              <a:ext uri="{FF2B5EF4-FFF2-40B4-BE49-F238E27FC236}">
                <a16:creationId xmlns:a16="http://schemas.microsoft.com/office/drawing/2014/main" id="{60397E47-A276-402E-BC69-34233605030D}"/>
              </a:ext>
            </a:extLst>
          </p:cNvPr>
          <p:cNvSpPr>
            <a:spLocks xmlns:a="http://schemas.openxmlformats.org/drawingml/2006/main" noGrp="1"/>
          </p:cNvSpPr>
          <p:nvPr/>
        </p:nvSpPr>
        <p:spPr>
          <a:xfrm xmlns:a="http://schemas.openxmlformats.org/drawingml/2006/main">
            <a:off x="1352550" y="339090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What can I actually do there?</a:t>
            </a:r>
          </a:p>
        </p:txBody>
      </p:sp>
      <p:sp>
        <p:nvSpPr>
          <p:cNvPr id="12" name="">
            <a:extLst xmlns:a="http://schemas.openxmlformats.org/drawingml/2006/main">
              <a:ext uri="{FF2B5EF4-FFF2-40B4-BE49-F238E27FC236}">
                <a16:creationId xmlns:a16="http://schemas.microsoft.com/office/drawing/2014/main" id="{67A7FB92-3FB1-44FC-A8B1-E5713B3AEB7D}"/>
              </a:ext>
            </a:extLst>
          </p:cNvPr>
          <p:cNvSpPr>
            <a:spLocks xmlns:a="http://schemas.openxmlformats.org/drawingml/2006/main" noGrp="1"/>
          </p:cNvSpPr>
          <p:nvPr/>
        </p:nvSpPr>
        <p:spPr>
          <a:xfrm xmlns:a="http://schemas.openxmlformats.org/drawingml/2006/main">
            <a:off x="781050" y="4267200"/>
            <a:ext cx="342900" cy="342900"/>
          </a:xfrm>
          <a:prstGeom xmlns:a="http://schemas.openxmlformats.org/drawingml/2006/main" prst="ellipse">
            <a:avLst/>
          </a:prstGeom>
          <a:solidFill xmlns:a="http://schemas.openxmlformats.org/drawingml/2006/main">
            <a:srgbClr val="4A97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A88CDFC-0DFA-4399-A358-C4B9BF7FE6E8}"/>
              </a:ext>
            </a:extLst>
          </p:cNvPr>
          <p:cNvSpPr>
            <a:spLocks xmlns:a="http://schemas.openxmlformats.org/drawingml/2006/main" noGrp="1"/>
          </p:cNvSpPr>
          <p:nvPr/>
        </p:nvSpPr>
        <p:spPr>
          <a:xfrm xmlns:a="http://schemas.openxmlformats.org/drawingml/2006/main">
            <a:off x="876300" y="4343400"/>
            <a:ext cx="171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3</a:t>
            </a:r>
          </a:p>
        </p:txBody>
      </p:sp>
      <p:sp>
        <p:nvSpPr>
          <p:cNvPr id="14" name="">
            <a:extLst xmlns:a="http://schemas.openxmlformats.org/drawingml/2006/main">
              <a:ext uri="{FF2B5EF4-FFF2-40B4-BE49-F238E27FC236}">
                <a16:creationId xmlns:a16="http://schemas.microsoft.com/office/drawing/2014/main" id="{856C66F5-868B-4FF4-A08E-93F4FBD34089}"/>
              </a:ext>
            </a:extLst>
          </p:cNvPr>
          <p:cNvSpPr>
            <a:spLocks xmlns:a="http://schemas.openxmlformats.org/drawingml/2006/main" noGrp="1"/>
          </p:cNvSpPr>
          <p:nvPr/>
        </p:nvSpPr>
        <p:spPr>
          <a:xfrm xmlns:a="http://schemas.openxmlformats.org/drawingml/2006/main">
            <a:off x="1352550" y="42100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Will the journey leave time to move?</a:t>
            </a:r>
          </a:p>
        </p:txBody>
      </p:sp>
      <p:sp>
        <p:nvSpPr>
          <p:cNvPr id="15" name="">
            <a:extLst xmlns:a="http://schemas.openxmlformats.org/drawingml/2006/main">
              <a:ext uri="{FF2B5EF4-FFF2-40B4-BE49-F238E27FC236}">
                <a16:creationId xmlns:a16="http://schemas.microsoft.com/office/drawing/2014/main" id="{96B894FE-0464-4398-84CE-8FC392C85636}"/>
              </a:ext>
            </a:extLst>
          </p:cNvPr>
          <p:cNvSpPr>
            <a:spLocks xmlns:a="http://schemas.openxmlformats.org/drawingml/2006/main" noGrp="1"/>
          </p:cNvSpPr>
          <p:nvPr/>
        </p:nvSpPr>
        <p:spPr>
          <a:xfrm xmlns:a="http://schemas.openxmlformats.org/drawingml/2006/main">
            <a:off x="6457950" y="2114550"/>
            <a:ext cx="4210050" cy="2876550"/>
          </a:xfrm>
          <a:prstGeom xmlns:a="http://schemas.openxmlformats.org/drawingml/2006/main" prst="rect">
            <a:avLst/>
          </a:prstGeom>
          <a:solidFill xmlns:a="http://schemas.openxmlformats.org/drawingml/2006/main">
            <a:srgbClr val="F3FBFF"/>
          </a:solidFill>
          <a:ln xmlns:a="http://schemas.openxmlformats.org/drawingml/2006/main" w="9525">
            <a:solidFill>
              <a:srgbClr val="BFDBE2"/>
            </a:solidFill>
          </a:ln>
        </p:spPr>
      </p:sp>
      <p:sp>
        <p:nvSpPr>
          <p:cNvPr id="16" name="">
            <a:extLst xmlns:a="http://schemas.openxmlformats.org/drawingml/2006/main">
              <a:ext uri="{FF2B5EF4-FFF2-40B4-BE49-F238E27FC236}">
                <a16:creationId xmlns:a16="http://schemas.microsoft.com/office/drawing/2014/main" id="{5848B558-BB72-4D0E-9AAE-9C8D01CE2CD6}"/>
              </a:ext>
            </a:extLst>
          </p:cNvPr>
          <p:cNvSpPr>
            <a:spLocks xmlns:a="http://schemas.openxmlformats.org/drawingml/2006/main" noGrp="1"/>
          </p:cNvSpPr>
          <p:nvPr/>
        </p:nvSpPr>
        <p:spPr>
          <a:xfrm xmlns:a="http://schemas.openxmlformats.org/drawingml/2006/main">
            <a:off x="6838950" y="24574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THE MISSING CONNECTION</a:t>
            </a:r>
          </a:p>
        </p:txBody>
      </p:sp>
      <p:sp>
        <p:nvSpPr>
          <p:cNvPr id="17" name="">
            <a:extLst xmlns:a="http://schemas.openxmlformats.org/drawingml/2006/main">
              <a:ext uri="{FF2B5EF4-FFF2-40B4-BE49-F238E27FC236}">
                <a16:creationId xmlns:a16="http://schemas.microsoft.com/office/drawing/2014/main" id="{860F0A23-FC22-4F9F-8F7A-CD6EAC99C989}"/>
              </a:ext>
            </a:extLst>
          </p:cNvPr>
          <p:cNvSpPr>
            <a:spLocks xmlns:a="http://schemas.openxmlformats.org/drawingml/2006/main" noGrp="1"/>
          </p:cNvSpPr>
          <p:nvPr/>
        </p:nvSpPr>
        <p:spPr>
          <a:xfrm xmlns:a="http://schemas.openxmlformats.org/drawingml/2006/main">
            <a:off x="6838950" y="2857500"/>
            <a:ext cx="32004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143F50"/>
                </a:solidFill>
                <a:latin typeface="Bitstream Charter"/>
                <a:ea typeface="Bitstream Charter"/>
                <a:cs typeface="Bitstream Charter"/>
              </a:defRPr>
            </a:pPr>
            <a:r>
              <a:rPr sz="1725" b="1">
                <a:solidFill>
                  <a:srgbClr val="143F50"/>
                </a:solidFill>
                <a:latin typeface="Bitstream Charter"/>
                <a:ea typeface="Bitstream Charter"/>
                <a:cs typeface="Bitstream Charter"/>
              </a:rPr>
              <a:t>A 45-minute window should lead to one realistic public place to move, without handing over health information.</a:t>
            </a:r>
          </a:p>
        </p:txBody>
      </p:sp>
      <p:sp>
        <p:nvSpPr>
          <p:cNvPr id="18" name="">
            <a:extLst xmlns:a="http://schemas.openxmlformats.org/drawingml/2006/main">
              <a:ext uri="{FF2B5EF4-FFF2-40B4-BE49-F238E27FC236}">
                <a16:creationId xmlns:a16="http://schemas.microsoft.com/office/drawing/2014/main" id="{C02ADB22-2F4E-4507-BF78-6C0A15239A1B}"/>
              </a:ext>
            </a:extLst>
          </p:cNvPr>
          <p:cNvSpPr>
            <a:spLocks xmlns:a="http://schemas.openxmlformats.org/drawingml/2006/main" noGrp="1"/>
          </p:cNvSpPr>
          <p:nvPr/>
        </p:nvSpPr>
        <p:spPr>
          <a:xfrm xmlns:a="http://schemas.openxmlformats.org/drawingml/2006/main">
            <a:off x="6838950" y="4362450"/>
            <a:ext cx="314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Active City brings the practical choices together and shows its data limits clearly.</a:t>
            </a:r>
          </a:p>
        </p:txBody>
      </p:sp>
      <p:sp>
        <p:nvSpPr>
          <p:cNvPr id="19" name="">
            <a:extLst xmlns:a="http://schemas.openxmlformats.org/drawingml/2006/main">
              <a:ext uri="{FF2B5EF4-FFF2-40B4-BE49-F238E27FC236}">
                <a16:creationId xmlns:a16="http://schemas.microsoft.com/office/drawing/2014/main" id="{4920FD9B-B274-481B-BCCB-E58F58B30AEF}"/>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20" name="">
            <a:extLst xmlns:a="http://schemas.openxmlformats.org/drawingml/2006/main">
              <a:ext uri="{FF2B5EF4-FFF2-40B4-BE49-F238E27FC236}">
                <a16:creationId xmlns:a16="http://schemas.microsoft.com/office/drawing/2014/main" id="{2BA45431-7F1B-4F9A-9820-D58A26536D3C}"/>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1" name="">
            <a:extLst xmlns:a="http://schemas.openxmlformats.org/drawingml/2006/main">
              <a:ext uri="{FF2B5EF4-FFF2-40B4-BE49-F238E27FC236}">
                <a16:creationId xmlns:a16="http://schemas.microsoft.com/office/drawing/2014/main" id="{702A247E-9E58-4D60-B443-F20071D1B11C}"/>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02</a:t>
            </a:r>
          </a:p>
        </p:txBody>
      </p:sp>
    </p:spTree>
    <p:extLst>
      <p:ext uri="{BB962C8B-B14F-4D97-AF65-F5344CB8AC3E}">
        <p14:creationId xmlns:p14="http://schemas.microsoft.com/office/powerpoint/2010/main" val="175587185"/>
      </p:ext>
    </p:extLst>
  </p:cSld>
</p:sld>
</file>

<file path=ppt/slides/slide3.xml><?xml version="1.0" encoding="utf-8"?>
<p:sld xmlns:p="http://schemas.openxmlformats.org/presentationml/2006/main">
  <p:cSld>
    <p:bg>
      <p:bgPr>
        <a:solidFill xmlns:a="http://schemas.openxmlformats.org/drawingml/2006/main">
          <a:srgbClr val="EE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D54E57B-C123-4A34-BE1E-48A32443B323}"/>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The primary user</a:t>
            </a:r>
          </a:p>
        </p:txBody>
      </p:sp>
      <p:sp>
        <p:nvSpPr>
          <p:cNvPr id="2" name="">
            <a:extLst xmlns:a="http://schemas.openxmlformats.org/drawingml/2006/main">
              <a:ext uri="{FF2B5EF4-FFF2-40B4-BE49-F238E27FC236}">
                <a16:creationId xmlns:a16="http://schemas.microsoft.com/office/drawing/2014/main" id="{1E5F8D60-4F6C-4A41-9FB7-3B2CC3945945}"/>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Kraków residents who want to move more but have limited time, confidence or knowledge of local public facilities.</a:t>
            </a:r>
          </a:p>
        </p:txBody>
      </p:sp>
      <p:sp>
        <p:nvSpPr>
          <p:cNvPr id="3" name="">
            <a:extLst xmlns:a="http://schemas.openxmlformats.org/drawingml/2006/main">
              <a:ext uri="{FF2B5EF4-FFF2-40B4-BE49-F238E27FC236}">
                <a16:creationId xmlns:a16="http://schemas.microsoft.com/office/drawing/2014/main" id="{F508FC12-3F0D-4367-A9DD-97F99132FB90}"/>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b5d18d541404077"/>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88CC10-3C10-4447-8650-53296DBF1A1D}"/>
              </a:ext>
            </a:extLst>
          </p:cNvPr>
          <p:cNvSpPr>
            <a:spLocks xmlns:a="http://schemas.openxmlformats.org/drawingml/2006/main" noGrp="1"/>
          </p:cNvSpPr>
          <p:nvPr/>
        </p:nvSpPr>
        <p:spPr>
          <a:xfrm xmlns:a="http://schemas.openxmlformats.org/drawingml/2006/main">
            <a:off x="723900" y="2133600"/>
            <a:ext cx="4114800" cy="29527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sp>
        <p:nvSpPr>
          <p:cNvPr id="6" name="">
            <a:extLst xmlns:a="http://schemas.openxmlformats.org/drawingml/2006/main">
              <a:ext uri="{FF2B5EF4-FFF2-40B4-BE49-F238E27FC236}">
                <a16:creationId xmlns:a16="http://schemas.microsoft.com/office/drawing/2014/main" id="{8C556BA6-83D9-44AE-8C23-07C3B7A7C6AF}"/>
              </a:ext>
            </a:extLst>
          </p:cNvPr>
          <p:cNvSpPr>
            <a:spLocks xmlns:a="http://schemas.openxmlformats.org/drawingml/2006/main" noGrp="1"/>
          </p:cNvSpPr>
          <p:nvPr/>
        </p:nvSpPr>
        <p:spPr>
          <a:xfrm xmlns:a="http://schemas.openxmlformats.org/drawingml/2006/main">
            <a:off x="1028700" y="24765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A TYPICAL MOMENT</a:t>
            </a:r>
          </a:p>
        </p:txBody>
      </p:sp>
      <p:sp>
        <p:nvSpPr>
          <p:cNvPr id="7" name="">
            <a:extLst xmlns:a="http://schemas.openxmlformats.org/drawingml/2006/main">
              <a:ext uri="{FF2B5EF4-FFF2-40B4-BE49-F238E27FC236}">
                <a16:creationId xmlns:a16="http://schemas.microsoft.com/office/drawing/2014/main" id="{8786E445-44BE-45F9-A146-076B5CFBD431}"/>
              </a:ext>
            </a:extLst>
          </p:cNvPr>
          <p:cNvSpPr>
            <a:spLocks xmlns:a="http://schemas.openxmlformats.org/drawingml/2006/main" noGrp="1"/>
          </p:cNvSpPr>
          <p:nvPr/>
        </p:nvSpPr>
        <p:spPr>
          <a:xfrm xmlns:a="http://schemas.openxmlformats.org/drawingml/2006/main">
            <a:off x="1028700" y="2914650"/>
            <a:ext cx="32004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143F50"/>
                </a:solidFill>
                <a:latin typeface="Bitstream Charter"/>
                <a:ea typeface="Bitstream Charter"/>
                <a:cs typeface="Bitstream Charter"/>
              </a:defRPr>
            </a:pPr>
            <a:r>
              <a:rPr sz="1800" b="1">
                <a:solidFill>
                  <a:srgbClr val="143F50"/>
                </a:solidFill>
                <a:latin typeface="Bitstream Charter"/>
                <a:ea typeface="Bitstream Charter"/>
                <a:cs typeface="Bitstream Charter"/>
              </a:rPr>
              <a:t>“I have an hour after work. I want to do something useful, but I do not know whether the place I found is worth the journey.”</a:t>
            </a:r>
          </a:p>
        </p:txBody>
      </p:sp>
      <p:sp>
        <p:nvSpPr>
          <p:cNvPr id="8" name="">
            <a:extLst xmlns:a="http://schemas.openxmlformats.org/drawingml/2006/main">
              <a:ext uri="{FF2B5EF4-FFF2-40B4-BE49-F238E27FC236}">
                <a16:creationId xmlns:a16="http://schemas.microsoft.com/office/drawing/2014/main" id="{B302291C-AC3B-4475-A253-2AD9A4E91457}"/>
              </a:ext>
            </a:extLst>
          </p:cNvPr>
          <p:cNvSpPr>
            <a:spLocks xmlns:a="http://schemas.openxmlformats.org/drawingml/2006/main" noGrp="1"/>
          </p:cNvSpPr>
          <p:nvPr/>
        </p:nvSpPr>
        <p:spPr>
          <a:xfrm xmlns:a="http://schemas.openxmlformats.org/drawingml/2006/main">
            <a:off x="1028700" y="4533900"/>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The decision is practical before it becomes motivational.</a:t>
            </a:r>
          </a:p>
        </p:txBody>
      </p:sp>
      <p:sp>
        <p:nvSpPr>
          <p:cNvPr id="9" name="">
            <a:extLst xmlns:a="http://schemas.openxmlformats.org/drawingml/2006/main">
              <a:ext uri="{FF2B5EF4-FFF2-40B4-BE49-F238E27FC236}">
                <a16:creationId xmlns:a16="http://schemas.microsoft.com/office/drawing/2014/main" id="{4503D89B-2770-4548-A47B-1ED3CC425898}"/>
              </a:ext>
            </a:extLst>
          </p:cNvPr>
          <p:cNvSpPr>
            <a:spLocks xmlns:a="http://schemas.openxmlformats.org/drawingml/2006/main" noGrp="1"/>
          </p:cNvSpPr>
          <p:nvPr/>
        </p:nvSpPr>
        <p:spPr>
          <a:xfrm xmlns:a="http://schemas.openxmlformats.org/drawingml/2006/main">
            <a:off x="6000750" y="23241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083F69"/>
                </a:solidFill>
                <a:latin typeface="Bitstream Charter"/>
                <a:ea typeface="Bitstream Charter"/>
                <a:cs typeface="Bitstream Charter"/>
              </a:defRPr>
            </a:pPr>
            <a:r>
              <a:rPr sz="3600" b="1">
                <a:solidFill>
                  <a:srgbClr val="083F69"/>
                </a:solidFill>
                <a:latin typeface="Bitstream Charter"/>
                <a:ea typeface="Bitstream Charter"/>
                <a:cs typeface="Bitstream Charter"/>
              </a:rPr>
              <a:t>30–120</a:t>
            </a:r>
          </a:p>
        </p:txBody>
      </p:sp>
      <p:sp>
        <p:nvSpPr>
          <p:cNvPr id="10" name="">
            <a:extLst xmlns:a="http://schemas.openxmlformats.org/drawingml/2006/main">
              <a:ext uri="{FF2B5EF4-FFF2-40B4-BE49-F238E27FC236}">
                <a16:creationId xmlns:a16="http://schemas.microsoft.com/office/drawing/2014/main" id="{78C1CB92-091F-4CBA-8F00-9B2D50EFABA7}"/>
              </a:ext>
            </a:extLst>
          </p:cNvPr>
          <p:cNvSpPr>
            <a:spLocks xmlns:a="http://schemas.openxmlformats.org/drawingml/2006/main" noGrp="1"/>
          </p:cNvSpPr>
          <p:nvPr/>
        </p:nvSpPr>
        <p:spPr>
          <a:xfrm xmlns:a="http://schemas.openxmlformats.org/drawingml/2006/main">
            <a:off x="6000750" y="29718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minutes available in Today’s Plan</a:t>
            </a:r>
          </a:p>
        </p:txBody>
      </p:sp>
      <p:sp>
        <p:nvSpPr>
          <p:cNvPr id="11" name="">
            <a:extLst xmlns:a="http://schemas.openxmlformats.org/drawingml/2006/main">
              <a:ext uri="{FF2B5EF4-FFF2-40B4-BE49-F238E27FC236}">
                <a16:creationId xmlns:a16="http://schemas.microsoft.com/office/drawing/2014/main" id="{5D2EE004-5882-4B44-B589-4A2E387081D4}"/>
              </a:ext>
            </a:extLst>
          </p:cNvPr>
          <p:cNvSpPr>
            <a:spLocks xmlns:a="http://schemas.openxmlformats.org/drawingml/2006/main" noGrp="1"/>
          </p:cNvSpPr>
          <p:nvPr/>
        </p:nvSpPr>
        <p:spPr>
          <a:xfrm xmlns:a="http://schemas.openxmlformats.org/drawingml/2006/main">
            <a:off x="8667750" y="23241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F4A928"/>
                </a:solidFill>
                <a:latin typeface="Bitstream Charter"/>
                <a:ea typeface="Bitstream Charter"/>
                <a:cs typeface="Bitstream Charter"/>
              </a:defRPr>
            </a:pPr>
            <a:r>
              <a:rPr sz="3600" b="1">
                <a:solidFill>
                  <a:srgbClr val="F4A928"/>
                </a:solidFill>
                <a:latin typeface="Bitstream Charter"/>
                <a:ea typeface="Bitstream Charter"/>
                <a:cs typeface="Bitstream Charter"/>
              </a:rPr>
              <a:t>&lt; 10</a:t>
            </a:r>
          </a:p>
        </p:txBody>
      </p:sp>
      <p:sp>
        <p:nvSpPr>
          <p:cNvPr id="12" name="">
            <a:extLst xmlns:a="http://schemas.openxmlformats.org/drawingml/2006/main">
              <a:ext uri="{FF2B5EF4-FFF2-40B4-BE49-F238E27FC236}">
                <a16:creationId xmlns:a16="http://schemas.microsoft.com/office/drawing/2014/main" id="{A8A0F5F2-E269-4AED-9FF3-1F7737A21E86}"/>
              </a:ext>
            </a:extLst>
          </p:cNvPr>
          <p:cNvSpPr>
            <a:spLocks xmlns:a="http://schemas.openxmlformats.org/drawingml/2006/main" noGrp="1"/>
          </p:cNvSpPr>
          <p:nvPr/>
        </p:nvSpPr>
        <p:spPr>
          <a:xfrm xmlns:a="http://schemas.openxmlformats.org/drawingml/2006/main">
            <a:off x="8667750" y="29718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minutes left triggers a closer-place suggestion</a:t>
            </a:r>
          </a:p>
        </p:txBody>
      </p:sp>
      <p:sp>
        <p:nvSpPr>
          <p:cNvPr id="13" name="">
            <a:extLst xmlns:a="http://schemas.openxmlformats.org/drawingml/2006/main">
              <a:ext uri="{FF2B5EF4-FFF2-40B4-BE49-F238E27FC236}">
                <a16:creationId xmlns:a16="http://schemas.microsoft.com/office/drawing/2014/main" id="{003CE946-A298-4F61-A563-56A5A9DD241D}"/>
              </a:ext>
            </a:extLst>
          </p:cNvPr>
          <p:cNvSpPr>
            <a:spLocks xmlns:a="http://schemas.openxmlformats.org/drawingml/2006/main" noGrp="1"/>
          </p:cNvSpPr>
          <p:nvPr/>
        </p:nvSpPr>
        <p:spPr>
          <a:xfrm xmlns:a="http://schemas.openxmlformats.org/drawingml/2006/main">
            <a:off x="6057900" y="3952875"/>
            <a:ext cx="4248150" cy="0"/>
          </a:xfrm>
          <a:prstGeom xmlns:a="http://schemas.openxmlformats.org/drawingml/2006/main" prst="line">
            <a:avLst/>
          </a:prstGeom>
          <a:noFill xmlns:a="http://schemas.openxmlformats.org/drawingml/2006/main"/>
          <a:ln xmlns:a="http://schemas.openxmlformats.org/drawingml/2006/main" w="28575">
            <a:solidFill>
              <a:srgbClr val="9ECFD9"/>
            </a:solidFill>
          </a:ln>
        </p:spPr>
      </p:sp>
      <p:sp>
        <p:nvSpPr>
          <p:cNvPr id="14" name="">
            <a:extLst xmlns:a="http://schemas.openxmlformats.org/drawingml/2006/main">
              <a:ext uri="{FF2B5EF4-FFF2-40B4-BE49-F238E27FC236}">
                <a16:creationId xmlns:a16="http://schemas.microsoft.com/office/drawing/2014/main" id="{BBD7EB09-5460-447B-878B-E737F2FFF674}"/>
              </a:ext>
            </a:extLst>
          </p:cNvPr>
          <p:cNvSpPr>
            <a:spLocks xmlns:a="http://schemas.openxmlformats.org/drawingml/2006/main" noGrp="1"/>
          </p:cNvSpPr>
          <p:nvPr/>
        </p:nvSpPr>
        <p:spPr>
          <a:xfrm xmlns:a="http://schemas.openxmlformats.org/drawingml/2006/main">
            <a:off x="6019800" y="4324350"/>
            <a:ext cx="4381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00" b="1">
                <a:solidFill>
                  <a:srgbClr val="143F50"/>
                </a:solidFill>
                <a:latin typeface="Bitstream Charter"/>
                <a:ea typeface="Bitstream Charter"/>
                <a:cs typeface="Bitstream Charter"/>
              </a:defRPr>
            </a:pPr>
            <a:r>
              <a:rPr sz="1800" b="1">
                <a:solidFill>
                  <a:srgbClr val="143F50"/>
                </a:solidFill>
                <a:latin typeface="Bitstream Charter"/>
                <a:ea typeface="Bitstream Charter"/>
                <a:cs typeface="Bitstream Charter"/>
              </a:rPr>
              <a:t>A plan has to respect the full return journey, not just the activity itself.</a:t>
            </a:r>
          </a:p>
        </p:txBody>
      </p:sp>
      <p:sp>
        <p:nvSpPr>
          <p:cNvPr id="15" name="">
            <a:extLst xmlns:a="http://schemas.openxmlformats.org/drawingml/2006/main">
              <a:ext uri="{FF2B5EF4-FFF2-40B4-BE49-F238E27FC236}">
                <a16:creationId xmlns:a16="http://schemas.microsoft.com/office/drawing/2014/main" id="{98D1CEE6-4E9A-4067-A3B0-CED2185464B1}"/>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6" name="">
            <a:extLst xmlns:a="http://schemas.openxmlformats.org/drawingml/2006/main">
              <a:ext uri="{FF2B5EF4-FFF2-40B4-BE49-F238E27FC236}">
                <a16:creationId xmlns:a16="http://schemas.microsoft.com/office/drawing/2014/main" id="{5085E177-97F8-4EC7-94C2-7F413A1FE8A8}"/>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7" name="">
            <a:extLst xmlns:a="http://schemas.openxmlformats.org/drawingml/2006/main">
              <a:ext uri="{FF2B5EF4-FFF2-40B4-BE49-F238E27FC236}">
                <a16:creationId xmlns:a16="http://schemas.microsoft.com/office/drawing/2014/main" id="{7D062B0E-E8E5-4778-A9DA-F12BF35D3145}"/>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03</a:t>
            </a:r>
          </a:p>
        </p:txBody>
      </p:sp>
    </p:spTree>
    <p:extLst>
      <p:ext uri="{BB962C8B-B14F-4D97-AF65-F5344CB8AC3E}">
        <p14:creationId xmlns:p14="http://schemas.microsoft.com/office/powerpoint/2010/main" val="1556667579"/>
      </p:ext>
    </p:extLst>
  </p:cSld>
</p:sld>
</file>

<file path=ppt/slides/slide4.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2018538-E5A7-4B9D-AF60-0AD840BBD713}"/>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One clear journey</a:t>
            </a:r>
          </a:p>
        </p:txBody>
      </p:sp>
      <p:sp>
        <p:nvSpPr>
          <p:cNvPr id="2" name="">
            <a:extLst xmlns:a="http://schemas.openxmlformats.org/drawingml/2006/main">
              <a:ext uri="{FF2B5EF4-FFF2-40B4-BE49-F238E27FC236}">
                <a16:creationId xmlns:a16="http://schemas.microsoft.com/office/drawing/2014/main" id="{1604A330-45C2-4CEB-9FE0-807B44F7BA89}"/>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app keeps the person moving forward instead of sending them back through disconnected sources.</a:t>
            </a:r>
          </a:p>
        </p:txBody>
      </p:sp>
      <p:sp>
        <p:nvSpPr>
          <p:cNvPr id="3" name="">
            <a:extLst xmlns:a="http://schemas.openxmlformats.org/drawingml/2006/main">
              <a:ext uri="{FF2B5EF4-FFF2-40B4-BE49-F238E27FC236}">
                <a16:creationId xmlns:a16="http://schemas.microsoft.com/office/drawing/2014/main" id="{9849D11F-3EE5-4D97-8556-2A6B99E964F4}"/>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3b9501cf476459a"/>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7CFB268-FD69-4126-8A43-3936969593FE}"/>
              </a:ext>
            </a:extLst>
          </p:cNvPr>
          <p:cNvSpPr>
            <a:spLocks xmlns:a="http://schemas.openxmlformats.org/drawingml/2006/main" noGrp="1"/>
          </p:cNvSpPr>
          <p:nvPr/>
        </p:nvSpPr>
        <p:spPr>
          <a:xfrm xmlns:a="http://schemas.openxmlformats.org/drawingml/2006/main">
            <a:off x="800100" y="2571750"/>
            <a:ext cx="609600" cy="609600"/>
          </a:xfrm>
          <a:prstGeom xmlns:a="http://schemas.openxmlformats.org/drawingml/2006/main" prst="ellipse">
            <a:avLst/>
          </a:prstGeom>
          <a:solidFill xmlns:a="http://schemas.openxmlformats.org/drawingml/2006/main">
            <a:srgbClr val="1599D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AAF15EA-0D12-4FFB-978C-973E9EDA0FA9}"/>
              </a:ext>
            </a:extLst>
          </p:cNvPr>
          <p:cNvSpPr>
            <a:spLocks xmlns:a="http://schemas.openxmlformats.org/drawingml/2006/main" noGrp="1"/>
          </p:cNvSpPr>
          <p:nvPr/>
        </p:nvSpPr>
        <p:spPr>
          <a:xfrm xmlns:a="http://schemas.openxmlformats.org/drawingml/2006/main">
            <a:off x="9620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1</a:t>
            </a:r>
          </a:p>
        </p:txBody>
      </p:sp>
      <p:sp>
        <p:nvSpPr>
          <p:cNvPr id="7" name="">
            <a:extLst xmlns:a="http://schemas.openxmlformats.org/drawingml/2006/main">
              <a:ext uri="{FF2B5EF4-FFF2-40B4-BE49-F238E27FC236}">
                <a16:creationId xmlns:a16="http://schemas.microsoft.com/office/drawing/2014/main" id="{0E6CB52C-3A92-419D-AEF8-2D2F9D77AABA}"/>
              </a:ext>
            </a:extLst>
          </p:cNvPr>
          <p:cNvSpPr>
            <a:spLocks xmlns:a="http://schemas.openxmlformats.org/drawingml/2006/main" noGrp="1"/>
          </p:cNvSpPr>
          <p:nvPr/>
        </p:nvSpPr>
        <p:spPr>
          <a:xfrm xmlns:a="http://schemas.openxmlformats.org/drawingml/2006/main">
            <a:off x="8001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Explore</a:t>
            </a:r>
          </a:p>
        </p:txBody>
      </p:sp>
      <p:sp>
        <p:nvSpPr>
          <p:cNvPr id="8" name="">
            <a:extLst xmlns:a="http://schemas.openxmlformats.org/drawingml/2006/main">
              <a:ext uri="{FF2B5EF4-FFF2-40B4-BE49-F238E27FC236}">
                <a16:creationId xmlns:a16="http://schemas.microsoft.com/office/drawing/2014/main" id="{78EA4E26-21AE-48F9-BE6E-FE66939D9386}"/>
              </a:ext>
            </a:extLst>
          </p:cNvPr>
          <p:cNvSpPr>
            <a:spLocks xmlns:a="http://schemas.openxmlformats.org/drawingml/2006/main" noGrp="1"/>
          </p:cNvSpPr>
          <p:nvPr/>
        </p:nvSpPr>
        <p:spPr>
          <a:xfrm xmlns:a="http://schemas.openxmlformats.org/drawingml/2006/main">
            <a:off x="8001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Choose a nearby documented place</a:t>
            </a:r>
          </a:p>
        </p:txBody>
      </p:sp>
      <p:sp>
        <p:nvSpPr>
          <p:cNvPr id="9" name="">
            <a:extLst xmlns:a="http://schemas.openxmlformats.org/drawingml/2006/main">
              <a:ext uri="{FF2B5EF4-FFF2-40B4-BE49-F238E27FC236}">
                <a16:creationId xmlns:a16="http://schemas.microsoft.com/office/drawing/2014/main" id="{BA8AD5FE-2E3F-48F3-9B46-A2C83DA1E9D0}"/>
              </a:ext>
            </a:extLst>
          </p:cNvPr>
          <p:cNvSpPr>
            <a:spLocks xmlns:a="http://schemas.openxmlformats.org/drawingml/2006/main" noGrp="1"/>
          </p:cNvSpPr>
          <p:nvPr/>
        </p:nvSpPr>
        <p:spPr>
          <a:xfrm xmlns:a="http://schemas.openxmlformats.org/drawingml/2006/main">
            <a:off x="1524000" y="2876550"/>
            <a:ext cx="1790700" cy="0"/>
          </a:xfrm>
          <a:prstGeom xmlns:a="http://schemas.openxmlformats.org/drawingml/2006/main" prst="line">
            <a:avLst/>
          </a:prstGeom>
          <a:noFill xmlns:a="http://schemas.openxmlformats.org/drawingml/2006/main"/>
          <a:ln xmlns:a="http://schemas.openxmlformats.org/drawingml/2006/main" w="28575">
            <a:solidFill>
              <a:srgbClr val="9BC8D1"/>
            </a:solidFill>
          </a:ln>
        </p:spPr>
      </p:sp>
      <p:sp>
        <p:nvSpPr>
          <p:cNvPr id="10" name="">
            <a:extLst xmlns:a="http://schemas.openxmlformats.org/drawingml/2006/main">
              <a:ext uri="{FF2B5EF4-FFF2-40B4-BE49-F238E27FC236}">
                <a16:creationId xmlns:a16="http://schemas.microsoft.com/office/drawing/2014/main" id="{3CA99EA2-19A8-4BCE-8F12-56DEEAA84C10}"/>
              </a:ext>
            </a:extLst>
          </p:cNvPr>
          <p:cNvSpPr>
            <a:spLocks xmlns:a="http://schemas.openxmlformats.org/drawingml/2006/main" noGrp="1"/>
          </p:cNvSpPr>
          <p:nvPr/>
        </p:nvSpPr>
        <p:spPr>
          <a:xfrm xmlns:a="http://schemas.openxmlformats.org/drawingml/2006/main">
            <a:off x="3505200" y="2571750"/>
            <a:ext cx="609600" cy="609600"/>
          </a:xfrm>
          <a:prstGeom xmlns:a="http://schemas.openxmlformats.org/drawingml/2006/main" prst="ellipse">
            <a:avLst/>
          </a:prstGeom>
          <a:solidFill xmlns:a="http://schemas.openxmlformats.org/drawingml/2006/main">
            <a:srgbClr val="167D7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374D4C7-23A9-423F-A28B-4CFF01DAEBD7}"/>
              </a:ext>
            </a:extLst>
          </p:cNvPr>
          <p:cNvSpPr>
            <a:spLocks xmlns:a="http://schemas.openxmlformats.org/drawingml/2006/main" noGrp="1"/>
          </p:cNvSpPr>
          <p:nvPr/>
        </p:nvSpPr>
        <p:spPr>
          <a:xfrm xmlns:a="http://schemas.openxmlformats.org/drawingml/2006/main">
            <a:off x="36671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2</a:t>
            </a:r>
          </a:p>
        </p:txBody>
      </p:sp>
      <p:sp>
        <p:nvSpPr>
          <p:cNvPr id="12" name="">
            <a:extLst xmlns:a="http://schemas.openxmlformats.org/drawingml/2006/main">
              <a:ext uri="{FF2B5EF4-FFF2-40B4-BE49-F238E27FC236}">
                <a16:creationId xmlns:a16="http://schemas.microsoft.com/office/drawing/2014/main" id="{E6008A34-D910-4521-9614-639BB67484B5}"/>
              </a:ext>
            </a:extLst>
          </p:cNvPr>
          <p:cNvSpPr>
            <a:spLocks xmlns:a="http://schemas.openxmlformats.org/drawingml/2006/main" noGrp="1"/>
          </p:cNvSpPr>
          <p:nvPr/>
        </p:nvSpPr>
        <p:spPr>
          <a:xfrm xmlns:a="http://schemas.openxmlformats.org/drawingml/2006/main">
            <a:off x="35052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Plan</a:t>
            </a:r>
          </a:p>
        </p:txBody>
      </p:sp>
      <p:sp>
        <p:nvSpPr>
          <p:cNvPr id="13" name="">
            <a:extLst xmlns:a="http://schemas.openxmlformats.org/drawingml/2006/main">
              <a:ext uri="{FF2B5EF4-FFF2-40B4-BE49-F238E27FC236}">
                <a16:creationId xmlns:a16="http://schemas.microsoft.com/office/drawing/2014/main" id="{CCA7E3CB-7ADF-43F5-BE21-336B4E826332}"/>
              </a:ext>
            </a:extLst>
          </p:cNvPr>
          <p:cNvSpPr>
            <a:spLocks xmlns:a="http://schemas.openxmlformats.org/drawingml/2006/main" noGrp="1"/>
          </p:cNvSpPr>
          <p:nvPr/>
        </p:nvSpPr>
        <p:spPr>
          <a:xfrm xmlns:a="http://schemas.openxmlformats.org/drawingml/2006/main">
            <a:off x="35052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Check time, route and activity</a:t>
            </a:r>
          </a:p>
        </p:txBody>
      </p:sp>
      <p:sp>
        <p:nvSpPr>
          <p:cNvPr id="14" name="">
            <a:extLst xmlns:a="http://schemas.openxmlformats.org/drawingml/2006/main">
              <a:ext uri="{FF2B5EF4-FFF2-40B4-BE49-F238E27FC236}">
                <a16:creationId xmlns:a16="http://schemas.microsoft.com/office/drawing/2014/main" id="{ED893BB3-6E4F-4C31-A4A9-90AE28AF0D4A}"/>
              </a:ext>
            </a:extLst>
          </p:cNvPr>
          <p:cNvSpPr>
            <a:spLocks xmlns:a="http://schemas.openxmlformats.org/drawingml/2006/main" noGrp="1"/>
          </p:cNvSpPr>
          <p:nvPr/>
        </p:nvSpPr>
        <p:spPr>
          <a:xfrm xmlns:a="http://schemas.openxmlformats.org/drawingml/2006/main">
            <a:off x="4229100" y="2876550"/>
            <a:ext cx="1790700" cy="0"/>
          </a:xfrm>
          <a:prstGeom xmlns:a="http://schemas.openxmlformats.org/drawingml/2006/main" prst="line">
            <a:avLst/>
          </a:prstGeom>
          <a:noFill xmlns:a="http://schemas.openxmlformats.org/drawingml/2006/main"/>
          <a:ln xmlns:a="http://schemas.openxmlformats.org/drawingml/2006/main" w="28575">
            <a:solidFill>
              <a:srgbClr val="9BC8D1"/>
            </a:solidFill>
          </a:ln>
        </p:spPr>
      </p:sp>
      <p:sp>
        <p:nvSpPr>
          <p:cNvPr id="15" name="">
            <a:extLst xmlns:a="http://schemas.openxmlformats.org/drawingml/2006/main">
              <a:ext uri="{FF2B5EF4-FFF2-40B4-BE49-F238E27FC236}">
                <a16:creationId xmlns:a16="http://schemas.microsoft.com/office/drawing/2014/main" id="{D67E2834-8CE6-4990-8824-43A0F524CBF1}"/>
              </a:ext>
            </a:extLst>
          </p:cNvPr>
          <p:cNvSpPr>
            <a:spLocks xmlns:a="http://schemas.openxmlformats.org/drawingml/2006/main" noGrp="1"/>
          </p:cNvSpPr>
          <p:nvPr/>
        </p:nvSpPr>
        <p:spPr>
          <a:xfrm xmlns:a="http://schemas.openxmlformats.org/drawingml/2006/main">
            <a:off x="6210300" y="2571750"/>
            <a:ext cx="609600" cy="609600"/>
          </a:xfrm>
          <a:prstGeom xmlns:a="http://schemas.openxmlformats.org/drawingml/2006/main" prst="ellipse">
            <a:avLst/>
          </a:prstGeom>
          <a:solidFill xmlns:a="http://schemas.openxmlformats.org/drawingml/2006/main">
            <a:srgbClr val="4A972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2FA1C7C-4246-41F5-ADA6-4C6347C1E944}"/>
              </a:ext>
            </a:extLst>
          </p:cNvPr>
          <p:cNvSpPr>
            <a:spLocks xmlns:a="http://schemas.openxmlformats.org/drawingml/2006/main" noGrp="1"/>
          </p:cNvSpPr>
          <p:nvPr/>
        </p:nvSpPr>
        <p:spPr>
          <a:xfrm xmlns:a="http://schemas.openxmlformats.org/drawingml/2006/main">
            <a:off x="63722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3</a:t>
            </a:r>
          </a:p>
        </p:txBody>
      </p:sp>
      <p:sp>
        <p:nvSpPr>
          <p:cNvPr id="17" name="">
            <a:extLst xmlns:a="http://schemas.openxmlformats.org/drawingml/2006/main">
              <a:ext uri="{FF2B5EF4-FFF2-40B4-BE49-F238E27FC236}">
                <a16:creationId xmlns:a16="http://schemas.microsoft.com/office/drawing/2014/main" id="{E1D87914-4801-45ED-956A-DFCB268D7361}"/>
              </a:ext>
            </a:extLst>
          </p:cNvPr>
          <p:cNvSpPr>
            <a:spLocks xmlns:a="http://schemas.openxmlformats.org/drawingml/2006/main" noGrp="1"/>
          </p:cNvSpPr>
          <p:nvPr/>
        </p:nvSpPr>
        <p:spPr>
          <a:xfrm xmlns:a="http://schemas.openxmlformats.org/drawingml/2006/main">
            <a:off x="62103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Move</a:t>
            </a:r>
          </a:p>
        </p:txBody>
      </p:sp>
      <p:sp>
        <p:nvSpPr>
          <p:cNvPr id="18" name="">
            <a:extLst xmlns:a="http://schemas.openxmlformats.org/drawingml/2006/main">
              <a:ext uri="{FF2B5EF4-FFF2-40B4-BE49-F238E27FC236}">
                <a16:creationId xmlns:a16="http://schemas.microsoft.com/office/drawing/2014/main" id="{6A9DA720-2E04-45DB-957C-A0E3B6AF1D7E}"/>
              </a:ext>
            </a:extLst>
          </p:cNvPr>
          <p:cNvSpPr>
            <a:spLocks xmlns:a="http://schemas.openxmlformats.org/drawingml/2006/main" noGrp="1"/>
          </p:cNvSpPr>
          <p:nvPr/>
        </p:nvSpPr>
        <p:spPr>
          <a:xfrm xmlns:a="http://schemas.openxmlformats.org/drawingml/2006/main">
            <a:off x="62103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Use a simple venue-aware outline</a:t>
            </a:r>
          </a:p>
        </p:txBody>
      </p:sp>
      <p:sp>
        <p:nvSpPr>
          <p:cNvPr id="19" name="">
            <a:extLst xmlns:a="http://schemas.openxmlformats.org/drawingml/2006/main">
              <a:ext uri="{FF2B5EF4-FFF2-40B4-BE49-F238E27FC236}">
                <a16:creationId xmlns:a16="http://schemas.microsoft.com/office/drawing/2014/main" id="{620C2EF6-F88B-4F5D-B182-CFE461F84BE2}"/>
              </a:ext>
            </a:extLst>
          </p:cNvPr>
          <p:cNvSpPr>
            <a:spLocks xmlns:a="http://schemas.openxmlformats.org/drawingml/2006/main" noGrp="1"/>
          </p:cNvSpPr>
          <p:nvPr/>
        </p:nvSpPr>
        <p:spPr>
          <a:xfrm xmlns:a="http://schemas.openxmlformats.org/drawingml/2006/main">
            <a:off x="6934200" y="2876550"/>
            <a:ext cx="1790700" cy="0"/>
          </a:xfrm>
          <a:prstGeom xmlns:a="http://schemas.openxmlformats.org/drawingml/2006/main" prst="line">
            <a:avLst/>
          </a:prstGeom>
          <a:noFill xmlns:a="http://schemas.openxmlformats.org/drawingml/2006/main"/>
          <a:ln xmlns:a="http://schemas.openxmlformats.org/drawingml/2006/main" w="28575">
            <a:solidFill>
              <a:srgbClr val="9BC8D1"/>
            </a:solidFill>
          </a:ln>
        </p:spPr>
      </p:sp>
      <p:sp>
        <p:nvSpPr>
          <p:cNvPr id="20" name="">
            <a:extLst xmlns:a="http://schemas.openxmlformats.org/drawingml/2006/main">
              <a:ext uri="{FF2B5EF4-FFF2-40B4-BE49-F238E27FC236}">
                <a16:creationId xmlns:a16="http://schemas.microsoft.com/office/drawing/2014/main" id="{2D27AACB-C521-4BDA-BD59-83E057EDC434}"/>
              </a:ext>
            </a:extLst>
          </p:cNvPr>
          <p:cNvSpPr>
            <a:spLocks xmlns:a="http://schemas.openxmlformats.org/drawingml/2006/main" noGrp="1"/>
          </p:cNvSpPr>
          <p:nvPr/>
        </p:nvSpPr>
        <p:spPr>
          <a:xfrm xmlns:a="http://schemas.openxmlformats.org/drawingml/2006/main">
            <a:off x="8915400" y="2571750"/>
            <a:ext cx="609600" cy="609600"/>
          </a:xfrm>
          <a:prstGeom xmlns:a="http://schemas.openxmlformats.org/drawingml/2006/main" prst="ellipse">
            <a:avLst/>
          </a:prstGeom>
          <a:solidFill xmlns:a="http://schemas.openxmlformats.org/drawingml/2006/main">
            <a:srgbClr val="F4A92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B69D725-057D-4EFA-8556-44D46B3AC791}"/>
              </a:ext>
            </a:extLst>
          </p:cNvPr>
          <p:cNvSpPr>
            <a:spLocks xmlns:a="http://schemas.openxmlformats.org/drawingml/2006/main" noGrp="1"/>
          </p:cNvSpPr>
          <p:nvPr/>
        </p:nvSpPr>
        <p:spPr>
          <a:xfrm xmlns:a="http://schemas.openxmlformats.org/drawingml/2006/main">
            <a:off x="9077325" y="2733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FFFFFF"/>
                </a:solidFill>
                <a:latin typeface="Bitstream Charter"/>
                <a:ea typeface="Bitstream Charter"/>
                <a:cs typeface="Bitstream Charter"/>
              </a:defRPr>
            </a:pPr>
            <a:r>
              <a:rPr sz="1500" b="1">
                <a:solidFill>
                  <a:srgbClr val="FFFFFF"/>
                </a:solidFill>
                <a:latin typeface="Bitstream Charter"/>
                <a:ea typeface="Bitstream Charter"/>
                <a:cs typeface="Bitstream Charter"/>
              </a:rPr>
              <a:t>4</a:t>
            </a:r>
          </a:p>
        </p:txBody>
      </p:sp>
      <p:sp>
        <p:nvSpPr>
          <p:cNvPr id="22" name="">
            <a:extLst xmlns:a="http://schemas.openxmlformats.org/drawingml/2006/main">
              <a:ext uri="{FF2B5EF4-FFF2-40B4-BE49-F238E27FC236}">
                <a16:creationId xmlns:a16="http://schemas.microsoft.com/office/drawing/2014/main" id="{0487AAEC-E747-4622-B9CD-A3523EA57B0A}"/>
              </a:ext>
            </a:extLst>
          </p:cNvPr>
          <p:cNvSpPr>
            <a:spLocks xmlns:a="http://schemas.openxmlformats.org/drawingml/2006/main" noGrp="1"/>
          </p:cNvSpPr>
          <p:nvPr/>
        </p:nvSpPr>
        <p:spPr>
          <a:xfrm xmlns:a="http://schemas.openxmlformats.org/drawingml/2006/main">
            <a:off x="8915400" y="34099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875" b="1">
                <a:solidFill>
                  <a:srgbClr val="143F50"/>
                </a:solidFill>
                <a:latin typeface="Bitstream Charter"/>
                <a:ea typeface="Bitstream Charter"/>
                <a:cs typeface="Bitstream Charter"/>
              </a:defRPr>
            </a:pPr>
            <a:r>
              <a:rPr sz="1875" b="1">
                <a:solidFill>
                  <a:srgbClr val="143F50"/>
                </a:solidFill>
                <a:latin typeface="Bitstream Charter"/>
                <a:ea typeface="Bitstream Charter"/>
                <a:cs typeface="Bitstream Charter"/>
              </a:rPr>
              <a:t>Reflect</a:t>
            </a:r>
          </a:p>
        </p:txBody>
      </p:sp>
      <p:sp>
        <p:nvSpPr>
          <p:cNvPr id="23" name="">
            <a:extLst xmlns:a="http://schemas.openxmlformats.org/drawingml/2006/main">
              <a:ext uri="{FF2B5EF4-FFF2-40B4-BE49-F238E27FC236}">
                <a16:creationId xmlns:a16="http://schemas.microsoft.com/office/drawing/2014/main" id="{5AA86459-66D8-4312-BC96-183AA4E979CB}"/>
              </a:ext>
            </a:extLst>
          </p:cNvPr>
          <p:cNvSpPr>
            <a:spLocks xmlns:a="http://schemas.openxmlformats.org/drawingml/2006/main" noGrp="1"/>
          </p:cNvSpPr>
          <p:nvPr/>
        </p:nvSpPr>
        <p:spPr>
          <a:xfrm xmlns:a="http://schemas.openxmlformats.org/drawingml/2006/main">
            <a:off x="8915400" y="3829050"/>
            <a:ext cx="2019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Keep a private note for next time</a:t>
            </a:r>
          </a:p>
        </p:txBody>
      </p:sp>
      <p:sp>
        <p:nvSpPr>
          <p:cNvPr id="24" name="">
            <a:extLst xmlns:a="http://schemas.openxmlformats.org/drawingml/2006/main">
              <a:ext uri="{FF2B5EF4-FFF2-40B4-BE49-F238E27FC236}">
                <a16:creationId xmlns:a16="http://schemas.microsoft.com/office/drawing/2014/main" id="{94E9DA35-DF9C-47E9-8ABE-F7744317F698}"/>
              </a:ext>
            </a:extLst>
          </p:cNvPr>
          <p:cNvSpPr>
            <a:spLocks xmlns:a="http://schemas.openxmlformats.org/drawingml/2006/main" noGrp="1"/>
          </p:cNvSpPr>
          <p:nvPr/>
        </p:nvSpPr>
        <p:spPr>
          <a:xfrm xmlns:a="http://schemas.openxmlformats.org/drawingml/2006/main">
            <a:off x="1562100" y="5353050"/>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725" b="1">
                <a:solidFill>
                  <a:srgbClr val="167D73"/>
                </a:solidFill>
                <a:latin typeface="Bitstream Charter"/>
                <a:ea typeface="Bitstream Charter"/>
                <a:cs typeface="Bitstream Charter"/>
              </a:defRPr>
            </a:pPr>
            <a:r>
              <a:rPr sz="1725" b="1">
                <a:solidFill>
                  <a:srgbClr val="167D73"/>
                </a:solidFill>
                <a:latin typeface="Bitstream Charter"/>
                <a:ea typeface="Bitstream Charter"/>
                <a:cs typeface="Bitstream Charter"/>
              </a:rPr>
              <a:t>The outcome is a realistic next activity and a small, private learning loop for the following week.</a:t>
            </a:r>
          </a:p>
        </p:txBody>
      </p:sp>
      <p:sp>
        <p:nvSpPr>
          <p:cNvPr id="25" name="">
            <a:extLst xmlns:a="http://schemas.openxmlformats.org/drawingml/2006/main">
              <a:ext uri="{FF2B5EF4-FFF2-40B4-BE49-F238E27FC236}">
                <a16:creationId xmlns:a16="http://schemas.microsoft.com/office/drawing/2014/main" id="{F2136659-C10E-4F2A-BF32-DFFDFC66000A}"/>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26" name="">
            <a:extLst xmlns:a="http://schemas.openxmlformats.org/drawingml/2006/main">
              <a:ext uri="{FF2B5EF4-FFF2-40B4-BE49-F238E27FC236}">
                <a16:creationId xmlns:a16="http://schemas.microsoft.com/office/drawing/2014/main" id="{39FCB4B0-A422-454C-8775-A3B0C530D75C}"/>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7" name="">
            <a:extLst xmlns:a="http://schemas.openxmlformats.org/drawingml/2006/main">
              <a:ext uri="{FF2B5EF4-FFF2-40B4-BE49-F238E27FC236}">
                <a16:creationId xmlns:a16="http://schemas.microsoft.com/office/drawing/2014/main" id="{034A046D-7109-4C03-8AF5-323764A4F778}"/>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04</a:t>
            </a:r>
          </a:p>
        </p:txBody>
      </p:sp>
    </p:spTree>
    <p:extLst>
      <p:ext uri="{BB962C8B-B14F-4D97-AF65-F5344CB8AC3E}">
        <p14:creationId xmlns:p14="http://schemas.microsoft.com/office/powerpoint/2010/main" val="1837852789"/>
      </p:ext>
    </p:extLst>
  </p:cSld>
</p:sld>
</file>

<file path=ppt/slides/slide5.xml><?xml version="1.0" encoding="utf-8"?>
<p:sld xmlns:p="http://schemas.openxmlformats.org/presentationml/2006/main">
  <p:cSld>
    <p:bg>
      <p:bgPr>
        <a:solidFill xmlns:a="http://schemas.openxmlformats.org/drawingml/2006/main">
          <a:srgbClr val="F3FB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7AB52E8-5237-4206-9EA1-975F591608C0}"/>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Source-backed public places in Kraków</a:t>
            </a:r>
          </a:p>
        </p:txBody>
      </p:sp>
      <p:sp>
        <p:nvSpPr>
          <p:cNvPr id="2" name="">
            <a:extLst xmlns:a="http://schemas.openxmlformats.org/drawingml/2006/main">
              <a:ext uri="{FF2B5EF4-FFF2-40B4-BE49-F238E27FC236}">
                <a16:creationId xmlns:a16="http://schemas.microsoft.com/office/drawing/2014/main" id="{437DE200-457E-4E8E-86A1-462FFF91640A}"/>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pilot shows only places with a public source link and documented activity or equipment detail.</a:t>
            </a:r>
          </a:p>
        </p:txBody>
      </p:sp>
      <p:sp>
        <p:nvSpPr>
          <p:cNvPr id="3" name="">
            <a:extLst xmlns:a="http://schemas.openxmlformats.org/drawingml/2006/main">
              <a:ext uri="{FF2B5EF4-FFF2-40B4-BE49-F238E27FC236}">
                <a16:creationId xmlns:a16="http://schemas.microsoft.com/office/drawing/2014/main" id="{7FA7A649-F42F-4040-8795-F44D75A63DD1}"/>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bbe482e7d2b4830"/>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3EA2A95-8BE1-48B6-B5A2-8F50F5F094C4}"/>
              </a:ext>
            </a:extLst>
          </p:cNvPr>
          <p:cNvSpPr>
            <a:spLocks xmlns:a="http://schemas.openxmlformats.org/drawingml/2006/main" noGrp="1"/>
          </p:cNvSpPr>
          <p:nvPr/>
        </p:nvSpPr>
        <p:spPr>
          <a:xfrm xmlns:a="http://schemas.openxmlformats.org/drawingml/2006/main">
            <a:off x="800100" y="2209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083F69"/>
                </a:solidFill>
                <a:latin typeface="Bitstream Charter"/>
                <a:ea typeface="Bitstream Charter"/>
                <a:cs typeface="Bitstream Charter"/>
              </a:defRPr>
            </a:pPr>
            <a:r>
              <a:rPr sz="3600" b="1">
                <a:solidFill>
                  <a:srgbClr val="083F69"/>
                </a:solidFill>
                <a:latin typeface="Bitstream Charter"/>
                <a:ea typeface="Bitstream Charter"/>
                <a:cs typeface="Bitstream Charter"/>
              </a:rPr>
              <a:t>14</a:t>
            </a:r>
          </a:p>
        </p:txBody>
      </p:sp>
      <p:sp>
        <p:nvSpPr>
          <p:cNvPr id="6" name="">
            <a:extLst xmlns:a="http://schemas.openxmlformats.org/drawingml/2006/main">
              <a:ext uri="{FF2B5EF4-FFF2-40B4-BE49-F238E27FC236}">
                <a16:creationId xmlns:a16="http://schemas.microsoft.com/office/drawing/2014/main" id="{CF1C7C2E-1B03-45D3-B641-15B1D3F84939}"/>
              </a:ext>
            </a:extLst>
          </p:cNvPr>
          <p:cNvSpPr>
            <a:spLocks xmlns:a="http://schemas.openxmlformats.org/drawingml/2006/main" noGrp="1"/>
          </p:cNvSpPr>
          <p:nvPr/>
        </p:nvSpPr>
        <p:spPr>
          <a:xfrm xmlns:a="http://schemas.openxmlformats.org/drawingml/2006/main">
            <a:off x="800100" y="2857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documented profiles shown in the app</a:t>
            </a:r>
          </a:p>
        </p:txBody>
      </p:sp>
      <p:sp>
        <p:nvSpPr>
          <p:cNvPr id="7" name="">
            <a:extLst xmlns:a="http://schemas.openxmlformats.org/drawingml/2006/main">
              <a:ext uri="{FF2B5EF4-FFF2-40B4-BE49-F238E27FC236}">
                <a16:creationId xmlns:a16="http://schemas.microsoft.com/office/drawing/2014/main" id="{5C96331E-6A59-4EEE-8AD6-BCBB8F7939DD}"/>
              </a:ext>
            </a:extLst>
          </p:cNvPr>
          <p:cNvSpPr>
            <a:spLocks xmlns:a="http://schemas.openxmlformats.org/drawingml/2006/main" noGrp="1"/>
          </p:cNvSpPr>
          <p:nvPr/>
        </p:nvSpPr>
        <p:spPr>
          <a:xfrm xmlns:a="http://schemas.openxmlformats.org/drawingml/2006/main">
            <a:off x="3486150" y="2209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167D73"/>
                </a:solidFill>
                <a:latin typeface="Bitstream Charter"/>
                <a:ea typeface="Bitstream Charter"/>
                <a:cs typeface="Bitstream Charter"/>
              </a:defRPr>
            </a:pPr>
            <a:r>
              <a:rPr sz="3600" b="1">
                <a:solidFill>
                  <a:srgbClr val="167D73"/>
                </a:solidFill>
                <a:latin typeface="Bitstream Charter"/>
                <a:ea typeface="Bitstream Charter"/>
                <a:cs typeface="Bitstream Charter"/>
              </a:rPr>
              <a:t>5</a:t>
            </a:r>
          </a:p>
        </p:txBody>
      </p:sp>
      <p:sp>
        <p:nvSpPr>
          <p:cNvPr id="8" name="">
            <a:extLst xmlns:a="http://schemas.openxmlformats.org/drawingml/2006/main">
              <a:ext uri="{FF2B5EF4-FFF2-40B4-BE49-F238E27FC236}">
                <a16:creationId xmlns:a16="http://schemas.microsoft.com/office/drawing/2014/main" id="{D0B7B543-55C2-45B2-AD60-406F575A8CC0}"/>
              </a:ext>
            </a:extLst>
          </p:cNvPr>
          <p:cNvSpPr>
            <a:spLocks xmlns:a="http://schemas.openxmlformats.org/drawingml/2006/main" noGrp="1"/>
          </p:cNvSpPr>
          <p:nvPr/>
        </p:nvSpPr>
        <p:spPr>
          <a:xfrm xmlns:a="http://schemas.openxmlformats.org/drawingml/2006/main">
            <a:off x="3486150" y="2857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activity filters for quick discovery</a:t>
            </a:r>
          </a:p>
        </p:txBody>
      </p:sp>
      <p:sp>
        <p:nvSpPr>
          <p:cNvPr id="9" name="">
            <a:extLst xmlns:a="http://schemas.openxmlformats.org/drawingml/2006/main">
              <a:ext uri="{FF2B5EF4-FFF2-40B4-BE49-F238E27FC236}">
                <a16:creationId xmlns:a16="http://schemas.microsoft.com/office/drawing/2014/main" id="{E893C4E9-09EE-40C7-812D-151D0154EBAC}"/>
              </a:ext>
            </a:extLst>
          </p:cNvPr>
          <p:cNvSpPr>
            <a:spLocks xmlns:a="http://schemas.openxmlformats.org/drawingml/2006/main" noGrp="1"/>
          </p:cNvSpPr>
          <p:nvPr/>
        </p:nvSpPr>
        <p:spPr>
          <a:xfrm xmlns:a="http://schemas.openxmlformats.org/drawingml/2006/main">
            <a:off x="6172200" y="22098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F4A928"/>
                </a:solidFill>
                <a:latin typeface="Bitstream Charter"/>
                <a:ea typeface="Bitstream Charter"/>
                <a:cs typeface="Bitstream Charter"/>
              </a:defRPr>
            </a:pPr>
            <a:r>
              <a:rPr sz="3600" b="1">
                <a:solidFill>
                  <a:srgbClr val="F4A928"/>
                </a:solidFill>
                <a:latin typeface="Bitstream Charter"/>
                <a:ea typeface="Bitstream Charter"/>
                <a:cs typeface="Bitstream Charter"/>
              </a:rPr>
              <a:t>0</a:t>
            </a:r>
          </a:p>
        </p:txBody>
      </p:sp>
      <p:sp>
        <p:nvSpPr>
          <p:cNvPr id="10" name="">
            <a:extLst xmlns:a="http://schemas.openxmlformats.org/drawingml/2006/main">
              <a:ext uri="{FF2B5EF4-FFF2-40B4-BE49-F238E27FC236}">
                <a16:creationId xmlns:a16="http://schemas.microsoft.com/office/drawing/2014/main" id="{95F3383D-1487-4EBD-89EA-61D72E9F1309}"/>
              </a:ext>
            </a:extLst>
          </p:cNvPr>
          <p:cNvSpPr>
            <a:spLocks xmlns:a="http://schemas.openxmlformats.org/drawingml/2006/main" noGrp="1"/>
          </p:cNvSpPr>
          <p:nvPr/>
        </p:nvSpPr>
        <p:spPr>
          <a:xfrm xmlns:a="http://schemas.openxmlformats.org/drawingml/2006/main">
            <a:off x="6172200" y="2857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456773"/>
                </a:solidFill>
                <a:latin typeface="Bitstream Charter"/>
                <a:ea typeface="Bitstream Charter"/>
                <a:cs typeface="Bitstream Charter"/>
              </a:defRPr>
            </a:pPr>
            <a:r>
              <a:rPr sz="1200" b="1">
                <a:solidFill>
                  <a:srgbClr val="456773"/>
                </a:solidFill>
                <a:latin typeface="Bitstream Charter"/>
                <a:ea typeface="Bitstream Charter"/>
                <a:cs typeface="Bitstream Charter"/>
              </a:rPr>
              <a:t>assumed equipment details</a:t>
            </a:r>
          </a:p>
        </p:txBody>
      </p:sp>
      <p:sp>
        <p:nvSpPr>
          <p:cNvPr id="11" name="">
            <a:extLst xmlns:a="http://schemas.openxmlformats.org/drawingml/2006/main">
              <a:ext uri="{FF2B5EF4-FFF2-40B4-BE49-F238E27FC236}">
                <a16:creationId xmlns:a16="http://schemas.microsoft.com/office/drawing/2014/main" id="{F7321593-2828-41DE-84E6-5FDBB6DAAFCB}"/>
              </a:ext>
            </a:extLst>
          </p:cNvPr>
          <p:cNvSpPr>
            <a:spLocks xmlns:a="http://schemas.openxmlformats.org/drawingml/2006/main" noGrp="1"/>
          </p:cNvSpPr>
          <p:nvPr/>
        </p:nvSpPr>
        <p:spPr>
          <a:xfrm xmlns:a="http://schemas.openxmlformats.org/drawingml/2006/main">
            <a:off x="723900" y="4095750"/>
            <a:ext cx="9982200" cy="129540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sp>
        <p:nvSpPr>
          <p:cNvPr id="12" name="">
            <a:extLst xmlns:a="http://schemas.openxmlformats.org/drawingml/2006/main">
              <a:ext uri="{FF2B5EF4-FFF2-40B4-BE49-F238E27FC236}">
                <a16:creationId xmlns:a16="http://schemas.microsoft.com/office/drawing/2014/main" id="{A254FD4A-22E2-4656-B128-C8F6A906B646}"/>
              </a:ext>
            </a:extLst>
          </p:cNvPr>
          <p:cNvSpPr>
            <a:spLocks xmlns:a="http://schemas.openxmlformats.org/drawingml/2006/main" noGrp="1"/>
          </p:cNvSpPr>
          <p:nvPr/>
        </p:nvSpPr>
        <p:spPr>
          <a:xfrm xmlns:a="http://schemas.openxmlformats.org/drawingml/2006/main">
            <a:off x="1028700" y="44005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Outdoor gyms and street workout</a:t>
            </a:r>
          </a:p>
        </p:txBody>
      </p:sp>
      <p:sp>
        <p:nvSpPr>
          <p:cNvPr id="13" name="">
            <a:extLst xmlns:a="http://schemas.openxmlformats.org/drawingml/2006/main">
              <a:ext uri="{FF2B5EF4-FFF2-40B4-BE49-F238E27FC236}">
                <a16:creationId xmlns:a16="http://schemas.microsoft.com/office/drawing/2014/main" id="{1D97A924-FE90-4BC0-AD52-FA1312F4DCC8}"/>
              </a:ext>
            </a:extLst>
          </p:cNvPr>
          <p:cNvSpPr>
            <a:spLocks xmlns:a="http://schemas.openxmlformats.org/drawingml/2006/main" noGrp="1"/>
          </p:cNvSpPr>
          <p:nvPr/>
        </p:nvSpPr>
        <p:spPr>
          <a:xfrm xmlns:a="http://schemas.openxmlformats.org/drawingml/2006/main">
            <a:off x="4171950" y="44005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Courts and pitches</a:t>
            </a:r>
          </a:p>
        </p:txBody>
      </p:sp>
      <p:sp>
        <p:nvSpPr>
          <p:cNvPr id="14" name="">
            <a:extLst xmlns:a="http://schemas.openxmlformats.org/drawingml/2006/main">
              <a:ext uri="{FF2B5EF4-FFF2-40B4-BE49-F238E27FC236}">
                <a16:creationId xmlns:a16="http://schemas.microsoft.com/office/drawing/2014/main" id="{12D2C746-AB88-4D13-AD9A-6FD61A690913}"/>
              </a:ext>
            </a:extLst>
          </p:cNvPr>
          <p:cNvSpPr>
            <a:spLocks xmlns:a="http://schemas.openxmlformats.org/drawingml/2006/main" noGrp="1"/>
          </p:cNvSpPr>
          <p:nvPr/>
        </p:nvSpPr>
        <p:spPr>
          <a:xfrm xmlns:a="http://schemas.openxmlformats.org/drawingml/2006/main">
            <a:off x="7124700" y="4400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Waterfront recreation</a:t>
            </a:r>
          </a:p>
        </p:txBody>
      </p:sp>
      <p:sp>
        <p:nvSpPr>
          <p:cNvPr id="15" name="">
            <a:extLst xmlns:a="http://schemas.openxmlformats.org/drawingml/2006/main">
              <a:ext uri="{FF2B5EF4-FFF2-40B4-BE49-F238E27FC236}">
                <a16:creationId xmlns:a16="http://schemas.microsoft.com/office/drawing/2014/main" id="{C3EB6C66-623B-48EA-9FFE-0674E7DAE462}"/>
              </a:ext>
            </a:extLst>
          </p:cNvPr>
          <p:cNvSpPr>
            <a:spLocks xmlns:a="http://schemas.openxmlformats.org/drawingml/2006/main" noGrp="1"/>
          </p:cNvSpPr>
          <p:nvPr/>
        </p:nvSpPr>
        <p:spPr>
          <a:xfrm xmlns:a="http://schemas.openxmlformats.org/drawingml/2006/main">
            <a:off x="1028700" y="485775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Every profile includes documented activities, access caveats and a source link. If a record does not support a detail, the app leaves it unknown; visitor reports cannot change a map marker.</a:t>
            </a:r>
          </a:p>
        </p:txBody>
      </p:sp>
      <p:sp>
        <p:nvSpPr>
          <p:cNvPr id="16" name="">
            <a:extLst xmlns:a="http://schemas.openxmlformats.org/drawingml/2006/main">
              <a:ext uri="{FF2B5EF4-FFF2-40B4-BE49-F238E27FC236}">
                <a16:creationId xmlns:a16="http://schemas.microsoft.com/office/drawing/2014/main" id="{5C7942A2-72F3-44DA-A902-035B1D6F14E2}"/>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7" name="">
            <a:extLst xmlns:a="http://schemas.openxmlformats.org/drawingml/2006/main">
              <a:ext uri="{FF2B5EF4-FFF2-40B4-BE49-F238E27FC236}">
                <a16:creationId xmlns:a16="http://schemas.microsoft.com/office/drawing/2014/main" id="{4AE145CD-05AD-437C-AB05-FEECD2C1C427}"/>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8" name="">
            <a:extLst xmlns:a="http://schemas.openxmlformats.org/drawingml/2006/main">
              <a:ext uri="{FF2B5EF4-FFF2-40B4-BE49-F238E27FC236}">
                <a16:creationId xmlns:a16="http://schemas.microsoft.com/office/drawing/2014/main" id="{D93D46C3-4E58-45CA-89B8-26060301BC47}"/>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05</a:t>
            </a:r>
          </a:p>
        </p:txBody>
      </p:sp>
    </p:spTree>
    <p:extLst>
      <p:ext uri="{BB962C8B-B14F-4D97-AF65-F5344CB8AC3E}">
        <p14:creationId xmlns:p14="http://schemas.microsoft.com/office/powerpoint/2010/main" val="895701255"/>
      </p:ext>
    </p:extLst>
  </p:cSld>
</p:sld>
</file>

<file path=ppt/slides/slide6.xml><?xml version="1.0" encoding="utf-8"?>
<p:sld xmlns:p="http://schemas.openxmlformats.org/presentationml/2006/main">
  <p:cSld>
    <p:bg>
      <p:bgPr>
        <a:solidFill xmlns:a="http://schemas.openxmlformats.org/drawingml/2006/main">
          <a:srgbClr val="F4FAE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88E205B-689C-4E2F-8370-DE69EAF5D896}"/>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A plan that respects the clock</a:t>
            </a:r>
          </a:p>
        </p:txBody>
      </p:sp>
      <p:sp>
        <p:nvSpPr>
          <p:cNvPr id="2" name="">
            <a:extLst xmlns:a="http://schemas.openxmlformats.org/drawingml/2006/main">
              <a:ext uri="{FF2B5EF4-FFF2-40B4-BE49-F238E27FC236}">
                <a16:creationId xmlns:a16="http://schemas.microsoft.com/office/drawing/2014/main" id="{20FE1D67-63B3-4BDF-9176-1DADDC8C8277}"/>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Today’s Plan reserves travel time before it proposes an activity outline.</a:t>
            </a:r>
          </a:p>
        </p:txBody>
      </p:sp>
      <p:sp>
        <p:nvSpPr>
          <p:cNvPr id="3" name="">
            <a:extLst xmlns:a="http://schemas.openxmlformats.org/drawingml/2006/main">
              <a:ext uri="{FF2B5EF4-FFF2-40B4-BE49-F238E27FC236}">
                <a16:creationId xmlns:a16="http://schemas.microsoft.com/office/drawing/2014/main" id="{AEF31700-C5BA-4EE4-BBE9-98BE5F913E3F}"/>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60f649798604a5c"/>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652CD8F-DAE4-46F0-BF54-53999D32DE13}"/>
              </a:ext>
            </a:extLst>
          </p:cNvPr>
          <p:cNvSpPr>
            <a:spLocks xmlns:a="http://schemas.openxmlformats.org/drawingml/2006/main" noGrp="1"/>
          </p:cNvSpPr>
          <p:nvPr/>
        </p:nvSpPr>
        <p:spPr>
          <a:xfrm xmlns:a="http://schemas.openxmlformats.org/drawingml/2006/main">
            <a:off x="723900" y="2171700"/>
            <a:ext cx="2705100"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B8D8CB"/>
            </a:solidFill>
          </a:ln>
        </p:spPr>
      </p:sp>
      <p:sp>
        <p:nvSpPr>
          <p:cNvPr id="6" name="">
            <a:extLst xmlns:a="http://schemas.openxmlformats.org/drawingml/2006/main">
              <a:ext uri="{FF2B5EF4-FFF2-40B4-BE49-F238E27FC236}">
                <a16:creationId xmlns:a16="http://schemas.microsoft.com/office/drawing/2014/main" id="{E654713E-35F4-4651-BF1D-36B604DDB6CC}"/>
              </a:ext>
            </a:extLst>
          </p:cNvPr>
          <p:cNvSpPr>
            <a:spLocks xmlns:a="http://schemas.openxmlformats.org/drawingml/2006/main" noGrp="1"/>
          </p:cNvSpPr>
          <p:nvPr/>
        </p:nvSpPr>
        <p:spPr>
          <a:xfrm xmlns:a="http://schemas.openxmlformats.org/drawingml/2006/main">
            <a:off x="10287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1. TIME AVAILABLE</a:t>
            </a:r>
          </a:p>
        </p:txBody>
      </p:sp>
      <p:sp>
        <p:nvSpPr>
          <p:cNvPr id="7" name="">
            <a:extLst xmlns:a="http://schemas.openxmlformats.org/drawingml/2006/main">
              <a:ext uri="{FF2B5EF4-FFF2-40B4-BE49-F238E27FC236}">
                <a16:creationId xmlns:a16="http://schemas.microsoft.com/office/drawing/2014/main" id="{05E432F9-46B6-4037-BE22-4547EAF508D7}"/>
              </a:ext>
            </a:extLst>
          </p:cNvPr>
          <p:cNvSpPr>
            <a:spLocks xmlns:a="http://schemas.openxmlformats.org/drawingml/2006/main" noGrp="1"/>
          </p:cNvSpPr>
          <p:nvPr/>
        </p:nvSpPr>
        <p:spPr>
          <a:xfrm xmlns:a="http://schemas.openxmlformats.org/drawingml/2006/main">
            <a:off x="1028700" y="29337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3600" b="1">
                <a:solidFill>
                  <a:srgbClr val="143F50"/>
                </a:solidFill>
                <a:latin typeface="Bitstream Charter"/>
                <a:ea typeface="Bitstream Charter"/>
                <a:cs typeface="Bitstream Charter"/>
              </a:defRPr>
            </a:pPr>
            <a:r>
              <a:rPr sz="3600" b="1">
                <a:solidFill>
                  <a:srgbClr val="143F50"/>
                </a:solidFill>
                <a:latin typeface="Bitstream Charter"/>
                <a:ea typeface="Bitstream Charter"/>
                <a:cs typeface="Bitstream Charter"/>
              </a:rPr>
              <a:t>60 min</a:t>
            </a:r>
          </a:p>
        </p:txBody>
      </p:sp>
      <p:sp>
        <p:nvSpPr>
          <p:cNvPr id="8" name="">
            <a:extLst xmlns:a="http://schemas.openxmlformats.org/drawingml/2006/main">
              <a:ext uri="{FF2B5EF4-FFF2-40B4-BE49-F238E27FC236}">
                <a16:creationId xmlns:a16="http://schemas.microsoft.com/office/drawing/2014/main" id="{02447D1D-E560-4B7B-9619-24C347A82FCE}"/>
              </a:ext>
            </a:extLst>
          </p:cNvPr>
          <p:cNvSpPr>
            <a:spLocks xmlns:a="http://schemas.openxmlformats.org/drawingml/2006/main" noGrp="1"/>
          </p:cNvSpPr>
          <p:nvPr/>
        </p:nvSpPr>
        <p:spPr>
          <a:xfrm xmlns:a="http://schemas.openxmlformats.org/drawingml/2006/main">
            <a:off x="1028700" y="3676650"/>
            <a:ext cx="1847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person sets their whole window, including the journey.</a:t>
            </a:r>
          </a:p>
        </p:txBody>
      </p:sp>
      <p:sp>
        <p:nvSpPr>
          <p:cNvPr id="9" name="">
            <a:extLst xmlns:a="http://schemas.openxmlformats.org/drawingml/2006/main">
              <a:ext uri="{FF2B5EF4-FFF2-40B4-BE49-F238E27FC236}">
                <a16:creationId xmlns:a16="http://schemas.microsoft.com/office/drawing/2014/main" id="{4477A93E-CD43-41BC-A092-774D60D3A87C}"/>
              </a:ext>
            </a:extLst>
          </p:cNvPr>
          <p:cNvSpPr>
            <a:spLocks xmlns:a="http://schemas.openxmlformats.org/drawingml/2006/main" noGrp="1"/>
          </p:cNvSpPr>
          <p:nvPr/>
        </p:nvSpPr>
        <p:spPr>
          <a:xfrm xmlns:a="http://schemas.openxmlformats.org/drawingml/2006/main">
            <a:off x="4381500" y="2171700"/>
            <a:ext cx="2705100"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B8D8CB"/>
            </a:solidFill>
          </a:ln>
        </p:spPr>
      </p:sp>
      <p:sp>
        <p:nvSpPr>
          <p:cNvPr id="10" name="">
            <a:extLst xmlns:a="http://schemas.openxmlformats.org/drawingml/2006/main">
              <a:ext uri="{FF2B5EF4-FFF2-40B4-BE49-F238E27FC236}">
                <a16:creationId xmlns:a16="http://schemas.microsoft.com/office/drawing/2014/main" id="{8E6B4C82-CCAC-4C2C-BB68-C8CBE1A05921}"/>
              </a:ext>
            </a:extLst>
          </p:cNvPr>
          <p:cNvSpPr>
            <a:spLocks xmlns:a="http://schemas.openxmlformats.org/drawingml/2006/main" noGrp="1"/>
          </p:cNvSpPr>
          <p:nvPr/>
        </p:nvSpPr>
        <p:spPr>
          <a:xfrm xmlns:a="http://schemas.openxmlformats.org/drawingml/2006/main">
            <a:off x="46863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2. JOURNEY CHECK</a:t>
            </a:r>
          </a:p>
        </p:txBody>
      </p:sp>
      <p:sp>
        <p:nvSpPr>
          <p:cNvPr id="11" name="">
            <a:extLst xmlns:a="http://schemas.openxmlformats.org/drawingml/2006/main">
              <a:ext uri="{FF2B5EF4-FFF2-40B4-BE49-F238E27FC236}">
                <a16:creationId xmlns:a16="http://schemas.microsoft.com/office/drawing/2014/main" id="{A6AECF0A-0E0B-491D-A767-ECD4ED730D0C}"/>
              </a:ext>
            </a:extLst>
          </p:cNvPr>
          <p:cNvSpPr>
            <a:spLocks xmlns:a="http://schemas.openxmlformats.org/drawingml/2006/main" noGrp="1"/>
          </p:cNvSpPr>
          <p:nvPr/>
        </p:nvSpPr>
        <p:spPr>
          <a:xfrm xmlns:a="http://schemas.openxmlformats.org/drawingml/2006/main">
            <a:off x="4686300" y="295275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143F50"/>
                </a:solidFill>
                <a:latin typeface="Bitstream Charter"/>
                <a:ea typeface="Bitstream Charter"/>
                <a:cs typeface="Bitstream Charter"/>
              </a:defRPr>
            </a:pPr>
            <a:r>
              <a:rPr sz="1950" b="1">
                <a:solidFill>
                  <a:srgbClr val="143F50"/>
                </a:solidFill>
                <a:latin typeface="Bitstream Charter"/>
                <a:ea typeface="Bitstream Charter"/>
                <a:cs typeface="Bitstream Charter"/>
              </a:rPr>
              <a:t>Return travel</a:t>
            </a:r>
          </a:p>
        </p:txBody>
      </p:sp>
      <p:sp>
        <p:nvSpPr>
          <p:cNvPr id="12" name="">
            <a:extLst xmlns:a="http://schemas.openxmlformats.org/drawingml/2006/main">
              <a:ext uri="{FF2B5EF4-FFF2-40B4-BE49-F238E27FC236}">
                <a16:creationId xmlns:a16="http://schemas.microsoft.com/office/drawing/2014/main" id="{923E05A9-4644-4887-99D1-8180B425289B}"/>
              </a:ext>
            </a:extLst>
          </p:cNvPr>
          <p:cNvSpPr>
            <a:spLocks xmlns:a="http://schemas.openxmlformats.org/drawingml/2006/main" noGrp="1"/>
          </p:cNvSpPr>
          <p:nvPr/>
        </p:nvSpPr>
        <p:spPr>
          <a:xfrm xmlns:a="http://schemas.openxmlformats.org/drawingml/2006/main">
            <a:off x="4686300" y="34290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Walking, running or public transport. Route estimates stay clearly labelled as guidance.</a:t>
            </a:r>
          </a:p>
        </p:txBody>
      </p:sp>
      <p:sp>
        <p:nvSpPr>
          <p:cNvPr id="13" name="">
            <a:extLst xmlns:a="http://schemas.openxmlformats.org/drawingml/2006/main">
              <a:ext uri="{FF2B5EF4-FFF2-40B4-BE49-F238E27FC236}">
                <a16:creationId xmlns:a16="http://schemas.microsoft.com/office/drawing/2014/main" id="{A7291451-8649-4F12-8E01-6F4204A7127B}"/>
              </a:ext>
            </a:extLst>
          </p:cNvPr>
          <p:cNvSpPr>
            <a:spLocks xmlns:a="http://schemas.openxmlformats.org/drawingml/2006/main" noGrp="1"/>
          </p:cNvSpPr>
          <p:nvPr/>
        </p:nvSpPr>
        <p:spPr>
          <a:xfrm xmlns:a="http://schemas.openxmlformats.org/drawingml/2006/main">
            <a:off x="8039100" y="2171700"/>
            <a:ext cx="2705100" cy="2419350"/>
          </a:xfrm>
          <a:prstGeom xmlns:a="http://schemas.openxmlformats.org/drawingml/2006/main" prst="rect">
            <a:avLst/>
          </a:prstGeom>
          <a:solidFill xmlns:a="http://schemas.openxmlformats.org/drawingml/2006/main">
            <a:srgbClr val="FFFFFF"/>
          </a:solidFill>
          <a:ln xmlns:a="http://schemas.openxmlformats.org/drawingml/2006/main" w="9525">
            <a:solidFill>
              <a:srgbClr val="B8D8CB"/>
            </a:solidFill>
          </a:ln>
        </p:spPr>
      </p:sp>
      <p:sp>
        <p:nvSpPr>
          <p:cNvPr id="14" name="">
            <a:extLst xmlns:a="http://schemas.openxmlformats.org/drawingml/2006/main">
              <a:ext uri="{FF2B5EF4-FFF2-40B4-BE49-F238E27FC236}">
                <a16:creationId xmlns:a16="http://schemas.microsoft.com/office/drawing/2014/main" id="{B5BCD6E7-AF14-4C17-AA11-C0E907485699}"/>
              </a:ext>
            </a:extLst>
          </p:cNvPr>
          <p:cNvSpPr>
            <a:spLocks xmlns:a="http://schemas.openxmlformats.org/drawingml/2006/main" noGrp="1"/>
          </p:cNvSpPr>
          <p:nvPr/>
        </p:nvSpPr>
        <p:spPr>
          <a:xfrm xmlns:a="http://schemas.openxmlformats.org/drawingml/2006/main">
            <a:off x="83439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3. A SENSIBLE CHOICE</a:t>
            </a:r>
          </a:p>
        </p:txBody>
      </p:sp>
      <p:sp>
        <p:nvSpPr>
          <p:cNvPr id="15" name="">
            <a:extLst xmlns:a="http://schemas.openxmlformats.org/drawingml/2006/main">
              <a:ext uri="{FF2B5EF4-FFF2-40B4-BE49-F238E27FC236}">
                <a16:creationId xmlns:a16="http://schemas.microsoft.com/office/drawing/2014/main" id="{D36FE5A2-D21C-435A-B7FF-1ED66193D434}"/>
              </a:ext>
            </a:extLst>
          </p:cNvPr>
          <p:cNvSpPr>
            <a:spLocks xmlns:a="http://schemas.openxmlformats.org/drawingml/2006/main" noGrp="1"/>
          </p:cNvSpPr>
          <p:nvPr/>
        </p:nvSpPr>
        <p:spPr>
          <a:xfrm xmlns:a="http://schemas.openxmlformats.org/drawingml/2006/main">
            <a:off x="8343900" y="2952750"/>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950" b="1">
                <a:solidFill>
                  <a:srgbClr val="143F50"/>
                </a:solidFill>
                <a:latin typeface="Bitstream Charter"/>
                <a:ea typeface="Bitstream Charter"/>
                <a:cs typeface="Bitstream Charter"/>
              </a:defRPr>
            </a:pPr>
            <a:r>
              <a:rPr sz="1950" b="1">
                <a:solidFill>
                  <a:srgbClr val="143F50"/>
                </a:solidFill>
                <a:latin typeface="Bitstream Charter"/>
                <a:ea typeface="Bitstream Charter"/>
                <a:cs typeface="Bitstream Charter"/>
              </a:rPr>
              <a:t>Move or swap</a:t>
            </a:r>
          </a:p>
        </p:txBody>
      </p:sp>
      <p:sp>
        <p:nvSpPr>
          <p:cNvPr id="16" name="">
            <a:extLst xmlns:a="http://schemas.openxmlformats.org/drawingml/2006/main">
              <a:ext uri="{FF2B5EF4-FFF2-40B4-BE49-F238E27FC236}">
                <a16:creationId xmlns:a16="http://schemas.microsoft.com/office/drawing/2014/main" id="{B82D07F5-354C-464E-808D-D7DE8503359F}"/>
              </a:ext>
            </a:extLst>
          </p:cNvPr>
          <p:cNvSpPr>
            <a:spLocks xmlns:a="http://schemas.openxmlformats.org/drawingml/2006/main" noGrp="1"/>
          </p:cNvSpPr>
          <p:nvPr/>
        </p:nvSpPr>
        <p:spPr>
          <a:xfrm xmlns:a="http://schemas.openxmlformats.org/drawingml/2006/main">
            <a:off x="8343900" y="34290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If less than 10 minutes remain, the app suggests a closer documented place instead.</a:t>
            </a:r>
          </a:p>
        </p:txBody>
      </p:sp>
      <p:sp>
        <p:nvSpPr>
          <p:cNvPr id="17" name="">
            <a:extLst xmlns:a="http://schemas.openxmlformats.org/drawingml/2006/main">
              <a:ext uri="{FF2B5EF4-FFF2-40B4-BE49-F238E27FC236}">
                <a16:creationId xmlns:a16="http://schemas.microsoft.com/office/drawing/2014/main" id="{CA70EB95-82C6-4DA6-A216-C8D91DA86F8B}"/>
              </a:ext>
            </a:extLst>
          </p:cNvPr>
          <p:cNvSpPr>
            <a:spLocks xmlns:a="http://schemas.openxmlformats.org/drawingml/2006/main" noGrp="1"/>
          </p:cNvSpPr>
          <p:nvPr/>
        </p:nvSpPr>
        <p:spPr>
          <a:xfrm xmlns:a="http://schemas.openxmlformats.org/drawingml/2006/main">
            <a:off x="1181100" y="53530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67D73"/>
                </a:solidFill>
                <a:latin typeface="Bitstream Charter"/>
                <a:ea typeface="Bitstream Charter"/>
                <a:cs typeface="Bitstream Charter"/>
              </a:defRPr>
            </a:pPr>
            <a:r>
              <a:rPr sz="1650" b="1">
                <a:solidFill>
                  <a:srgbClr val="167D73"/>
                </a:solidFill>
                <a:latin typeface="Bitstream Charter"/>
                <a:ea typeface="Bitstream Charter"/>
                <a:cs typeface="Bitstream Charter"/>
              </a:rPr>
              <a:t>When a place fits, the person sees a warm-up, main movement, control and ease-out outline for the time left.</a:t>
            </a:r>
          </a:p>
        </p:txBody>
      </p:sp>
      <p:sp>
        <p:nvSpPr>
          <p:cNvPr id="18" name="">
            <a:extLst xmlns:a="http://schemas.openxmlformats.org/drawingml/2006/main">
              <a:ext uri="{FF2B5EF4-FFF2-40B4-BE49-F238E27FC236}">
                <a16:creationId xmlns:a16="http://schemas.microsoft.com/office/drawing/2014/main" id="{4D13EBDD-C876-436D-A1A1-F9FD4EA81938}"/>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9" name="">
            <a:extLst xmlns:a="http://schemas.openxmlformats.org/drawingml/2006/main">
              <a:ext uri="{FF2B5EF4-FFF2-40B4-BE49-F238E27FC236}">
                <a16:creationId xmlns:a16="http://schemas.microsoft.com/office/drawing/2014/main" id="{B7FC911F-C266-4ABD-B520-57EA8C8E5BAE}"/>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0" name="">
            <a:extLst xmlns:a="http://schemas.openxmlformats.org/drawingml/2006/main">
              <a:ext uri="{FF2B5EF4-FFF2-40B4-BE49-F238E27FC236}">
                <a16:creationId xmlns:a16="http://schemas.microsoft.com/office/drawing/2014/main" id="{D0E1ED34-5455-40CC-A586-A3FBD1F00690}"/>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06</a:t>
            </a:r>
          </a:p>
        </p:txBody>
      </p:sp>
    </p:spTree>
    <p:extLst>
      <p:ext uri="{BB962C8B-B14F-4D97-AF65-F5344CB8AC3E}">
        <p14:creationId xmlns:p14="http://schemas.microsoft.com/office/powerpoint/2010/main" val="1632838514"/>
      </p:ext>
    </p:extLst>
  </p:cSld>
</p:sld>
</file>

<file path=ppt/slides/slide7.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928BFA6-99CD-4C49-9BE3-8C987210B4AD}"/>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A private diary, not a health record</a:t>
            </a:r>
          </a:p>
        </p:txBody>
      </p:sp>
      <p:sp>
        <p:nvSpPr>
          <p:cNvPr id="2" name="">
            <a:extLst xmlns:a="http://schemas.openxmlformats.org/drawingml/2006/main">
              <a:ext uri="{FF2B5EF4-FFF2-40B4-BE49-F238E27FC236}">
                <a16:creationId xmlns:a16="http://schemas.microsoft.com/office/drawing/2014/main" id="{9953C7F1-9D72-459E-A3D8-38CBEE1C8DB7}"/>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After moving, a person can pause, choose how it felt and leave an optional note for themselves.</a:t>
            </a:r>
          </a:p>
        </p:txBody>
      </p:sp>
      <p:sp>
        <p:nvSpPr>
          <p:cNvPr id="3" name="">
            <a:extLst xmlns:a="http://schemas.openxmlformats.org/drawingml/2006/main">
              <a:ext uri="{FF2B5EF4-FFF2-40B4-BE49-F238E27FC236}">
                <a16:creationId xmlns:a16="http://schemas.microsoft.com/office/drawing/2014/main" id="{7DF217D2-10B9-4EE8-9A22-201C16B2FC69}"/>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83840f9aeeb420a"/>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2E586D0-EAC3-4EA0-A066-42F327E105F9}"/>
              </a:ext>
            </a:extLst>
          </p:cNvPr>
          <p:cNvSpPr>
            <a:spLocks xmlns:a="http://schemas.openxmlformats.org/drawingml/2006/main" noGrp="1"/>
          </p:cNvSpPr>
          <p:nvPr/>
        </p:nvSpPr>
        <p:spPr>
          <a:xfrm xmlns:a="http://schemas.openxmlformats.org/drawingml/2006/main">
            <a:off x="723900" y="2171700"/>
            <a:ext cx="4267200" cy="2800350"/>
          </a:xfrm>
          <a:prstGeom xmlns:a="http://schemas.openxmlformats.org/drawingml/2006/main" prst="rect">
            <a:avLst/>
          </a:prstGeom>
          <a:solidFill xmlns:a="http://schemas.openxmlformats.org/drawingml/2006/main">
            <a:srgbClr val="EEF8F7"/>
          </a:solidFill>
          <a:ln xmlns:a="http://schemas.openxmlformats.org/drawingml/2006/main" w="9525">
            <a:solidFill>
              <a:srgbClr val="BFDBE2"/>
            </a:solidFill>
          </a:ln>
        </p:spPr>
      </p:sp>
      <p:sp>
        <p:nvSpPr>
          <p:cNvPr id="6" name="">
            <a:extLst xmlns:a="http://schemas.openxmlformats.org/drawingml/2006/main">
              <a:ext uri="{FF2B5EF4-FFF2-40B4-BE49-F238E27FC236}">
                <a16:creationId xmlns:a16="http://schemas.microsoft.com/office/drawing/2014/main" id="{66DC54D9-CAB4-4C57-8E7E-778A87D1CBE7}"/>
              </a:ext>
            </a:extLst>
          </p:cNvPr>
          <p:cNvSpPr>
            <a:spLocks xmlns:a="http://schemas.openxmlformats.org/drawingml/2006/main" noGrp="1"/>
          </p:cNvSpPr>
          <p:nvPr/>
        </p:nvSpPr>
        <p:spPr>
          <a:xfrm xmlns:a="http://schemas.openxmlformats.org/drawingml/2006/main">
            <a:off x="102870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AFTER AN ACTIVITY</a:t>
            </a:r>
          </a:p>
        </p:txBody>
      </p:sp>
      <p:sp>
        <p:nvSpPr>
          <p:cNvPr id="7" name="">
            <a:extLst xmlns:a="http://schemas.openxmlformats.org/drawingml/2006/main">
              <a:ext uri="{FF2B5EF4-FFF2-40B4-BE49-F238E27FC236}">
                <a16:creationId xmlns:a16="http://schemas.microsoft.com/office/drawing/2014/main" id="{69F5F3D6-D095-4CDB-A7D3-729680E3BD09}"/>
              </a:ext>
            </a:extLst>
          </p:cNvPr>
          <p:cNvSpPr>
            <a:spLocks xmlns:a="http://schemas.openxmlformats.org/drawingml/2006/main" noGrp="1"/>
          </p:cNvSpPr>
          <p:nvPr/>
        </p:nvSpPr>
        <p:spPr>
          <a:xfrm xmlns:a="http://schemas.openxmlformats.org/drawingml/2006/main">
            <a:off x="1028700" y="2971800"/>
            <a:ext cx="3333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“How did that feel?”</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Energised · calmer · about the same</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Tired · drained</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Optional private note</a:t>
            </a:r>
          </a:p>
        </p:txBody>
      </p:sp>
      <p:sp>
        <p:nvSpPr>
          <p:cNvPr id="8" name="">
            <a:extLst xmlns:a="http://schemas.openxmlformats.org/drawingml/2006/main">
              <a:ext uri="{FF2B5EF4-FFF2-40B4-BE49-F238E27FC236}">
                <a16:creationId xmlns:a16="http://schemas.microsoft.com/office/drawing/2014/main" id="{8EC81E0A-3529-4FEA-8D24-9314A73945F3}"/>
              </a:ext>
            </a:extLst>
          </p:cNvPr>
          <p:cNvSpPr>
            <a:spLocks xmlns:a="http://schemas.openxmlformats.org/drawingml/2006/main" noGrp="1"/>
          </p:cNvSpPr>
          <p:nvPr/>
        </p:nvSpPr>
        <p:spPr>
          <a:xfrm xmlns:a="http://schemas.openxmlformats.org/drawingml/2006/main">
            <a:off x="6038850" y="2171700"/>
            <a:ext cx="4705350" cy="2800350"/>
          </a:xfrm>
          <a:prstGeom xmlns:a="http://schemas.openxmlformats.org/drawingml/2006/main" prst="rect">
            <a:avLst/>
          </a:prstGeom>
          <a:solidFill xmlns:a="http://schemas.openxmlformats.org/drawingml/2006/main">
            <a:srgbClr val="F3FBFF"/>
          </a:solidFill>
          <a:ln xmlns:a="http://schemas.openxmlformats.org/drawingml/2006/main" w="9525">
            <a:solidFill>
              <a:srgbClr val="BFDBE2"/>
            </a:solidFill>
          </a:ln>
        </p:spPr>
      </p:sp>
      <p:sp>
        <p:nvSpPr>
          <p:cNvPr id="9" name="">
            <a:extLst xmlns:a="http://schemas.openxmlformats.org/drawingml/2006/main">
              <a:ext uri="{FF2B5EF4-FFF2-40B4-BE49-F238E27FC236}">
                <a16:creationId xmlns:a16="http://schemas.microsoft.com/office/drawing/2014/main" id="{480147D4-A254-4B56-A0E3-ABF614CC503C}"/>
              </a:ext>
            </a:extLst>
          </p:cNvPr>
          <p:cNvSpPr>
            <a:spLocks xmlns:a="http://schemas.openxmlformats.org/drawingml/2006/main" noGrp="1"/>
          </p:cNvSpPr>
          <p:nvPr/>
        </p:nvSpPr>
        <p:spPr>
          <a:xfrm xmlns:a="http://schemas.openxmlformats.org/drawingml/2006/main">
            <a:off x="6343650" y="24955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A GENTLE WEEKLY VIEW</a:t>
            </a:r>
          </a:p>
        </p:txBody>
      </p:sp>
      <p:sp>
        <p:nvSpPr>
          <p:cNvPr id="10" name="">
            <a:extLst xmlns:a="http://schemas.openxmlformats.org/drawingml/2006/main">
              <a:ext uri="{FF2B5EF4-FFF2-40B4-BE49-F238E27FC236}">
                <a16:creationId xmlns:a16="http://schemas.microsoft.com/office/drawing/2014/main" id="{67FCA772-CB99-4ADB-9B59-4A331BF7F9C9}"/>
              </a:ext>
            </a:extLst>
          </p:cNvPr>
          <p:cNvSpPr>
            <a:spLocks xmlns:a="http://schemas.openxmlformats.org/drawingml/2006/main" noGrp="1"/>
          </p:cNvSpPr>
          <p:nvPr/>
        </p:nvSpPr>
        <p:spPr>
          <a:xfrm xmlns:a="http://schemas.openxmlformats.org/drawingml/2006/main">
            <a:off x="6343650" y="2971800"/>
            <a:ext cx="352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A few check-ins become a simple picture of the week: movement days, a familiar place and one modest next step.</a:t>
            </a:r>
          </a:p>
        </p:txBody>
      </p:sp>
      <p:sp>
        <p:nvSpPr>
          <p:cNvPr id="11" name="">
            <a:extLst xmlns:a="http://schemas.openxmlformats.org/drawingml/2006/main">
              <a:ext uri="{FF2B5EF4-FFF2-40B4-BE49-F238E27FC236}">
                <a16:creationId xmlns:a16="http://schemas.microsoft.com/office/drawing/2014/main" id="{69C9731B-FCC5-4356-A6F5-41AC82096E30}"/>
              </a:ext>
            </a:extLst>
          </p:cNvPr>
          <p:cNvSpPr>
            <a:spLocks xmlns:a="http://schemas.openxmlformats.org/drawingml/2006/main" noGrp="1"/>
          </p:cNvSpPr>
          <p:nvPr/>
        </p:nvSpPr>
        <p:spPr>
          <a:xfrm xmlns:a="http://schemas.openxmlformats.org/drawingml/2006/main">
            <a:off x="6343650" y="4286250"/>
            <a:ext cx="339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456773"/>
                </a:solidFill>
                <a:latin typeface="Bitstream Charter"/>
                <a:ea typeface="Bitstream Charter"/>
                <a:cs typeface="Bitstream Charter"/>
              </a:defRPr>
            </a:pPr>
            <a:r>
              <a:rPr sz="1125" b="0">
                <a:solidFill>
                  <a:srgbClr val="456773"/>
                </a:solidFill>
                <a:latin typeface="Bitstream Charter"/>
                <a:ea typeface="Bitstream Charter"/>
                <a:cs typeface="Bitstream Charter"/>
              </a:rPr>
              <a:t>Separate profiles can stay on one device. Saving is optional and local.</a:t>
            </a:r>
          </a:p>
        </p:txBody>
      </p:sp>
      <p:sp>
        <p:nvSpPr>
          <p:cNvPr id="12" name="">
            <a:extLst xmlns:a="http://schemas.openxmlformats.org/drawingml/2006/main">
              <a:ext uri="{FF2B5EF4-FFF2-40B4-BE49-F238E27FC236}">
                <a16:creationId xmlns:a16="http://schemas.microsoft.com/office/drawing/2014/main" id="{78F76FBC-0157-413A-B519-6F2B1E4E0965}"/>
              </a:ext>
            </a:extLst>
          </p:cNvPr>
          <p:cNvSpPr>
            <a:spLocks xmlns:a="http://schemas.openxmlformats.org/drawingml/2006/main" noGrp="1"/>
          </p:cNvSpPr>
          <p:nvPr/>
        </p:nvSpPr>
        <p:spPr>
          <a:xfrm xmlns:a="http://schemas.openxmlformats.org/drawingml/2006/main">
            <a:off x="723900" y="5314950"/>
            <a:ext cx="10020300" cy="457200"/>
          </a:xfrm>
          <a:prstGeom xmlns:a="http://schemas.openxmlformats.org/drawingml/2006/main" prst="rect">
            <a:avLst/>
          </a:prstGeom>
          <a:solidFill xmlns:a="http://schemas.openxmlformats.org/drawingml/2006/main">
            <a:srgbClr val="F4FAEF"/>
          </a:solidFill>
          <a:ln xmlns:a="http://schemas.openxmlformats.org/drawingml/2006/main" w="9525">
            <a:solidFill>
              <a:srgbClr val="B8D8CB"/>
            </a:solidFill>
          </a:ln>
        </p:spPr>
      </p:sp>
      <p:sp>
        <p:nvSpPr>
          <p:cNvPr id="13" name="">
            <a:extLst xmlns:a="http://schemas.openxmlformats.org/drawingml/2006/main">
              <a:ext uri="{FF2B5EF4-FFF2-40B4-BE49-F238E27FC236}">
                <a16:creationId xmlns:a16="http://schemas.microsoft.com/office/drawing/2014/main" id="{8024A060-5870-485E-8057-9FDE6042D6F2}"/>
              </a:ext>
            </a:extLst>
          </p:cNvPr>
          <p:cNvSpPr>
            <a:spLocks xmlns:a="http://schemas.openxmlformats.org/drawingml/2006/main" noGrp="1"/>
          </p:cNvSpPr>
          <p:nvPr/>
        </p:nvSpPr>
        <p:spPr>
          <a:xfrm xmlns:a="http://schemas.openxmlformats.org/drawingml/2006/main">
            <a:off x="1028700" y="5448300"/>
            <a:ext cx="866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1">
                <a:solidFill>
                  <a:srgbClr val="167D73"/>
                </a:solidFill>
                <a:latin typeface="Bitstream Charter"/>
                <a:ea typeface="Bitstream Charter"/>
                <a:cs typeface="Bitstream Charter"/>
              </a:defRPr>
            </a:pPr>
            <a:r>
              <a:rPr sz="1200" b="1">
                <a:solidFill>
                  <a:srgbClr val="167D73"/>
                </a:solidFill>
                <a:latin typeface="Bitstream Charter"/>
                <a:ea typeface="Bitstream Charter"/>
                <a:cs typeface="Bitstream Charter"/>
              </a:rPr>
              <a:t>No diagnosis, health score, provider sharing or clinical record.</a:t>
            </a:r>
          </a:p>
        </p:txBody>
      </p:sp>
      <p:sp>
        <p:nvSpPr>
          <p:cNvPr id="14" name="">
            <a:extLst xmlns:a="http://schemas.openxmlformats.org/drawingml/2006/main">
              <a:ext uri="{FF2B5EF4-FFF2-40B4-BE49-F238E27FC236}">
                <a16:creationId xmlns:a16="http://schemas.microsoft.com/office/drawing/2014/main" id="{C7D8E0D5-C9C6-4DD0-9C42-6DF1188A3199}"/>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5" name="">
            <a:extLst xmlns:a="http://schemas.openxmlformats.org/drawingml/2006/main">
              <a:ext uri="{FF2B5EF4-FFF2-40B4-BE49-F238E27FC236}">
                <a16:creationId xmlns:a16="http://schemas.microsoft.com/office/drawing/2014/main" id="{4EFA2E4E-E3A2-4DC7-A096-B2D11C6D931F}"/>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6" name="">
            <a:extLst xmlns:a="http://schemas.openxmlformats.org/drawingml/2006/main">
              <a:ext uri="{FF2B5EF4-FFF2-40B4-BE49-F238E27FC236}">
                <a16:creationId xmlns:a16="http://schemas.microsoft.com/office/drawing/2014/main" id="{04D22498-759A-419D-8B79-B7AC507FC766}"/>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07</a:t>
            </a:r>
          </a:p>
        </p:txBody>
      </p:sp>
    </p:spTree>
    <p:extLst>
      <p:ext uri="{BB962C8B-B14F-4D97-AF65-F5344CB8AC3E}">
        <p14:creationId xmlns:p14="http://schemas.microsoft.com/office/powerpoint/2010/main" val="853748173"/>
      </p:ext>
    </p:extLst>
  </p:cSld>
</p:sld>
</file>

<file path=ppt/slides/slide8.xml><?xml version="1.0" encoding="utf-8"?>
<p:sld xmlns:p="http://schemas.openxmlformats.org/presentationml/2006/main">
  <p:cSld>
    <p:bg>
      <p:bgPr>
        <a:solidFill xmlns:a="http://schemas.openxmlformats.org/drawingml/2006/main">
          <a:srgbClr val="F3FB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13C33C3-CFA3-40D9-8C2D-D52E558E778D}"/>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Keeping the map useful takes a real review process</a:t>
            </a:r>
          </a:p>
        </p:txBody>
      </p:sp>
      <p:sp>
        <p:nvSpPr>
          <p:cNvPr id="2" name="">
            <a:extLst xmlns:a="http://schemas.openxmlformats.org/drawingml/2006/main">
              <a:ext uri="{FF2B5EF4-FFF2-40B4-BE49-F238E27FC236}">
                <a16:creationId xmlns:a16="http://schemas.microsoft.com/office/drawing/2014/main" id="{D122355E-93D6-4EAE-AFFE-D22A37F65138}"/>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Visitors can help surface changes, but no report or suggestion becomes a public map update automatically.</a:t>
            </a:r>
          </a:p>
        </p:txBody>
      </p:sp>
      <p:sp>
        <p:nvSpPr>
          <p:cNvPr id="3" name="">
            <a:extLst xmlns:a="http://schemas.openxmlformats.org/drawingml/2006/main">
              <a:ext uri="{FF2B5EF4-FFF2-40B4-BE49-F238E27FC236}">
                <a16:creationId xmlns:a16="http://schemas.microsoft.com/office/drawing/2014/main" id="{D991132F-A474-4452-9FC8-D4FB668DE811}"/>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856a73fb42b491b"/>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23D3A70-7123-48BF-8435-916D8E16E989}"/>
              </a:ext>
            </a:extLst>
          </p:cNvPr>
          <p:cNvSpPr>
            <a:spLocks xmlns:a="http://schemas.openxmlformats.org/drawingml/2006/main" noGrp="1"/>
          </p:cNvSpPr>
          <p:nvPr/>
        </p:nvSpPr>
        <p:spPr>
          <a:xfrm xmlns:a="http://schemas.openxmlformats.org/drawingml/2006/main">
            <a:off x="838200" y="2209800"/>
            <a:ext cx="400050" cy="400050"/>
          </a:xfrm>
          <a:prstGeom xmlns:a="http://schemas.openxmlformats.org/drawingml/2006/main" prst="ellipse">
            <a:avLst/>
          </a:prstGeom>
          <a:solidFill xmlns:a="http://schemas.openxmlformats.org/drawingml/2006/main">
            <a:srgbClr val="1599D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EA3F91-6562-40D1-8DFB-6BB2DBB18164}"/>
              </a:ext>
            </a:extLst>
          </p:cNvPr>
          <p:cNvSpPr>
            <a:spLocks xmlns:a="http://schemas.openxmlformats.org/drawingml/2006/main" noGrp="1"/>
          </p:cNvSpPr>
          <p:nvPr/>
        </p:nvSpPr>
        <p:spPr>
          <a:xfrm xmlns:a="http://schemas.openxmlformats.org/drawingml/2006/main">
            <a:off x="942975" y="232410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1</a:t>
            </a:r>
          </a:p>
        </p:txBody>
      </p:sp>
      <p:sp>
        <p:nvSpPr>
          <p:cNvPr id="7" name="">
            <a:extLst xmlns:a="http://schemas.openxmlformats.org/drawingml/2006/main">
              <a:ext uri="{FF2B5EF4-FFF2-40B4-BE49-F238E27FC236}">
                <a16:creationId xmlns:a16="http://schemas.microsoft.com/office/drawing/2014/main" id="{6B903FC7-BEF2-4DD8-8D8E-4F2AE2FB587E}"/>
              </a:ext>
            </a:extLst>
          </p:cNvPr>
          <p:cNvSpPr>
            <a:spLocks xmlns:a="http://schemas.openxmlformats.org/drawingml/2006/main" noGrp="1"/>
          </p:cNvSpPr>
          <p:nvPr/>
        </p:nvSpPr>
        <p:spPr>
          <a:xfrm xmlns:a="http://schemas.openxmlformats.org/drawingml/2006/main">
            <a:off x="1504950" y="21717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Private report</a:t>
            </a:r>
          </a:p>
        </p:txBody>
      </p:sp>
      <p:sp>
        <p:nvSpPr>
          <p:cNvPr id="8" name="">
            <a:extLst xmlns:a="http://schemas.openxmlformats.org/drawingml/2006/main">
              <a:ext uri="{FF2B5EF4-FFF2-40B4-BE49-F238E27FC236}">
                <a16:creationId xmlns:a16="http://schemas.microsoft.com/office/drawing/2014/main" id="{6C7DCF64-48F4-4F6E-B073-B1F85569DA22}"/>
              </a:ext>
            </a:extLst>
          </p:cNvPr>
          <p:cNvSpPr>
            <a:spLocks xmlns:a="http://schemas.openxmlformats.org/drawingml/2006/main" noGrp="1"/>
          </p:cNvSpPr>
          <p:nvPr/>
        </p:nvSpPr>
        <p:spPr>
          <a:xfrm xmlns:a="http://schemas.openxmlformats.org/drawingml/2006/main">
            <a:off x="1504950" y="2533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Equipment condition, description accuracy, busyness or broad visitor mix.</a:t>
            </a:r>
          </a:p>
        </p:txBody>
      </p:sp>
      <p:sp>
        <p:nvSpPr>
          <p:cNvPr id="9" name="">
            <a:extLst xmlns:a="http://schemas.openxmlformats.org/drawingml/2006/main">
              <a:ext uri="{FF2B5EF4-FFF2-40B4-BE49-F238E27FC236}">
                <a16:creationId xmlns:a16="http://schemas.microsoft.com/office/drawing/2014/main" id="{F1936DB7-07DF-40DE-A7A4-E0C57D6ABC45}"/>
              </a:ext>
            </a:extLst>
          </p:cNvPr>
          <p:cNvSpPr>
            <a:spLocks xmlns:a="http://schemas.openxmlformats.org/drawingml/2006/main" noGrp="1"/>
          </p:cNvSpPr>
          <p:nvPr/>
        </p:nvSpPr>
        <p:spPr>
          <a:xfrm xmlns:a="http://schemas.openxmlformats.org/drawingml/2006/main">
            <a:off x="838200" y="3200400"/>
            <a:ext cx="400050" cy="400050"/>
          </a:xfrm>
          <a:prstGeom xmlns:a="http://schemas.openxmlformats.org/drawingml/2006/main" prst="ellipse">
            <a:avLst/>
          </a:prstGeom>
          <a:solidFill xmlns:a="http://schemas.openxmlformats.org/drawingml/2006/main">
            <a:srgbClr val="167D7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A4277F9-A5EE-4C3D-BD39-516579418AD8}"/>
              </a:ext>
            </a:extLst>
          </p:cNvPr>
          <p:cNvSpPr>
            <a:spLocks xmlns:a="http://schemas.openxmlformats.org/drawingml/2006/main" noGrp="1"/>
          </p:cNvSpPr>
          <p:nvPr/>
        </p:nvSpPr>
        <p:spPr>
          <a:xfrm xmlns:a="http://schemas.openxmlformats.org/drawingml/2006/main">
            <a:off x="942975" y="331470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2</a:t>
            </a:r>
          </a:p>
        </p:txBody>
      </p:sp>
      <p:sp>
        <p:nvSpPr>
          <p:cNvPr id="11" name="">
            <a:extLst xmlns:a="http://schemas.openxmlformats.org/drawingml/2006/main">
              <a:ext uri="{FF2B5EF4-FFF2-40B4-BE49-F238E27FC236}">
                <a16:creationId xmlns:a16="http://schemas.microsoft.com/office/drawing/2014/main" id="{1E53E4B8-EB2A-447E-BE75-3D764D0459A3}"/>
              </a:ext>
            </a:extLst>
          </p:cNvPr>
          <p:cNvSpPr>
            <a:spLocks xmlns:a="http://schemas.openxmlformats.org/drawingml/2006/main" noGrp="1"/>
          </p:cNvSpPr>
          <p:nvPr/>
        </p:nvSpPr>
        <p:spPr>
          <a:xfrm xmlns:a="http://schemas.openxmlformats.org/drawingml/2006/main">
            <a:off x="1504950" y="3162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Place suggestion</a:t>
            </a:r>
          </a:p>
        </p:txBody>
      </p:sp>
      <p:sp>
        <p:nvSpPr>
          <p:cNvPr id="12" name="">
            <a:extLst xmlns:a="http://schemas.openxmlformats.org/drawingml/2006/main">
              <a:ext uri="{FF2B5EF4-FFF2-40B4-BE49-F238E27FC236}">
                <a16:creationId xmlns:a16="http://schemas.microsoft.com/office/drawing/2014/main" id="{A3BFFEFC-337C-4D66-90B9-BA5B7749B191}"/>
              </a:ext>
            </a:extLst>
          </p:cNvPr>
          <p:cNvSpPr>
            <a:spLocks xmlns:a="http://schemas.openxmlformats.org/drawingml/2006/main" noGrp="1"/>
          </p:cNvSpPr>
          <p:nvPr/>
        </p:nvSpPr>
        <p:spPr>
          <a:xfrm xmlns:a="http://schemas.openxmlformats.org/drawingml/2006/main">
            <a:off x="1504950" y="3524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A public place, approximate area and a public source or map link.</a:t>
            </a:r>
          </a:p>
        </p:txBody>
      </p:sp>
      <p:sp>
        <p:nvSpPr>
          <p:cNvPr id="13" name="">
            <a:extLst xmlns:a="http://schemas.openxmlformats.org/drawingml/2006/main">
              <a:ext uri="{FF2B5EF4-FFF2-40B4-BE49-F238E27FC236}">
                <a16:creationId xmlns:a16="http://schemas.microsoft.com/office/drawing/2014/main" id="{F1D76231-432F-49CC-82DE-B36006739E58}"/>
              </a:ext>
            </a:extLst>
          </p:cNvPr>
          <p:cNvSpPr>
            <a:spLocks xmlns:a="http://schemas.openxmlformats.org/drawingml/2006/main" noGrp="1"/>
          </p:cNvSpPr>
          <p:nvPr/>
        </p:nvSpPr>
        <p:spPr>
          <a:xfrm xmlns:a="http://schemas.openxmlformats.org/drawingml/2006/main">
            <a:off x="838200" y="4191000"/>
            <a:ext cx="400050" cy="400050"/>
          </a:xfrm>
          <a:prstGeom xmlns:a="http://schemas.openxmlformats.org/drawingml/2006/main" prst="ellipse">
            <a:avLst/>
          </a:prstGeom>
          <a:solidFill xmlns:a="http://schemas.openxmlformats.org/drawingml/2006/main">
            <a:srgbClr val="4A972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D4FA14-6717-472C-ABD0-BE68499E1D4E}"/>
              </a:ext>
            </a:extLst>
          </p:cNvPr>
          <p:cNvSpPr>
            <a:spLocks xmlns:a="http://schemas.openxmlformats.org/drawingml/2006/main" noGrp="1"/>
          </p:cNvSpPr>
          <p:nvPr/>
        </p:nvSpPr>
        <p:spPr>
          <a:xfrm xmlns:a="http://schemas.openxmlformats.org/drawingml/2006/main">
            <a:off x="942975" y="430530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FFFFFF"/>
                </a:solidFill>
                <a:latin typeface="Bitstream Charter"/>
                <a:ea typeface="Bitstream Charter"/>
                <a:cs typeface="Bitstream Charter"/>
              </a:defRPr>
            </a:pPr>
            <a:r>
              <a:rPr sz="1050" b="1">
                <a:solidFill>
                  <a:srgbClr val="FFFFFF"/>
                </a:solidFill>
                <a:latin typeface="Bitstream Charter"/>
                <a:ea typeface="Bitstream Charter"/>
                <a:cs typeface="Bitstream Charter"/>
              </a:rPr>
              <a:t>3</a:t>
            </a:r>
          </a:p>
        </p:txBody>
      </p:sp>
      <p:sp>
        <p:nvSpPr>
          <p:cNvPr id="15" name="">
            <a:extLst xmlns:a="http://schemas.openxmlformats.org/drawingml/2006/main">
              <a:ext uri="{FF2B5EF4-FFF2-40B4-BE49-F238E27FC236}">
                <a16:creationId xmlns:a16="http://schemas.microsoft.com/office/drawing/2014/main" id="{5B9B2DBF-60F8-45DF-87C2-02D0CFE2A32C}"/>
              </a:ext>
            </a:extLst>
          </p:cNvPr>
          <p:cNvSpPr>
            <a:spLocks xmlns:a="http://schemas.openxmlformats.org/drawingml/2006/main" noGrp="1"/>
          </p:cNvSpPr>
          <p:nvPr/>
        </p:nvSpPr>
        <p:spPr>
          <a:xfrm xmlns:a="http://schemas.openxmlformats.org/drawingml/2006/main">
            <a:off x="1504950" y="41529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650" b="1">
                <a:solidFill>
                  <a:srgbClr val="143F50"/>
                </a:solidFill>
                <a:latin typeface="Bitstream Charter"/>
                <a:ea typeface="Bitstream Charter"/>
                <a:cs typeface="Bitstream Charter"/>
              </a:defRPr>
            </a:pPr>
            <a:r>
              <a:rPr sz="1650" b="1">
                <a:solidFill>
                  <a:srgbClr val="143F50"/>
                </a:solidFill>
                <a:latin typeface="Bitstream Charter"/>
                <a:ea typeface="Bitstream Charter"/>
                <a:cs typeface="Bitstream Charter"/>
              </a:rPr>
              <a:t>Future review</a:t>
            </a:r>
          </a:p>
        </p:txBody>
      </p:sp>
      <p:sp>
        <p:nvSpPr>
          <p:cNvPr id="16" name="">
            <a:extLst xmlns:a="http://schemas.openxmlformats.org/drawingml/2006/main">
              <a:ext uri="{FF2B5EF4-FFF2-40B4-BE49-F238E27FC236}">
                <a16:creationId xmlns:a16="http://schemas.microsoft.com/office/drawing/2014/main" id="{0BADC31E-43C8-4E71-B898-A8E7DE31586C}"/>
              </a:ext>
            </a:extLst>
          </p:cNvPr>
          <p:cNvSpPr>
            <a:spLocks xmlns:a="http://schemas.openxmlformats.org/drawingml/2006/main" noGrp="1"/>
          </p:cNvSpPr>
          <p:nvPr/>
        </p:nvSpPr>
        <p:spPr>
          <a:xfrm xmlns:a="http://schemas.openxmlformats.org/drawingml/2006/main">
            <a:off x="1504950" y="4514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00" b="0">
                <a:solidFill>
                  <a:srgbClr val="456773"/>
                </a:solidFill>
                <a:latin typeface="Bitstream Charter"/>
                <a:ea typeface="Bitstream Charter"/>
                <a:cs typeface="Bitstream Charter"/>
              </a:defRPr>
            </a:pPr>
            <a:r>
              <a:rPr sz="1200" b="0">
                <a:solidFill>
                  <a:srgbClr val="456773"/>
                </a:solidFill>
                <a:latin typeface="Bitstream Charter"/>
                <a:ea typeface="Bitstream Charter"/>
                <a:cs typeface="Bitstream Charter"/>
              </a:rPr>
              <a:t>A named operator checks evidence, access, privacy and moderation before publishing.</a:t>
            </a:r>
          </a:p>
        </p:txBody>
      </p:sp>
      <p:sp>
        <p:nvSpPr>
          <p:cNvPr id="17" name="">
            <a:extLst xmlns:a="http://schemas.openxmlformats.org/drawingml/2006/main">
              <a:ext uri="{FF2B5EF4-FFF2-40B4-BE49-F238E27FC236}">
                <a16:creationId xmlns:a16="http://schemas.microsoft.com/office/drawing/2014/main" id="{BB4CD94C-C2B5-4E96-A237-887BEC0B7C0D}"/>
              </a:ext>
            </a:extLst>
          </p:cNvPr>
          <p:cNvSpPr>
            <a:spLocks xmlns:a="http://schemas.openxmlformats.org/drawingml/2006/main" noGrp="1"/>
          </p:cNvSpPr>
          <p:nvPr/>
        </p:nvSpPr>
        <p:spPr>
          <a:xfrm xmlns:a="http://schemas.openxmlformats.org/drawingml/2006/main">
            <a:off x="6305550" y="2209800"/>
            <a:ext cx="3924300" cy="26479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sp>
        <p:nvSpPr>
          <p:cNvPr id="18" name="">
            <a:extLst xmlns:a="http://schemas.openxmlformats.org/drawingml/2006/main">
              <a:ext uri="{FF2B5EF4-FFF2-40B4-BE49-F238E27FC236}">
                <a16:creationId xmlns:a16="http://schemas.microsoft.com/office/drawing/2014/main" id="{9D5FB322-5404-4E43-87A5-1EBA17737875}"/>
              </a:ext>
            </a:extLst>
          </p:cNvPr>
          <p:cNvSpPr>
            <a:spLocks xmlns:a="http://schemas.openxmlformats.org/drawingml/2006/main" noGrp="1"/>
          </p:cNvSpPr>
          <p:nvPr/>
        </p:nvSpPr>
        <p:spPr>
          <a:xfrm xmlns:a="http://schemas.openxmlformats.org/drawingml/2006/main">
            <a:off x="6648450" y="25527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HAPPENS IN THIS PROTOTYPE</a:t>
            </a:r>
          </a:p>
        </p:txBody>
      </p:sp>
      <p:sp>
        <p:nvSpPr>
          <p:cNvPr id="19" name="">
            <a:extLst xmlns:a="http://schemas.openxmlformats.org/drawingml/2006/main">
              <a:ext uri="{FF2B5EF4-FFF2-40B4-BE49-F238E27FC236}">
                <a16:creationId xmlns:a16="http://schemas.microsoft.com/office/drawing/2014/main" id="{295263C0-C6FC-400B-80A9-6A933637020B}"/>
              </a:ext>
            </a:extLst>
          </p:cNvPr>
          <p:cNvSpPr>
            <a:spLocks xmlns:a="http://schemas.openxmlformats.org/drawingml/2006/main" noGrp="1"/>
          </p:cNvSpPr>
          <p:nvPr/>
        </p:nvSpPr>
        <p:spPr>
          <a:xfrm xmlns:a="http://schemas.openxmlformats.org/drawingml/2006/main">
            <a:off x="6648450" y="3009900"/>
            <a:ext cx="30861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00" b="1">
                <a:solidFill>
                  <a:srgbClr val="143F50"/>
                </a:solidFill>
                <a:latin typeface="Bitstream Charter"/>
                <a:ea typeface="Bitstream Charter"/>
                <a:cs typeface="Bitstream Charter"/>
              </a:defRPr>
            </a:pPr>
            <a:r>
              <a:rPr sz="1500" b="1">
                <a:solidFill>
                  <a:srgbClr val="143F50"/>
                </a:solidFill>
                <a:latin typeface="Bitstream Charter"/>
                <a:ea typeface="Bitstream Charter"/>
                <a:cs typeface="Bitstream Charter"/>
              </a:rPr>
              <a:t>A report or map suggestion stays in the current browser tab. It does not edit the map, create an account, collect documents or verify anyone.</a:t>
            </a:r>
          </a:p>
        </p:txBody>
      </p:sp>
      <p:sp>
        <p:nvSpPr>
          <p:cNvPr id="20" name="">
            <a:extLst xmlns:a="http://schemas.openxmlformats.org/drawingml/2006/main">
              <a:ext uri="{FF2B5EF4-FFF2-40B4-BE49-F238E27FC236}">
                <a16:creationId xmlns:a16="http://schemas.microsoft.com/office/drawing/2014/main" id="{FE7CBDC5-1BBB-4EFC-B2AC-518102471D98}"/>
              </a:ext>
            </a:extLst>
          </p:cNvPr>
          <p:cNvSpPr>
            <a:spLocks xmlns:a="http://schemas.openxmlformats.org/drawingml/2006/main" noGrp="1"/>
          </p:cNvSpPr>
          <p:nvPr/>
        </p:nvSpPr>
        <p:spPr>
          <a:xfrm xmlns:a="http://schemas.openxmlformats.org/drawingml/2006/main">
            <a:off x="6648450" y="44196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0">
                <a:solidFill>
                  <a:srgbClr val="456773"/>
                </a:solidFill>
                <a:latin typeface="Bitstream Charter"/>
                <a:ea typeface="Bitstream Charter"/>
                <a:cs typeface="Bitstream Charter"/>
              </a:defRPr>
            </a:pPr>
            <a:r>
              <a:rPr sz="1050" b="0">
                <a:solidFill>
                  <a:srgbClr val="456773"/>
                </a:solidFill>
                <a:latin typeface="Bitstream Charter"/>
                <a:ea typeface="Bitstream Charter"/>
                <a:cs typeface="Bitstream Charter"/>
              </a:rPr>
              <a:t>A live service needs a named city, NGO or venue operator and trained reviewers.</a:t>
            </a:r>
          </a:p>
        </p:txBody>
      </p:sp>
      <p:sp>
        <p:nvSpPr>
          <p:cNvPr id="21" name="">
            <a:extLst xmlns:a="http://schemas.openxmlformats.org/drawingml/2006/main">
              <a:ext uri="{FF2B5EF4-FFF2-40B4-BE49-F238E27FC236}">
                <a16:creationId xmlns:a16="http://schemas.microsoft.com/office/drawing/2014/main" id="{C8270AC6-B707-4E6D-8B0A-19529961BD4E}"/>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22" name="">
            <a:extLst xmlns:a="http://schemas.openxmlformats.org/drawingml/2006/main">
              <a:ext uri="{FF2B5EF4-FFF2-40B4-BE49-F238E27FC236}">
                <a16:creationId xmlns:a16="http://schemas.microsoft.com/office/drawing/2014/main" id="{BFFF1673-02A9-4B47-B78F-331EFC5F1726}"/>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23" name="">
            <a:extLst xmlns:a="http://schemas.openxmlformats.org/drawingml/2006/main">
              <a:ext uri="{FF2B5EF4-FFF2-40B4-BE49-F238E27FC236}">
                <a16:creationId xmlns:a16="http://schemas.microsoft.com/office/drawing/2014/main" id="{1C0A405C-5B26-4CF7-AB60-C18AB15987AF}"/>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08</a:t>
            </a:r>
          </a:p>
        </p:txBody>
      </p:sp>
    </p:spTree>
    <p:extLst>
      <p:ext uri="{BB962C8B-B14F-4D97-AF65-F5344CB8AC3E}">
        <p14:creationId xmlns:p14="http://schemas.microsoft.com/office/powerpoint/2010/main" val="1411005198"/>
      </p:ext>
    </p:extLst>
  </p:cSld>
</p:sld>
</file>

<file path=ppt/slides/slide9.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0034166-8B03-40AC-9D75-18D63638719D}"/>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The working journey: find a place, then make it fit today</a:t>
            </a:r>
          </a:p>
        </p:txBody>
      </p:sp>
      <p:sp>
        <p:nvSpPr>
          <p:cNvPr id="2" name="">
            <a:extLst xmlns:a="http://schemas.openxmlformats.org/drawingml/2006/main">
              <a:ext uri="{FF2B5EF4-FFF2-40B4-BE49-F238E27FC236}">
                <a16:creationId xmlns:a16="http://schemas.microsoft.com/office/drawing/2014/main" id="{81C93333-7B6C-408B-8F95-636FF297F3E6}"/>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These are real local screenshots from the Kraków prototype, captured without external map, routing or geocoding requests.</a:t>
            </a:r>
          </a:p>
        </p:txBody>
      </p:sp>
      <p:sp>
        <p:nvSpPr>
          <p:cNvPr id="3" name="">
            <a:extLst xmlns:a="http://schemas.openxmlformats.org/drawingml/2006/main">
              <a:ext uri="{FF2B5EF4-FFF2-40B4-BE49-F238E27FC236}">
                <a16:creationId xmlns:a16="http://schemas.microsoft.com/office/drawing/2014/main" id="{897B380C-BE93-4409-88F0-B004D47ABF83}"/>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36ca4d330e341ca"/>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7273AF3-A888-4680-A641-EDA9476AA155}"/>
              </a:ext>
            </a:extLst>
          </p:cNvPr>
          <p:cNvSpPr>
            <a:spLocks xmlns:a="http://schemas.openxmlformats.org/drawingml/2006/main" noGrp="1"/>
          </p:cNvSpPr>
          <p:nvPr/>
        </p:nvSpPr>
        <p:spPr>
          <a:xfrm xmlns:a="http://schemas.openxmlformats.org/drawingml/2006/main">
            <a:off x="676275" y="2257425"/>
            <a:ext cx="50482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d0c6351dfb04124"/>
          <a:stretch xmlns:a="http://schemas.openxmlformats.org/drawingml/2006/main"/>
        </p:blipFill>
        <p:spPr>
          <a:xfrm xmlns:a="http://schemas.openxmlformats.org/drawingml/2006/main">
            <a:off x="730827" y="2305050"/>
            <a:ext cx="4939145" cy="26289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25DC225-2AFE-4EBD-A00A-BD99EACE38E1}"/>
              </a:ext>
            </a:extLst>
          </p:cNvPr>
          <p:cNvSpPr>
            <a:spLocks xmlns:a="http://schemas.openxmlformats.org/drawingml/2006/main" noGrp="1"/>
          </p:cNvSpPr>
          <p:nvPr/>
        </p:nvSpPr>
        <p:spPr>
          <a:xfrm xmlns:a="http://schemas.openxmlformats.org/drawingml/2006/main">
            <a:off x="723900" y="5067300"/>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167D73"/>
                </a:solidFill>
                <a:latin typeface="Bitstream Charter"/>
                <a:ea typeface="Bitstream Charter"/>
                <a:cs typeface="Bitstream Charter"/>
              </a:defRPr>
            </a:pPr>
            <a:r>
              <a:rPr sz="1050" b="1">
                <a:solidFill>
                  <a:srgbClr val="167D73"/>
                </a:solidFill>
                <a:latin typeface="Bitstream Charter"/>
                <a:ea typeface="Bitstream Charter"/>
                <a:cs typeface="Bitstream Charter"/>
              </a:rPr>
              <a:t>Explore: begin with a neighbourhood, street or landmark</a:t>
            </a:r>
          </a:p>
        </p:txBody>
      </p:sp>
      <p:sp>
        <p:nvSpPr>
          <p:cNvPr id="8" name="">
            <a:extLst xmlns:a="http://schemas.openxmlformats.org/drawingml/2006/main">
              <a:ext uri="{FF2B5EF4-FFF2-40B4-BE49-F238E27FC236}">
                <a16:creationId xmlns:a16="http://schemas.microsoft.com/office/drawing/2014/main" id="{5B95E5ED-09D0-43C3-88D8-95F55556DD63}"/>
              </a:ext>
            </a:extLst>
          </p:cNvPr>
          <p:cNvSpPr>
            <a:spLocks xmlns:a="http://schemas.openxmlformats.org/drawingml/2006/main" noGrp="1"/>
          </p:cNvSpPr>
          <p:nvPr/>
        </p:nvSpPr>
        <p:spPr>
          <a:xfrm xmlns:a="http://schemas.openxmlformats.org/drawingml/2006/main">
            <a:off x="6448425" y="2257425"/>
            <a:ext cx="50482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e7adbf3fa5c4e9b"/>
          <a:stretch xmlns:a="http://schemas.openxmlformats.org/drawingml/2006/main"/>
        </p:blipFill>
        <p:spPr>
          <a:xfrm xmlns:a="http://schemas.openxmlformats.org/drawingml/2006/main">
            <a:off x="6502977" y="2305050"/>
            <a:ext cx="4939145" cy="26289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2EA5E13-AF0E-44B7-82E6-68A41235728E}"/>
              </a:ext>
            </a:extLst>
          </p:cNvPr>
          <p:cNvSpPr>
            <a:spLocks xmlns:a="http://schemas.openxmlformats.org/drawingml/2006/main" noGrp="1"/>
          </p:cNvSpPr>
          <p:nvPr/>
        </p:nvSpPr>
        <p:spPr>
          <a:xfrm xmlns:a="http://schemas.openxmlformats.org/drawingml/2006/main">
            <a:off x="6496050" y="5067300"/>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167D73"/>
                </a:solidFill>
                <a:latin typeface="Bitstream Charter"/>
                <a:ea typeface="Bitstream Charter"/>
                <a:cs typeface="Bitstream Charter"/>
              </a:defRPr>
            </a:pPr>
            <a:r>
              <a:rPr sz="1050" b="1">
                <a:solidFill>
                  <a:srgbClr val="167D73"/>
                </a:solidFill>
                <a:latin typeface="Bitstream Charter"/>
                <a:ea typeface="Bitstream Charter"/>
                <a:cs typeface="Bitstream Charter"/>
              </a:rPr>
              <a:t>Plan: use the time available for a specific activity</a:t>
            </a:r>
          </a:p>
        </p:txBody>
      </p:sp>
      <p:sp>
        <p:nvSpPr>
          <p:cNvPr id="11" name="">
            <a:extLst xmlns:a="http://schemas.openxmlformats.org/drawingml/2006/main">
              <a:ext uri="{FF2B5EF4-FFF2-40B4-BE49-F238E27FC236}">
                <a16:creationId xmlns:a16="http://schemas.microsoft.com/office/drawing/2014/main" id="{8A5878A4-5154-4B43-B743-FD2AA3A4A261}"/>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2" name="">
            <a:extLst xmlns:a="http://schemas.openxmlformats.org/drawingml/2006/main">
              <a:ext uri="{FF2B5EF4-FFF2-40B4-BE49-F238E27FC236}">
                <a16:creationId xmlns:a16="http://schemas.microsoft.com/office/drawing/2014/main" id="{253007AC-A7BC-4C4C-8286-819AE02A0EBE}"/>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3" name="">
            <a:extLst xmlns:a="http://schemas.openxmlformats.org/drawingml/2006/main">
              <a:ext uri="{FF2B5EF4-FFF2-40B4-BE49-F238E27FC236}">
                <a16:creationId xmlns:a16="http://schemas.microsoft.com/office/drawing/2014/main" id="{BE01F2D9-2596-4CB1-892D-9D8DEF071476}"/>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09</a:t>
            </a:r>
          </a:p>
        </p:txBody>
      </p:sp>
    </p:spTree>
    <p:extLst>
      <p:ext uri="{BB962C8B-B14F-4D97-AF65-F5344CB8AC3E}">
        <p14:creationId xmlns:p14="http://schemas.microsoft.com/office/powerpoint/2010/main" val="114099648"/>
      </p:ext>
    </p:extLst>
  </p:cSld>
</p:sld>
</file>

<file path=ppt/slides/slide10.xml><?xml version="1.0" encoding="utf-8"?>
<p:sld xmlns:p="http://schemas.openxmlformats.org/presentationml/2006/main">
  <p:cSld>
    <p:bg>
      <p:bgPr>
        <a:solidFill xmlns:a="http://schemas.openxmlformats.org/drawingml/2006/main">
          <a:srgbClr val="EEF8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26BADA-403B-4CD1-B405-251DC6E1D78B}"/>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The working boundaries: private reflection and review-ready updates</a:t>
            </a:r>
          </a:p>
        </p:txBody>
      </p:sp>
      <p:sp>
        <p:nvSpPr>
          <p:cNvPr id="2" name="">
            <a:extLst xmlns:a="http://schemas.openxmlformats.org/drawingml/2006/main">
              <a:ext uri="{FF2B5EF4-FFF2-40B4-BE49-F238E27FC236}">
                <a16:creationId xmlns:a16="http://schemas.microsoft.com/office/drawing/2014/main" id="{3456F871-93C4-43EB-AA56-F566888B3E4A}"/>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app is explicit about what remains private today and what would need a future named review partner.</a:t>
            </a:r>
          </a:p>
        </p:txBody>
      </p:sp>
      <p:sp>
        <p:nvSpPr>
          <p:cNvPr id="3" name="">
            <a:extLst xmlns:a="http://schemas.openxmlformats.org/drawingml/2006/main">
              <a:ext uri="{FF2B5EF4-FFF2-40B4-BE49-F238E27FC236}">
                <a16:creationId xmlns:a16="http://schemas.microsoft.com/office/drawing/2014/main" id="{7B53D63C-98FB-467C-8AEF-60F614B36D57}"/>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54689930a8a4185"/>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5A96F87-BAED-402A-9843-24962870BAB8}"/>
              </a:ext>
            </a:extLst>
          </p:cNvPr>
          <p:cNvSpPr>
            <a:spLocks xmlns:a="http://schemas.openxmlformats.org/drawingml/2006/main" noGrp="1"/>
          </p:cNvSpPr>
          <p:nvPr/>
        </p:nvSpPr>
        <p:spPr>
          <a:xfrm xmlns:a="http://schemas.openxmlformats.org/drawingml/2006/main">
            <a:off x="676275" y="2257425"/>
            <a:ext cx="50482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3e9870713da4a1c"/>
          <a:stretch xmlns:a="http://schemas.openxmlformats.org/drawingml/2006/main"/>
        </p:blipFill>
        <p:spPr>
          <a:xfrm xmlns:a="http://schemas.openxmlformats.org/drawingml/2006/main">
            <a:off x="730827" y="2305050"/>
            <a:ext cx="4939145" cy="26289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F7535CD-468A-497C-BFFC-736B04AA9046}"/>
              </a:ext>
            </a:extLst>
          </p:cNvPr>
          <p:cNvSpPr>
            <a:spLocks xmlns:a="http://schemas.openxmlformats.org/drawingml/2006/main" noGrp="1"/>
          </p:cNvSpPr>
          <p:nvPr/>
        </p:nvSpPr>
        <p:spPr>
          <a:xfrm xmlns:a="http://schemas.openxmlformats.org/drawingml/2006/main">
            <a:off x="723900" y="5067300"/>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167D73"/>
                </a:solidFill>
                <a:latin typeface="Bitstream Charter"/>
                <a:ea typeface="Bitstream Charter"/>
                <a:cs typeface="Bitstream Charter"/>
              </a:defRPr>
            </a:pPr>
            <a:r>
              <a:rPr sz="1050" b="1">
                <a:solidFill>
                  <a:srgbClr val="167D73"/>
                </a:solidFill>
                <a:latin typeface="Bitstream Charter"/>
                <a:ea typeface="Bitstream Charter"/>
                <a:cs typeface="Bitstream Charter"/>
              </a:rPr>
              <a:t>My week: a personal reflection, not a health record</a:t>
            </a:r>
          </a:p>
        </p:txBody>
      </p:sp>
      <p:sp>
        <p:nvSpPr>
          <p:cNvPr id="8" name="">
            <a:extLst xmlns:a="http://schemas.openxmlformats.org/drawingml/2006/main">
              <a:ext uri="{FF2B5EF4-FFF2-40B4-BE49-F238E27FC236}">
                <a16:creationId xmlns:a16="http://schemas.microsoft.com/office/drawing/2014/main" id="{51F988EA-B0B9-4EEA-AF93-CBA0F7387AF2}"/>
              </a:ext>
            </a:extLst>
          </p:cNvPr>
          <p:cNvSpPr>
            <a:spLocks xmlns:a="http://schemas.openxmlformats.org/drawingml/2006/main" noGrp="1"/>
          </p:cNvSpPr>
          <p:nvPr/>
        </p:nvSpPr>
        <p:spPr>
          <a:xfrm xmlns:a="http://schemas.openxmlformats.org/drawingml/2006/main">
            <a:off x="6448425" y="2257425"/>
            <a:ext cx="504825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BFDBE2"/>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28b119f5a3449a9"/>
          <a:stretch xmlns:a="http://schemas.openxmlformats.org/drawingml/2006/main"/>
        </p:blipFill>
        <p:spPr>
          <a:xfrm xmlns:a="http://schemas.openxmlformats.org/drawingml/2006/main">
            <a:off x="6502977" y="2305050"/>
            <a:ext cx="4939145" cy="26289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C46FF77-F1E7-4CD2-A0D4-7D723FC4A627}"/>
              </a:ext>
            </a:extLst>
          </p:cNvPr>
          <p:cNvSpPr>
            <a:spLocks xmlns:a="http://schemas.openxmlformats.org/drawingml/2006/main" noGrp="1"/>
          </p:cNvSpPr>
          <p:nvPr/>
        </p:nvSpPr>
        <p:spPr>
          <a:xfrm xmlns:a="http://schemas.openxmlformats.org/drawingml/2006/main">
            <a:off x="6496050" y="5067300"/>
            <a:ext cx="495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050" b="1">
                <a:solidFill>
                  <a:srgbClr val="167D73"/>
                </a:solidFill>
                <a:latin typeface="Bitstream Charter"/>
                <a:ea typeface="Bitstream Charter"/>
                <a:cs typeface="Bitstream Charter"/>
              </a:defRPr>
            </a:pPr>
            <a:r>
              <a:rPr sz="1050" b="1">
                <a:solidFill>
                  <a:srgbClr val="167D73"/>
                </a:solidFill>
                <a:latin typeface="Bitstream Charter"/>
                <a:ea typeface="Bitstream Charter"/>
                <a:cs typeface="Bitstream Charter"/>
              </a:rPr>
              <a:t>Place update: a browser-only report that cannot change the public map</a:t>
            </a:r>
          </a:p>
        </p:txBody>
      </p:sp>
      <p:sp>
        <p:nvSpPr>
          <p:cNvPr id="11" name="">
            <a:extLst xmlns:a="http://schemas.openxmlformats.org/drawingml/2006/main">
              <a:ext uri="{FF2B5EF4-FFF2-40B4-BE49-F238E27FC236}">
                <a16:creationId xmlns:a16="http://schemas.microsoft.com/office/drawing/2014/main" id="{1EC59F07-92CE-4A5A-8BF1-54CB0CADED29}"/>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2" name="">
            <a:extLst xmlns:a="http://schemas.openxmlformats.org/drawingml/2006/main">
              <a:ext uri="{FF2B5EF4-FFF2-40B4-BE49-F238E27FC236}">
                <a16:creationId xmlns:a16="http://schemas.microsoft.com/office/drawing/2014/main" id="{B007FAA7-7C37-4A72-9ADD-140EE6BF1067}"/>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3" name="">
            <a:extLst xmlns:a="http://schemas.openxmlformats.org/drawingml/2006/main">
              <a:ext uri="{FF2B5EF4-FFF2-40B4-BE49-F238E27FC236}">
                <a16:creationId xmlns:a16="http://schemas.microsoft.com/office/drawing/2014/main" id="{11D1943A-7A59-4CFB-B372-FA3159F03BC4}"/>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10</a:t>
            </a:r>
          </a:p>
        </p:txBody>
      </p:sp>
    </p:spTree>
    <p:extLst>
      <p:ext uri="{BB962C8B-B14F-4D97-AF65-F5344CB8AC3E}">
        <p14:creationId xmlns:p14="http://schemas.microsoft.com/office/powerpoint/2010/main" val="2078147153"/>
      </p:ext>
    </p:extLst>
  </p:cSld>
</p:sld>
</file>

<file path=ppt/slides/slide11.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A05188-B123-4938-B6F8-70FF139665A9}"/>
              </a:ext>
            </a:extLst>
          </p:cNvPr>
          <p:cNvSpPr>
            <a:spLocks xmlns:a="http://schemas.openxmlformats.org/drawingml/2006/main" noGrp="1"/>
          </p:cNvSpPr>
          <p:nvPr/>
        </p:nvSpPr>
        <p:spPr>
          <a:xfrm xmlns:a="http://schemas.openxmlformats.org/drawingml/2006/main">
            <a:off x="704850" y="495300"/>
            <a:ext cx="9239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2850" b="1">
                <a:solidFill>
                  <a:srgbClr val="143F50"/>
                </a:solidFill>
                <a:latin typeface="Bitstream Charter"/>
                <a:ea typeface="Bitstream Charter"/>
                <a:cs typeface="Bitstream Charter"/>
              </a:defRPr>
            </a:pPr>
            <a:r>
              <a:rPr sz="2850" b="1">
                <a:solidFill>
                  <a:srgbClr val="143F50"/>
                </a:solidFill>
                <a:latin typeface="Bitstream Charter"/>
                <a:ea typeface="Bitstream Charter"/>
                <a:cs typeface="Bitstream Charter"/>
              </a:rPr>
              <a:t>Evidence, boundaries and next pilot</a:t>
            </a:r>
          </a:p>
        </p:txBody>
      </p:sp>
      <p:sp>
        <p:nvSpPr>
          <p:cNvPr id="2" name="">
            <a:extLst xmlns:a="http://schemas.openxmlformats.org/drawingml/2006/main">
              <a:ext uri="{FF2B5EF4-FFF2-40B4-BE49-F238E27FC236}">
                <a16:creationId xmlns:a16="http://schemas.microsoft.com/office/drawing/2014/main" id="{590632DB-03B4-4D1A-8A8E-AADA5B206B29}"/>
              </a:ext>
            </a:extLst>
          </p:cNvPr>
          <p:cNvSpPr>
            <a:spLocks xmlns:a="http://schemas.openxmlformats.org/drawingml/2006/main" noGrp="1"/>
          </p:cNvSpPr>
          <p:nvPr/>
        </p:nvSpPr>
        <p:spPr>
          <a:xfrm xmlns:a="http://schemas.openxmlformats.org/drawingml/2006/main">
            <a:off x="723900" y="15049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275" b="0">
                <a:solidFill>
                  <a:srgbClr val="456773"/>
                </a:solidFill>
                <a:latin typeface="Bitstream Charter"/>
                <a:ea typeface="Bitstream Charter"/>
                <a:cs typeface="Bitstream Charter"/>
              </a:defRPr>
            </a:pPr>
            <a:r>
              <a:rPr sz="1275" b="0">
                <a:solidFill>
                  <a:srgbClr val="456773"/>
                </a:solidFill>
                <a:latin typeface="Bitstream Charter"/>
                <a:ea typeface="Bitstream Charter"/>
                <a:cs typeface="Bitstream Charter"/>
              </a:rPr>
              <a:t>The Kraków prototype gives the judging panel something real to inspect while keeping the next stage clear.</a:t>
            </a:r>
          </a:p>
        </p:txBody>
      </p:sp>
      <p:sp>
        <p:nvSpPr>
          <p:cNvPr id="3" name="">
            <a:extLst xmlns:a="http://schemas.openxmlformats.org/drawingml/2006/main">
              <a:ext uri="{FF2B5EF4-FFF2-40B4-BE49-F238E27FC236}">
                <a16:creationId xmlns:a16="http://schemas.microsoft.com/office/drawing/2014/main" id="{BBB8AA86-E551-416C-B3CA-84A25BA72868}"/>
              </a:ext>
            </a:extLst>
          </p:cNvPr>
          <p:cNvSpPr>
            <a:spLocks xmlns:a="http://schemas.openxmlformats.org/drawingml/2006/main" noGrp="1"/>
          </p:cNvSpPr>
          <p:nvPr/>
        </p:nvSpPr>
        <p:spPr>
          <a:xfrm xmlns:a="http://schemas.openxmlformats.org/drawingml/2006/main">
            <a:off x="723900" y="1943100"/>
            <a:ext cx="781050" cy="47625"/>
          </a:xfrm>
          <a:prstGeom xmlns:a="http://schemas.openxmlformats.org/drawingml/2006/main" prst="rect">
            <a:avLst/>
          </a:prstGeom>
          <a:solidFill xmlns:a="http://schemas.openxmlformats.org/drawingml/2006/main">
            <a:srgbClr val="F4A928"/>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676534330074ffd"/>
          <a:stretch xmlns:a="http://schemas.openxmlformats.org/drawingml/2006/main"/>
        </p:blipFill>
        <p:spPr>
          <a:xfrm xmlns:a="http://schemas.openxmlformats.org/drawingml/2006/main">
            <a:off x="10687050" y="457200"/>
            <a:ext cx="781050" cy="781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010975-3637-4DD4-8386-EBC9A474D31D}"/>
              </a:ext>
            </a:extLst>
          </p:cNvPr>
          <p:cNvSpPr>
            <a:spLocks xmlns:a="http://schemas.openxmlformats.org/drawingml/2006/main" noGrp="1"/>
          </p:cNvSpPr>
          <p:nvPr/>
        </p:nvSpPr>
        <p:spPr>
          <a:xfrm xmlns:a="http://schemas.openxmlformats.org/drawingml/2006/main">
            <a:off x="800100" y="2133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EXISTS NOW</a:t>
            </a:r>
          </a:p>
        </p:txBody>
      </p:sp>
      <p:sp>
        <p:nvSpPr>
          <p:cNvPr id="6" name="">
            <a:extLst xmlns:a="http://schemas.openxmlformats.org/drawingml/2006/main">
              <a:ext uri="{FF2B5EF4-FFF2-40B4-BE49-F238E27FC236}">
                <a16:creationId xmlns:a16="http://schemas.microsoft.com/office/drawing/2014/main" id="{F49E52B7-E161-4EC1-A4DF-BDE5A7EA458D}"/>
              </a:ext>
            </a:extLst>
          </p:cNvPr>
          <p:cNvSpPr>
            <a:spLocks xmlns:a="http://schemas.openxmlformats.org/drawingml/2006/main" noGrp="1"/>
          </p:cNvSpPr>
          <p:nvPr/>
        </p:nvSpPr>
        <p:spPr>
          <a:xfrm xmlns:a="http://schemas.openxmlformats.org/drawingml/2006/main">
            <a:off x="800100" y="2533650"/>
            <a:ext cx="428625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React + TypeScript + Leaflet prototype</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14 documented place profiles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Map and text alternative</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Distance, route and time-aware plan</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Private diary and map-update drafts</a:t>
            </a:r>
          </a:p>
        </p:txBody>
      </p:sp>
      <p:sp>
        <p:nvSpPr>
          <p:cNvPr id="7" name="">
            <a:extLst xmlns:a="http://schemas.openxmlformats.org/drawingml/2006/main">
              <a:ext uri="{FF2B5EF4-FFF2-40B4-BE49-F238E27FC236}">
                <a16:creationId xmlns:a16="http://schemas.microsoft.com/office/drawing/2014/main" id="{800BC91B-93E8-41FD-9772-DBEC9BCD1551}"/>
              </a:ext>
            </a:extLst>
          </p:cNvPr>
          <p:cNvSpPr>
            <a:spLocks xmlns:a="http://schemas.openxmlformats.org/drawingml/2006/main" noGrp="1"/>
          </p:cNvSpPr>
          <p:nvPr/>
        </p:nvSpPr>
        <p:spPr>
          <a:xfrm xmlns:a="http://schemas.openxmlformats.org/drawingml/2006/main">
            <a:off x="6153150" y="2133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900" b="1">
                <a:solidFill>
                  <a:srgbClr val="167D73"/>
                </a:solidFill>
                <a:latin typeface="Bitstream Charter"/>
                <a:ea typeface="Bitstream Charter"/>
                <a:cs typeface="Bitstream Charter"/>
              </a:defRPr>
            </a:pPr>
            <a:r>
              <a:rPr sz="900" b="1">
                <a:solidFill>
                  <a:srgbClr val="167D73"/>
                </a:solidFill>
                <a:latin typeface="Bitstream Charter"/>
                <a:ea typeface="Bitstream Charter"/>
                <a:cs typeface="Bitstream Charter"/>
              </a:rPr>
              <a:t>WHAT A CITY PILOT SHOULD TEST</a:t>
            </a:r>
          </a:p>
        </p:txBody>
      </p:sp>
      <p:sp>
        <p:nvSpPr>
          <p:cNvPr id="8" name="">
            <a:extLst xmlns:a="http://schemas.openxmlformats.org/drawingml/2006/main">
              <a:ext uri="{FF2B5EF4-FFF2-40B4-BE49-F238E27FC236}">
                <a16:creationId xmlns:a16="http://schemas.microsoft.com/office/drawing/2014/main" id="{3830994A-6407-4F42-8579-230B751A5E22}"/>
              </a:ext>
            </a:extLst>
          </p:cNvPr>
          <p:cNvSpPr>
            <a:spLocks xmlns:a="http://schemas.openxmlformats.org/drawingml/2006/main" noGrp="1"/>
          </p:cNvSpPr>
          <p:nvPr/>
        </p:nvSpPr>
        <p:spPr>
          <a:xfrm xmlns:a="http://schemas.openxmlformats.org/drawingml/2006/main">
            <a:off x="6153150" y="2533650"/>
            <a:ext cx="40005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Field-check more sites with operators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Test time-aware plans with residents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Check accessibility and language needs</a:t>
            </a:r>
          </a:p>
          <a:p xmlns:a="http://schemas.openxmlformats.org/drawingml/2006/main">
            <a:pPr>
              <a:defRPr sz="1575" b="1">
                <a:solidFill>
                  <a:srgbClr val="143F50"/>
                </a:solidFill>
                <a:latin typeface="Bitstream Charter"/>
                <a:ea typeface="Bitstream Charter"/>
                <a:cs typeface="Bitstream Charter"/>
              </a:defRPr>
            </a:pPr>
            <a:r>
              <a:rPr sz="1575" b="1">
                <a:solidFill>
                  <a:srgbClr val="143F50"/>
                </a:solidFill>
                <a:latin typeface="Bitstream Charter"/>
                <a:ea typeface="Bitstream Charter"/>
                <a:cs typeface="Bitstream Charter"/>
              </a:rPr>
              <a:t>Appoint a named reviewer before public map updates</a:t>
            </a:r>
          </a:p>
        </p:txBody>
      </p:sp>
      <p:sp>
        <p:nvSpPr>
          <p:cNvPr id="9" name="">
            <a:extLst xmlns:a="http://schemas.openxmlformats.org/drawingml/2006/main">
              <a:ext uri="{FF2B5EF4-FFF2-40B4-BE49-F238E27FC236}">
                <a16:creationId xmlns:a16="http://schemas.microsoft.com/office/drawing/2014/main" id="{9445538F-A2FA-4F3F-9094-5A4B41CCD68C}"/>
              </a:ext>
            </a:extLst>
          </p:cNvPr>
          <p:cNvSpPr>
            <a:spLocks xmlns:a="http://schemas.openxmlformats.org/drawingml/2006/main" noGrp="1"/>
          </p:cNvSpPr>
          <p:nvPr/>
        </p:nvSpPr>
        <p:spPr>
          <a:xfrm xmlns:a="http://schemas.openxmlformats.org/drawingml/2006/main">
            <a:off x="723900" y="5010150"/>
            <a:ext cx="9982200" cy="781050"/>
          </a:xfrm>
          <a:prstGeom xmlns:a="http://schemas.openxmlformats.org/drawingml/2006/main" prst="rect">
            <a:avLst/>
          </a:prstGeom>
          <a:solidFill xmlns:a="http://schemas.openxmlformats.org/drawingml/2006/main">
            <a:srgbClr val="EEF8F7"/>
          </a:solidFill>
          <a:ln xmlns:a="http://schemas.openxmlformats.org/drawingml/2006/main" w="9525">
            <a:solidFill>
              <a:srgbClr val="BFDBE2"/>
            </a:solidFill>
          </a:ln>
        </p:spPr>
      </p:sp>
      <p:sp>
        <p:nvSpPr>
          <p:cNvPr id="10" name="">
            <a:extLst xmlns:a="http://schemas.openxmlformats.org/drawingml/2006/main">
              <a:ext uri="{FF2B5EF4-FFF2-40B4-BE49-F238E27FC236}">
                <a16:creationId xmlns:a16="http://schemas.microsoft.com/office/drawing/2014/main" id="{1AA8ACD3-41F2-472C-A25A-D5006BDF92E2}"/>
              </a:ext>
            </a:extLst>
          </p:cNvPr>
          <p:cNvSpPr>
            <a:spLocks xmlns:a="http://schemas.openxmlformats.org/drawingml/2006/main" noGrp="1"/>
          </p:cNvSpPr>
          <p:nvPr/>
        </p:nvSpPr>
        <p:spPr>
          <a:xfrm xmlns:a="http://schemas.openxmlformats.org/drawingml/2006/main">
            <a:off x="1028700" y="5238750"/>
            <a:ext cx="904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1125" b="0">
                <a:solidFill>
                  <a:srgbClr val="456773"/>
                </a:solidFill>
                <a:latin typeface="Bitstream Charter"/>
                <a:ea typeface="Bitstream Charter"/>
                <a:cs typeface="Bitstream Charter"/>
              </a:defRPr>
            </a:pPr>
            <a:r>
              <a:rPr sz="1125" b="0">
                <a:solidFill>
                  <a:srgbClr val="456773"/>
                </a:solidFill>
                <a:latin typeface="Bitstream Charter"/>
                <a:ea typeface="Bitstream Charter"/>
                <a:cs typeface="Bitstream Charter"/>
              </a:rPr>
              <a:t>Sources and disclosure: Kraków municipal facility records, OpenStreetMap and NHS instructional links support the prototype. The Active City mark is an AI-generated project visual based on the team-owned Foundation identity. No health data or personal data is sent by the app.</a:t>
            </a:r>
          </a:p>
        </p:txBody>
      </p:sp>
      <p:sp>
        <p:nvSpPr>
          <p:cNvPr id="11" name="">
            <a:extLst xmlns:a="http://schemas.openxmlformats.org/drawingml/2006/main">
              <a:ext uri="{FF2B5EF4-FFF2-40B4-BE49-F238E27FC236}">
                <a16:creationId xmlns:a16="http://schemas.microsoft.com/office/drawing/2014/main" id="{3913DD7F-6158-4C5B-BCC6-CC397130A0EA}"/>
              </a:ext>
            </a:extLst>
          </p:cNvPr>
          <p:cNvSpPr>
            <a:spLocks xmlns:a="http://schemas.openxmlformats.org/drawingml/2006/main" noGrp="1"/>
          </p:cNvSpPr>
          <p:nvPr/>
        </p:nvSpPr>
        <p:spPr>
          <a:xfrm xmlns:a="http://schemas.openxmlformats.org/drawingml/2006/main">
            <a:off x="723900" y="6419850"/>
            <a:ext cx="10744200" cy="0"/>
          </a:xfrm>
          <a:prstGeom xmlns:a="http://schemas.openxmlformats.org/drawingml/2006/main" prst="line">
            <a:avLst/>
          </a:prstGeom>
          <a:noFill xmlns:a="http://schemas.openxmlformats.org/drawingml/2006/main"/>
          <a:ln xmlns:a="http://schemas.openxmlformats.org/drawingml/2006/main" w="9525">
            <a:solidFill>
              <a:srgbClr val="BFDBE2"/>
            </a:solidFill>
          </a:ln>
        </p:spPr>
      </p:sp>
      <p:sp>
        <p:nvSpPr>
          <p:cNvPr id="12" name="">
            <a:extLst xmlns:a="http://schemas.openxmlformats.org/drawingml/2006/main">
              <a:ext uri="{FF2B5EF4-FFF2-40B4-BE49-F238E27FC236}">
                <a16:creationId xmlns:a16="http://schemas.microsoft.com/office/drawing/2014/main" id="{52736FE0-F5CB-4930-ADC0-B7F03DF287BD}"/>
              </a:ext>
            </a:extLst>
          </p:cNvPr>
          <p:cNvSpPr>
            <a:spLocks xmlns:a="http://schemas.openxmlformats.org/drawingml/2006/main" noGrp="1"/>
          </p:cNvSpPr>
          <p:nvPr/>
        </p:nvSpPr>
        <p:spPr>
          <a:xfrm xmlns:a="http://schemas.openxmlformats.org/drawingml/2006/main">
            <a:off x="723900" y="65151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167D73"/>
                </a:solidFill>
                <a:latin typeface="Bitstream Charter"/>
                <a:ea typeface="Bitstream Charter"/>
                <a:cs typeface="Bitstream Charter"/>
              </a:defRPr>
            </a:pPr>
            <a:r>
              <a:rPr sz="825" b="1">
                <a:solidFill>
                  <a:srgbClr val="167D73"/>
                </a:solidFill>
                <a:latin typeface="Bitstream Charter"/>
                <a:ea typeface="Bitstream Charter"/>
                <a:cs typeface="Bitstream Charter"/>
              </a:rPr>
              <a:t>ACTIVE CITY  ·  KRAKÓW PILOT</a:t>
            </a:r>
          </a:p>
        </p:txBody>
      </p:sp>
      <p:sp>
        <p:nvSpPr>
          <p:cNvPr id="13" name="">
            <a:extLst xmlns:a="http://schemas.openxmlformats.org/drawingml/2006/main">
              <a:ext uri="{FF2B5EF4-FFF2-40B4-BE49-F238E27FC236}">
                <a16:creationId xmlns:a16="http://schemas.microsoft.com/office/drawing/2014/main" id="{8A4DC3B8-7FF3-4085-A497-76F96643AEA2}"/>
              </a:ext>
            </a:extLst>
          </p:cNvPr>
          <p:cNvSpPr>
            <a:spLocks xmlns:a="http://schemas.openxmlformats.org/drawingml/2006/main" noGrp="1"/>
          </p:cNvSpPr>
          <p:nvPr/>
        </p:nvSpPr>
        <p:spPr>
          <a:xfrm xmlns:a="http://schemas.openxmlformats.org/drawingml/2006/main">
            <a:off x="10706100" y="651510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defRPr sz="825" b="1">
                <a:solidFill>
                  <a:srgbClr val="456773"/>
                </a:solidFill>
                <a:latin typeface="Bitstream Charter"/>
                <a:ea typeface="Bitstream Charter"/>
                <a:cs typeface="Bitstream Charter"/>
              </a:defRPr>
            </a:pPr>
            <a:r>
              <a:rPr sz="825" b="1">
                <a:solidFill>
                  <a:srgbClr val="456773"/>
                </a:solidFill>
                <a:latin typeface="Bitstream Charter"/>
                <a:ea typeface="Bitstream Charter"/>
                <a:cs typeface="Bitstream Charter"/>
              </a:rPr>
              <a:t>11</a:t>
            </a:r>
          </a:p>
        </p:txBody>
      </p:sp>
    </p:spTree>
    <p:extLst>
      <p:ext uri="{BB962C8B-B14F-4D97-AF65-F5344CB8AC3E}">
        <p14:creationId xmlns:p14="http://schemas.microsoft.com/office/powerpoint/2010/main" val="9161629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2026-10-04T07:04:28.9550000Z</dcterms:created>
  <dcterms:modified xsi:type="dcterms:W3CDTF">2026-10-04T07:04:28.9550000Z</dcterms:modified>
</coreProperties>
</file>