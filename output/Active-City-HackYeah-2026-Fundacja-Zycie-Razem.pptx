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74c0d368ce4098" /><Relationship Type="http://schemas.openxmlformats.org/officeDocument/2006/relationships/extended-properties" Target="/docProps/app.xml" Id="Re517cb2fec7f44b2" /><Relationship Type="http://schemas.openxmlformats.org/officeDocument/2006/relationships/officeDocument" Target="/ppt/presentation.xml" Id="R9189629b0e5b425c" /></Relationships>
</file>

<file path=ppt/presentation.xml><?xml version="1.0" encoding="utf-8"?>
<p:presentation xmlns:p="http://schemas.openxmlformats.org/presentationml/2006/main">
  <p:sldMasterIdLst>
    <p:sldMasterId xmlns:r="http://schemas.openxmlformats.org/officeDocument/2006/relationships" id="2147483648" r:id="Rfbeba49474e74dfc"/>
  </p:sldMasterIdLst>
  <p:notesMasterIdLst>
    <p:notesMasterId xmlns:r="http://schemas.openxmlformats.org/officeDocument/2006/relationships" r:id="Rdc55deefdefe4ef8"/>
  </p:notesMasterIdLst>
  <p:sldIdLst>
    <p:sldId xmlns:r="http://schemas.openxmlformats.org/officeDocument/2006/relationships" id="256" r:id="R5c3f501b6e054bdf"/>
    <p:sldId xmlns:r="http://schemas.openxmlformats.org/officeDocument/2006/relationships" id="257" r:id="R3df9c0c646da4af1"/>
    <p:sldId xmlns:r="http://schemas.openxmlformats.org/officeDocument/2006/relationships" id="258" r:id="Rf3a14a6a0a2048db"/>
    <p:sldId xmlns:r="http://schemas.openxmlformats.org/officeDocument/2006/relationships" id="259" r:id="R1cad6940a34a4792"/>
    <p:sldId xmlns:r="http://schemas.openxmlformats.org/officeDocument/2006/relationships" id="260" r:id="R6e0e06af179a4a23"/>
    <p:sldId xmlns:r="http://schemas.openxmlformats.org/officeDocument/2006/relationships" id="261" r:id="R2c53a2a9853942e3"/>
    <p:sldId xmlns:r="http://schemas.openxmlformats.org/officeDocument/2006/relationships" id="262" r:id="R583b247168f9464f"/>
    <p:sldId xmlns:r="http://schemas.openxmlformats.org/officeDocument/2006/relationships" id="263" r:id="R720c7f3c465342f7"/>
    <p:sldId xmlns:r="http://schemas.openxmlformats.org/officeDocument/2006/relationships" id="264" r:id="Ra8c39368d8884b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e51d549d5844b2" /><Relationship Type="http://schemas.openxmlformats.org/officeDocument/2006/relationships/slideMaster" Target="/ppt/slideMasters/slideMaster1.xml" Id="Rfbeba49474e74dfc" /><Relationship Type="http://schemas.openxmlformats.org/officeDocument/2006/relationships/notesMaster" Target="/ppt/notesMasters/notesMaster1.xml" Id="Rdc55deefdefe4ef8" /><Relationship Type="http://schemas.openxmlformats.org/officeDocument/2006/relationships/presProps" Target="/ppt/presProps.xml" Id="R59a948b113154987" /><Relationship Type="http://schemas.openxmlformats.org/officeDocument/2006/relationships/tableStyles" Target="/ppt/tableStyles.xml" Id="R1c5ac71340b34d8f" /><Relationship Type="http://schemas.openxmlformats.org/officeDocument/2006/relationships/slide" Target="/ppt/slides/slide1.xml" Id="R5c3f501b6e054bdf" /><Relationship Type="http://schemas.openxmlformats.org/officeDocument/2006/relationships/slide" Target="/ppt/slides/slide2.xml" Id="R3df9c0c646da4af1" /><Relationship Type="http://schemas.openxmlformats.org/officeDocument/2006/relationships/slide" Target="/ppt/slides/slide3.xml" Id="Rf3a14a6a0a2048db" /><Relationship Type="http://schemas.openxmlformats.org/officeDocument/2006/relationships/slide" Target="/ppt/slides/slide4.xml" Id="R1cad6940a34a4792" /><Relationship Type="http://schemas.openxmlformats.org/officeDocument/2006/relationships/slide" Target="/ppt/slides/slide5.xml" Id="R6e0e06af179a4a23" /><Relationship Type="http://schemas.openxmlformats.org/officeDocument/2006/relationships/slide" Target="/ppt/slides/slide6.xml" Id="R2c53a2a9853942e3" /><Relationship Type="http://schemas.openxmlformats.org/officeDocument/2006/relationships/slide" Target="/ppt/slides/slide7.xml" Id="R583b247168f9464f" /><Relationship Type="http://schemas.openxmlformats.org/officeDocument/2006/relationships/slide" Target="/ppt/slides/slide8.xml" Id="R720c7f3c465342f7" /><Relationship Type="http://schemas.openxmlformats.org/officeDocument/2006/relationships/slide" Target="/ppt/slides/slide9.xml" Id="Ra8c39368d8884b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d4486e1eea45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6f4ee1fdbc4fa5" /><Relationship Type="http://schemas.openxmlformats.org/officeDocument/2006/relationships/notesMaster" Target="/ppt/notesMasters/notesMaster1.xml" Id="R724689d44da94d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2cd13958a343b8" /><Relationship Type="http://schemas.openxmlformats.org/officeDocument/2006/relationships/notesMaster" Target="/ppt/notesMasters/notesMaster1.xml" Id="R2e6c71c5636241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c235c239364b4d" /><Relationship Type="http://schemas.openxmlformats.org/officeDocument/2006/relationships/notesMaster" Target="/ppt/notesMasters/notesMaster1.xml" Id="R33184af01a0e44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1934c4dca24e2a" /><Relationship Type="http://schemas.openxmlformats.org/officeDocument/2006/relationships/notesMaster" Target="/ppt/notesMasters/notesMaster1.xml" Id="R71b37805fa3d4b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c97a01af934d7f" /><Relationship Type="http://schemas.openxmlformats.org/officeDocument/2006/relationships/notesMaster" Target="/ppt/notesMasters/notesMaster1.xml" Id="R10b8d26b071940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39676abe3e4e46" /><Relationship Type="http://schemas.openxmlformats.org/officeDocument/2006/relationships/notesMaster" Target="/ppt/notesMasters/notesMaster1.xml" Id="R7e44e930354646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807940520849e9" /><Relationship Type="http://schemas.openxmlformats.org/officeDocument/2006/relationships/notesMaster" Target="/ppt/notesMasters/notesMaster1.xml" Id="Rd161437e1f6c47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82ed409f914f52" /><Relationship Type="http://schemas.openxmlformats.org/officeDocument/2006/relationships/notesMaster" Target="/ppt/notesMasters/notesMaster1.xml" Id="Rad521409981140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9ecfc640df4c80" /><Relationship Type="http://schemas.openxmlformats.org/officeDocument/2006/relationships/notesMaster" Target="/ppt/notesMasters/notesMaster1.xml" Id="R626022ab089d4e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image: AI-generated editorial illustration retained from the project visual-direction work. It is not presented as a photograph. Competition requirements: disclose AI use and reused assets where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Challenge source: Sport &amp; Healthcare details. The brief describes fragmented health, activity and wellbeing information and asks for a clear user journey that makes an achievable next step easier. Local facility sources: Kraków municipal records, documented in the repository data-source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assumption for the pilot, based on user testing feedback in the project conversation: distant venues are unrealistic when a person has limited time. The 30–120 minute options and less-than-10-minute threshold are prototype product rules, not a clinical or transport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Challenge source: Sport &amp; Healthcare details. The brief asks for a practical user journey, accessibility, motivation and a next step that is achievable. This slide shows the working pilot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sources: Kraków municipal services, Zarząd Zieleni Miejskiej, Zarząd Infrastruktury Sportowej and cited district/public records. See docs/DATA_SOURCES.md. The 14 count reflects the source-backed records currently displayed in the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Prototype behaviour from the working app. Walking and running can request pedestrian routing on demand. Public transport opens an external journey planner. Estimates are planning guidance, not live arrival promises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handling: profiles and reflections remain in browser memory by default. Device persistence is opt-in. A share link contains only entries selected by the person and creates no Active City server copy. The weekly prompt is a reflection aid, not a health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Community features are browser-only interaction prototypes. The project does not create connections, collect credentials or publish posts. A live service would need independent privacy, safeguarding, moderation, incident and credential-verification processes.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Sport &amp; Healthcare challenge brief and rules; Kraków municipal records; OpenStreetMap attribution; NHS instructional resources; WHO physical-activity guidance. AI/reused asset disclosure: cover illustration is an AI-generated visual-direction asset. See docs/DATA_SOURCES.md and docs/DEVELOPMENT_LOG.md for full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c19d59c82d48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c8f75986c94eb9" /><Relationship Type="http://schemas.openxmlformats.org/officeDocument/2006/relationships/slideLayout" Target="/ppt/slideLayouts/slideLayout1.xml" Id="Rf8262b56defd49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262b56defd49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8d6af1b581401c" /><Relationship Type="http://schemas.openxmlformats.org/officeDocument/2006/relationships/image" Target="/ppt/media/image.png" Id="Rd51928cdba2f460d" /><Relationship Type="http://schemas.openxmlformats.org/officeDocument/2006/relationships/notesSlide" Target="/ppt/notesSlides/notesSlide1.xml" Id="R6791dccbc58b4f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d3b8a258f784b8e" /><Relationship Type="http://schemas.openxmlformats.org/officeDocument/2006/relationships/notesSlide" Target="/ppt/notesSlides/notesSlide2.xml" Id="Rc33f689ac78240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a23a17227c4906" /><Relationship Type="http://schemas.openxmlformats.org/officeDocument/2006/relationships/notesSlide" Target="/ppt/notesSlides/notesSlide3.xml" Id="R57445f2bb9ce45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02eb1eb39d4145" /><Relationship Type="http://schemas.openxmlformats.org/officeDocument/2006/relationships/notesSlide" Target="/ppt/notesSlides/notesSlide4.xml" Id="R7445533545224f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8ebce5d47f4871" /><Relationship Type="http://schemas.openxmlformats.org/officeDocument/2006/relationships/notesSlide" Target="/ppt/notesSlides/notesSlide5.xml" Id="Rcc6236f57f6346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728b49475f42cc" /><Relationship Type="http://schemas.openxmlformats.org/officeDocument/2006/relationships/notesSlide" Target="/ppt/notesSlides/notesSlide6.xml" Id="Raa73c81f99894e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3bd3d3c92364dce" /><Relationship Type="http://schemas.openxmlformats.org/officeDocument/2006/relationships/notesSlide" Target="/ppt/notesSlides/notesSlide7.xml" Id="R1833aba887bf4d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4efdf8bbb08448d" /><Relationship Type="http://schemas.openxmlformats.org/officeDocument/2006/relationships/notesSlide" Target="/ppt/notesSlides/notesSlide8.xml" Id="R9859e16becc049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11444f9284f49ec" /><Relationship Type="http://schemas.openxmlformats.org/officeDocument/2006/relationships/notesSlide" Target="/ppt/notesSlides/notesSlide9.xml" Id="R8483020f0906481e" /></Relationships>
</file>

<file path=ppt/slides/slide1.xml><?xml version="1.0" encoding="utf-8"?>
<p:sld xmlns:p="http://schemas.openxmlformats.org/presentationml/2006/main">
  <p:cSld>
    <p:bg>
      <p:bgPr>
        <a:solidFill xmlns:a="http://schemas.openxmlformats.org/drawingml/2006/main">
          <a:srgbClr val="083F6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51928cdba2f460d"/>
          <a:srcRect xmlns:a="http://schemas.openxmlformats.org/drawingml/2006/main" l="20297" t="0" r="20297" b="0"/>
          <a:stretch xmlns:a="http://schemas.openxmlformats.org/drawingml/2006/main">
            <a:fillRect l="0" t="0" r="0" b="0"/>
          </a:stretch>
        </p:blipFill>
        <p:spPr>
          <a:xfrm xmlns:a="http://schemas.openxmlformats.org/drawingml/2006/main">
            <a:off x="4953000" y="0"/>
            <a:ext cx="7239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6FFA332-A7F8-4CA3-B2DC-FCCCB9F7E63A}"/>
              </a:ext>
            </a:extLst>
          </p:cNvPr>
          <p:cNvSpPr>
            <a:spLocks xmlns:a="http://schemas.openxmlformats.org/drawingml/2006/main" noGrp="1"/>
          </p:cNvSpPr>
          <p:nvPr/>
        </p:nvSpPr>
        <p:spPr>
          <a:xfrm xmlns:a="http://schemas.openxmlformats.org/drawingml/2006/main">
            <a:off x="0" y="0"/>
            <a:ext cx="6858000" cy="6858000"/>
          </a:xfrm>
          <a:prstGeom xmlns:a="http://schemas.openxmlformats.org/drawingml/2006/main" prst="rect">
            <a:avLst/>
          </a:prstGeom>
          <a:solidFill xmlns:a="http://schemas.openxmlformats.org/drawingml/2006/main">
            <a:srgbClr val="083F6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5455A55-C162-4702-BE23-511FC3DCBF89}"/>
              </a:ext>
            </a:extLst>
          </p:cNvPr>
          <p:cNvSpPr>
            <a:spLocks xmlns:a="http://schemas.openxmlformats.org/drawingml/2006/main" noGrp="1"/>
          </p:cNvSpPr>
          <p:nvPr/>
        </p:nvSpPr>
        <p:spPr>
          <a:xfrm xmlns:a="http://schemas.openxmlformats.org/drawingml/2006/main">
            <a:off x="5905500" y="0"/>
            <a:ext cx="1714500" cy="6858000"/>
          </a:xfrm>
          <a:prstGeom xmlns:a="http://schemas.openxmlformats.org/drawingml/2006/main" prst="rect">
            <a:avLst/>
          </a:prstGeom>
          <a:solidFill xmlns:a="http://schemas.openxmlformats.org/drawingml/2006/main">
            <a:srgbClr val="083F69">
              <a:alpha val="35000"/>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E28E1A1-990A-473A-BE58-D13A1F2D47EC}"/>
              </a:ext>
            </a:extLst>
          </p:cNvPr>
          <p:cNvSpPr>
            <a:spLocks xmlns:a="http://schemas.openxmlformats.org/drawingml/2006/main" noGrp="1"/>
          </p:cNvSpPr>
          <p:nvPr/>
        </p:nvSpPr>
        <p:spPr>
          <a:xfrm xmlns:a="http://schemas.openxmlformats.org/drawingml/2006/main">
            <a:off x="704850" y="7048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CDECF0"/>
                </a:solidFill>
                <a:latin typeface="Bitstream Charter"/>
                <a:ea typeface="Bitstream Charter"/>
                <a:cs typeface="Bitstream Charter"/>
              </a:defRPr>
            </a:pPr>
            <a:r>
              <a:rPr sz="900" b="1">
                <a:solidFill>
                  <a:srgbClr val="CDECF0"/>
                </a:solidFill>
                <a:latin typeface="Bitstream Charter"/>
                <a:ea typeface="Bitstream Charter"/>
                <a:cs typeface="Bitstream Charter"/>
              </a:rPr>
              <a:t>HACKYEAH 2026 · SPORT &amp; HEALTHCARE</a:t>
            </a:r>
          </a:p>
        </p:txBody>
      </p:sp>
      <p:sp>
        <p:nvSpPr>
          <p:cNvPr id="5" name="">
            <a:extLst xmlns:a="http://schemas.openxmlformats.org/drawingml/2006/main">
              <a:ext uri="{FF2B5EF4-FFF2-40B4-BE49-F238E27FC236}">
                <a16:creationId xmlns:a16="http://schemas.microsoft.com/office/drawing/2014/main" id="{F4E8F6BB-2C10-473C-B9D3-C37FB4531209}"/>
              </a:ext>
            </a:extLst>
          </p:cNvPr>
          <p:cNvSpPr>
            <a:spLocks xmlns:a="http://schemas.openxmlformats.org/drawingml/2006/main" noGrp="1"/>
          </p:cNvSpPr>
          <p:nvPr/>
        </p:nvSpPr>
        <p:spPr>
          <a:xfrm xmlns:a="http://schemas.openxmlformats.org/drawingml/2006/main">
            <a:off x="685800" y="1371600"/>
            <a:ext cx="4953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5025" b="1">
                <a:solidFill>
                  <a:srgbClr val="FFFFFF"/>
                </a:solidFill>
                <a:latin typeface="Bitstream Charter"/>
                <a:ea typeface="Bitstream Charter"/>
                <a:cs typeface="Bitstream Charter"/>
              </a:defRPr>
            </a:pPr>
            <a:r>
              <a:rPr sz="5025" b="1">
                <a:solidFill>
                  <a:srgbClr val="FFFFFF"/>
                </a:solidFill>
                <a:latin typeface="Bitstream Charter"/>
                <a:ea typeface="Bitstream Charter"/>
                <a:cs typeface="Bitstream Charter"/>
              </a:rPr>
              <a:t>Active</a:t>
            </a:r>
          </a:p>
          <a:p xmlns:a="http://schemas.openxmlformats.org/drawingml/2006/main">
            <a:pPr>
              <a:defRPr sz="5025" b="1">
                <a:solidFill>
                  <a:srgbClr val="FFFFFF"/>
                </a:solidFill>
                <a:latin typeface="Bitstream Charter"/>
                <a:ea typeface="Bitstream Charter"/>
                <a:cs typeface="Bitstream Charter"/>
              </a:defRPr>
            </a:pPr>
            <a:r>
              <a:rPr sz="5025" b="1">
                <a:solidFill>
                  <a:srgbClr val="FFFFFF"/>
                </a:solidFill>
                <a:latin typeface="Bitstream Charter"/>
                <a:ea typeface="Bitstream Charter"/>
                <a:cs typeface="Bitstream Charter"/>
              </a:rPr>
              <a:t>City</a:t>
            </a:r>
          </a:p>
        </p:txBody>
      </p:sp>
      <p:sp>
        <p:nvSpPr>
          <p:cNvPr id="6" name="">
            <a:extLst xmlns:a="http://schemas.openxmlformats.org/drawingml/2006/main">
              <a:ext uri="{FF2B5EF4-FFF2-40B4-BE49-F238E27FC236}">
                <a16:creationId xmlns:a16="http://schemas.microsoft.com/office/drawing/2014/main" id="{A06B10A0-CB71-4F84-9DC8-88BFE9247164}"/>
              </a:ext>
            </a:extLst>
          </p:cNvPr>
          <p:cNvSpPr>
            <a:spLocks xmlns:a="http://schemas.openxmlformats.org/drawingml/2006/main" noGrp="1"/>
          </p:cNvSpPr>
          <p:nvPr/>
        </p:nvSpPr>
        <p:spPr>
          <a:xfrm xmlns:a="http://schemas.openxmlformats.org/drawingml/2006/main">
            <a:off x="723900" y="31242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FFE1A2"/>
                </a:solidFill>
                <a:latin typeface="Bitstream Charter"/>
                <a:ea typeface="Bitstream Charter"/>
                <a:cs typeface="Bitstream Charter"/>
              </a:defRPr>
            </a:pPr>
            <a:r>
              <a:rPr sz="1875" b="1">
                <a:solidFill>
                  <a:srgbClr val="FFE1A2"/>
                </a:solidFill>
                <a:latin typeface="Bitstream Charter"/>
                <a:ea typeface="Bitstream Charter"/>
                <a:cs typeface="Bitstream Charter"/>
              </a:rPr>
              <a:t>Kraków pilot</a:t>
            </a:r>
          </a:p>
        </p:txBody>
      </p:sp>
      <p:sp>
        <p:nvSpPr>
          <p:cNvPr id="7" name="">
            <a:extLst xmlns:a="http://schemas.openxmlformats.org/drawingml/2006/main">
              <a:ext uri="{FF2B5EF4-FFF2-40B4-BE49-F238E27FC236}">
                <a16:creationId xmlns:a16="http://schemas.microsoft.com/office/drawing/2014/main" id="{01839E5D-EE24-49C7-8E68-4A522B448F8E}"/>
              </a:ext>
            </a:extLst>
          </p:cNvPr>
          <p:cNvSpPr>
            <a:spLocks xmlns:a="http://schemas.openxmlformats.org/drawingml/2006/main" noGrp="1"/>
          </p:cNvSpPr>
          <p:nvPr/>
        </p:nvSpPr>
        <p:spPr>
          <a:xfrm xmlns:a="http://schemas.openxmlformats.org/drawingml/2006/main">
            <a:off x="723900" y="3733800"/>
            <a:ext cx="4381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0">
                <a:solidFill>
                  <a:srgbClr val="EDF9FB"/>
                </a:solidFill>
                <a:latin typeface="Bitstream Charter"/>
                <a:ea typeface="Bitstream Charter"/>
                <a:cs typeface="Bitstream Charter"/>
              </a:defRPr>
            </a:pPr>
            <a:r>
              <a:rPr sz="1725" b="0">
                <a:solidFill>
                  <a:srgbClr val="EDF9FB"/>
                </a:solidFill>
                <a:latin typeface="Bitstream Charter"/>
                <a:ea typeface="Bitstream Charter"/>
                <a:cs typeface="Bitstream Charter"/>
              </a:rPr>
              <a:t>A nearby public place, a plan that fits today, and a private record of what helps someone keep moving.</a:t>
            </a:r>
          </a:p>
        </p:txBody>
      </p:sp>
      <p:sp>
        <p:nvSpPr>
          <p:cNvPr id="8" name="">
            <a:extLst xmlns:a="http://schemas.openxmlformats.org/drawingml/2006/main">
              <a:ext uri="{FF2B5EF4-FFF2-40B4-BE49-F238E27FC236}">
                <a16:creationId xmlns:a16="http://schemas.microsoft.com/office/drawing/2014/main" id="{0A59E087-02B8-4B65-A49A-12CC4A25AE51}"/>
              </a:ext>
            </a:extLst>
          </p:cNvPr>
          <p:cNvSpPr>
            <a:spLocks xmlns:a="http://schemas.openxmlformats.org/drawingml/2006/main" noGrp="1"/>
          </p:cNvSpPr>
          <p:nvPr/>
        </p:nvSpPr>
        <p:spPr>
          <a:xfrm xmlns:a="http://schemas.openxmlformats.org/drawingml/2006/main">
            <a:off x="723900" y="58674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0">
                <a:solidFill>
                  <a:srgbClr val="CDECF0"/>
                </a:solidFill>
                <a:latin typeface="Bitstream Charter"/>
                <a:ea typeface="Bitstream Charter"/>
                <a:cs typeface="Bitstream Charter"/>
              </a:defRPr>
            </a:pPr>
            <a:r>
              <a:rPr sz="1050" b="0">
                <a:solidFill>
                  <a:srgbClr val="CDECF0"/>
                </a:solidFill>
                <a:latin typeface="Bitstream Charter"/>
                <a:ea typeface="Bitstream Charter"/>
                <a:cs typeface="Bitstream Charter"/>
              </a:rPr>
              <a:t>Team: Fundacja Życie, Razem</a:t>
            </a:r>
          </a:p>
        </p:txBody>
      </p:sp>
      <p:sp>
        <p:nvSpPr>
          <p:cNvPr id="9" name="">
            <a:extLst xmlns:a="http://schemas.openxmlformats.org/drawingml/2006/main">
              <a:ext uri="{FF2B5EF4-FFF2-40B4-BE49-F238E27FC236}">
                <a16:creationId xmlns:a16="http://schemas.microsoft.com/office/drawing/2014/main" id="{BECF7FA8-544D-4D01-ACA9-8C4824AEFB60}"/>
              </a:ext>
            </a:extLst>
          </p:cNvPr>
          <p:cNvSpPr>
            <a:spLocks xmlns:a="http://schemas.openxmlformats.org/drawingml/2006/main" noGrp="1"/>
          </p:cNvSpPr>
          <p:nvPr/>
        </p:nvSpPr>
        <p:spPr>
          <a:xfrm xmlns:a="http://schemas.openxmlformats.org/drawingml/2006/main">
            <a:off x="9715500" y="60579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KRAKÓW</a:t>
            </a:r>
          </a:p>
        </p:txBody>
      </p:sp>
    </p:spTree>
    <p:extLst>
      <p:ext uri="{BB962C8B-B14F-4D97-AF65-F5344CB8AC3E}">
        <p14:creationId xmlns:p14="http://schemas.microsoft.com/office/powerpoint/2010/main" val="529430904"/>
      </p:ext>
    </p:extLst>
  </p:cSld>
</p:sld>
</file>

<file path=ppt/slides/slide2.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FDF7D58-E02B-453E-A16D-0C19CFB8CC70}"/>
              </a:ext>
            </a:extLst>
          </p:cNvPr>
          <p:cNvSpPr>
            <a:spLocks xmlns:a="http://schemas.openxmlformats.org/drawingml/2006/main" noGrp="1"/>
          </p:cNvSpPr>
          <p:nvPr/>
        </p:nvSpPr>
        <p:spPr>
          <a:xfrm xmlns:a="http://schemas.openxmlformats.org/drawingml/2006/main">
            <a:off x="704850" y="495300"/>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Getting active should not start with a search puzzle</a:t>
            </a:r>
          </a:p>
        </p:txBody>
      </p:sp>
      <p:sp>
        <p:nvSpPr>
          <p:cNvPr id="2" name="">
            <a:extLst xmlns:a="http://schemas.openxmlformats.org/drawingml/2006/main">
              <a:ext uri="{FF2B5EF4-FFF2-40B4-BE49-F238E27FC236}">
                <a16:creationId xmlns:a16="http://schemas.microsoft.com/office/drawing/2014/main" id="{3946E9FC-FB98-4E51-B323-58F0E3A917DF}"/>
              </a:ext>
            </a:extLst>
          </p:cNvPr>
          <p:cNvSpPr>
            <a:spLocks xmlns:a="http://schemas.openxmlformats.org/drawingml/2006/main" noGrp="1"/>
          </p:cNvSpPr>
          <p:nvPr/>
        </p:nvSpPr>
        <p:spPr>
          <a:xfrm xmlns:a="http://schemas.openxmlformats.org/drawingml/2006/main">
            <a:off x="723900" y="15049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Public recreation information is scattered across municipal pages, maps and signs on site.</a:t>
            </a:r>
          </a:p>
        </p:txBody>
      </p:sp>
      <p:sp>
        <p:nvSpPr>
          <p:cNvPr id="3" name="">
            <a:extLst xmlns:a="http://schemas.openxmlformats.org/drawingml/2006/main">
              <a:ext uri="{FF2B5EF4-FFF2-40B4-BE49-F238E27FC236}">
                <a16:creationId xmlns:a16="http://schemas.microsoft.com/office/drawing/2014/main" id="{334661FF-7A23-4187-9002-683510F0A813}"/>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420A3B5-F45C-4C38-92FC-3EA743A44BF5}"/>
              </a:ext>
            </a:extLst>
          </p:cNvPr>
          <p:cNvSpPr>
            <a:spLocks xmlns:a="http://schemas.openxmlformats.org/drawingml/2006/main" noGrp="1"/>
          </p:cNvSpPr>
          <p:nvPr/>
        </p:nvSpPr>
        <p:spPr>
          <a:xfrm xmlns:a="http://schemas.openxmlformats.org/drawingml/2006/main">
            <a:off x="723900" y="21336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WHAT A RESIDENT HAS TO WORK OUT</a:t>
            </a:r>
          </a:p>
        </p:txBody>
      </p:sp>
      <p:sp>
        <p:nvSpPr>
          <p:cNvPr id="5" name="">
            <a:extLst xmlns:a="http://schemas.openxmlformats.org/drawingml/2006/main">
              <a:ext uri="{FF2B5EF4-FFF2-40B4-BE49-F238E27FC236}">
                <a16:creationId xmlns:a16="http://schemas.microsoft.com/office/drawing/2014/main" id="{62E7A472-C334-49F8-8BA1-4059449E9742}"/>
              </a:ext>
            </a:extLst>
          </p:cNvPr>
          <p:cNvSpPr>
            <a:spLocks xmlns:a="http://schemas.openxmlformats.org/drawingml/2006/main" noGrp="1"/>
          </p:cNvSpPr>
          <p:nvPr/>
        </p:nvSpPr>
        <p:spPr>
          <a:xfrm xmlns:a="http://schemas.openxmlformats.org/drawingml/2006/main">
            <a:off x="781050" y="2628900"/>
            <a:ext cx="342900" cy="342900"/>
          </a:xfrm>
          <a:prstGeom xmlns:a="http://schemas.openxmlformats.org/drawingml/2006/main" prst="ellipse">
            <a:avLst/>
          </a:prstGeom>
          <a:solidFill xmlns:a="http://schemas.openxmlformats.org/drawingml/2006/main">
            <a:srgbClr val="1599D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4F41C6D-7B4D-4129-A6AD-5CEFBE6B8836}"/>
              </a:ext>
            </a:extLst>
          </p:cNvPr>
          <p:cNvSpPr>
            <a:spLocks xmlns:a="http://schemas.openxmlformats.org/drawingml/2006/main" noGrp="1"/>
          </p:cNvSpPr>
          <p:nvPr/>
        </p:nvSpPr>
        <p:spPr>
          <a:xfrm xmlns:a="http://schemas.openxmlformats.org/drawingml/2006/main">
            <a:off x="876300" y="2705100"/>
            <a:ext cx="171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1</a:t>
            </a:r>
          </a:p>
        </p:txBody>
      </p:sp>
      <p:sp>
        <p:nvSpPr>
          <p:cNvPr id="7" name="">
            <a:extLst xmlns:a="http://schemas.openxmlformats.org/drawingml/2006/main">
              <a:ext uri="{FF2B5EF4-FFF2-40B4-BE49-F238E27FC236}">
                <a16:creationId xmlns:a16="http://schemas.microsoft.com/office/drawing/2014/main" id="{66A05780-2A37-409F-BFD5-8F0010F4C2C4}"/>
              </a:ext>
            </a:extLst>
          </p:cNvPr>
          <p:cNvSpPr>
            <a:spLocks xmlns:a="http://schemas.openxmlformats.org/drawingml/2006/main" noGrp="1"/>
          </p:cNvSpPr>
          <p:nvPr/>
        </p:nvSpPr>
        <p:spPr>
          <a:xfrm xmlns:a="http://schemas.openxmlformats.org/drawingml/2006/main">
            <a:off x="1352550" y="25717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Is there somewhere nearby?</a:t>
            </a:r>
          </a:p>
        </p:txBody>
      </p:sp>
      <p:sp>
        <p:nvSpPr>
          <p:cNvPr id="8" name="">
            <a:extLst xmlns:a="http://schemas.openxmlformats.org/drawingml/2006/main">
              <a:ext uri="{FF2B5EF4-FFF2-40B4-BE49-F238E27FC236}">
                <a16:creationId xmlns:a16="http://schemas.microsoft.com/office/drawing/2014/main" id="{3E3A47A5-A68A-4DA0-A138-E502E82481D7}"/>
              </a:ext>
            </a:extLst>
          </p:cNvPr>
          <p:cNvSpPr>
            <a:spLocks xmlns:a="http://schemas.openxmlformats.org/drawingml/2006/main" noGrp="1"/>
          </p:cNvSpPr>
          <p:nvPr/>
        </p:nvSpPr>
        <p:spPr>
          <a:xfrm xmlns:a="http://schemas.openxmlformats.org/drawingml/2006/main">
            <a:off x="781050" y="3448050"/>
            <a:ext cx="342900" cy="342900"/>
          </a:xfrm>
          <a:prstGeom xmlns:a="http://schemas.openxmlformats.org/drawingml/2006/main" prst="ellipse">
            <a:avLst/>
          </a:prstGeom>
          <a:solidFill xmlns:a="http://schemas.openxmlformats.org/drawingml/2006/main">
            <a:srgbClr val="167D7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F8DD738-D353-47B1-ACFF-008F0ECAE755}"/>
              </a:ext>
            </a:extLst>
          </p:cNvPr>
          <p:cNvSpPr>
            <a:spLocks xmlns:a="http://schemas.openxmlformats.org/drawingml/2006/main" noGrp="1"/>
          </p:cNvSpPr>
          <p:nvPr/>
        </p:nvSpPr>
        <p:spPr>
          <a:xfrm xmlns:a="http://schemas.openxmlformats.org/drawingml/2006/main">
            <a:off x="876300" y="3524250"/>
            <a:ext cx="171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2</a:t>
            </a:r>
          </a:p>
        </p:txBody>
      </p:sp>
      <p:sp>
        <p:nvSpPr>
          <p:cNvPr id="10" name="">
            <a:extLst xmlns:a="http://schemas.openxmlformats.org/drawingml/2006/main">
              <a:ext uri="{FF2B5EF4-FFF2-40B4-BE49-F238E27FC236}">
                <a16:creationId xmlns:a16="http://schemas.microsoft.com/office/drawing/2014/main" id="{6D069C16-A2E8-4923-9F16-CD877D4AB021}"/>
              </a:ext>
            </a:extLst>
          </p:cNvPr>
          <p:cNvSpPr>
            <a:spLocks xmlns:a="http://schemas.openxmlformats.org/drawingml/2006/main" noGrp="1"/>
          </p:cNvSpPr>
          <p:nvPr/>
        </p:nvSpPr>
        <p:spPr>
          <a:xfrm xmlns:a="http://schemas.openxmlformats.org/drawingml/2006/main">
            <a:off x="1352550" y="339090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What can I actually do there?</a:t>
            </a:r>
          </a:p>
        </p:txBody>
      </p:sp>
      <p:sp>
        <p:nvSpPr>
          <p:cNvPr id="11" name="">
            <a:extLst xmlns:a="http://schemas.openxmlformats.org/drawingml/2006/main">
              <a:ext uri="{FF2B5EF4-FFF2-40B4-BE49-F238E27FC236}">
                <a16:creationId xmlns:a16="http://schemas.microsoft.com/office/drawing/2014/main" id="{94B7637B-0049-4C54-9C6E-54A6F029FD4A}"/>
              </a:ext>
            </a:extLst>
          </p:cNvPr>
          <p:cNvSpPr>
            <a:spLocks xmlns:a="http://schemas.openxmlformats.org/drawingml/2006/main" noGrp="1"/>
          </p:cNvSpPr>
          <p:nvPr/>
        </p:nvSpPr>
        <p:spPr>
          <a:xfrm xmlns:a="http://schemas.openxmlformats.org/drawingml/2006/main">
            <a:off x="781050" y="4267200"/>
            <a:ext cx="342900" cy="342900"/>
          </a:xfrm>
          <a:prstGeom xmlns:a="http://schemas.openxmlformats.org/drawingml/2006/main" prst="ellipse">
            <a:avLst/>
          </a:prstGeom>
          <a:solidFill xmlns:a="http://schemas.openxmlformats.org/drawingml/2006/main">
            <a:srgbClr val="4A972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1094F15-F828-4814-A712-5191683B8ED2}"/>
              </a:ext>
            </a:extLst>
          </p:cNvPr>
          <p:cNvSpPr>
            <a:spLocks xmlns:a="http://schemas.openxmlformats.org/drawingml/2006/main" noGrp="1"/>
          </p:cNvSpPr>
          <p:nvPr/>
        </p:nvSpPr>
        <p:spPr>
          <a:xfrm xmlns:a="http://schemas.openxmlformats.org/drawingml/2006/main">
            <a:off x="876300" y="4343400"/>
            <a:ext cx="171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3</a:t>
            </a:r>
          </a:p>
        </p:txBody>
      </p:sp>
      <p:sp>
        <p:nvSpPr>
          <p:cNvPr id="13" name="">
            <a:extLst xmlns:a="http://schemas.openxmlformats.org/drawingml/2006/main">
              <a:ext uri="{FF2B5EF4-FFF2-40B4-BE49-F238E27FC236}">
                <a16:creationId xmlns:a16="http://schemas.microsoft.com/office/drawing/2014/main" id="{2DF22D63-F79C-4C16-A040-12DC4DB6EE95}"/>
              </a:ext>
            </a:extLst>
          </p:cNvPr>
          <p:cNvSpPr>
            <a:spLocks xmlns:a="http://schemas.openxmlformats.org/drawingml/2006/main" noGrp="1"/>
          </p:cNvSpPr>
          <p:nvPr/>
        </p:nvSpPr>
        <p:spPr>
          <a:xfrm xmlns:a="http://schemas.openxmlformats.org/drawingml/2006/main">
            <a:off x="1352550" y="42100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Will the journey leave time to move?</a:t>
            </a:r>
          </a:p>
        </p:txBody>
      </p:sp>
      <p:sp>
        <p:nvSpPr>
          <p:cNvPr id="14" name="">
            <a:extLst xmlns:a="http://schemas.openxmlformats.org/drawingml/2006/main">
              <a:ext uri="{FF2B5EF4-FFF2-40B4-BE49-F238E27FC236}">
                <a16:creationId xmlns:a16="http://schemas.microsoft.com/office/drawing/2014/main" id="{5C6F9BD6-51FB-49BA-AB9D-4DA9B99FF54F}"/>
              </a:ext>
            </a:extLst>
          </p:cNvPr>
          <p:cNvSpPr>
            <a:spLocks xmlns:a="http://schemas.openxmlformats.org/drawingml/2006/main" noGrp="1"/>
          </p:cNvSpPr>
          <p:nvPr/>
        </p:nvSpPr>
        <p:spPr>
          <a:xfrm xmlns:a="http://schemas.openxmlformats.org/drawingml/2006/main">
            <a:off x="6457950" y="2114550"/>
            <a:ext cx="4210050" cy="2876550"/>
          </a:xfrm>
          <a:prstGeom xmlns:a="http://schemas.openxmlformats.org/drawingml/2006/main" prst="rect">
            <a:avLst/>
          </a:prstGeom>
          <a:solidFill xmlns:a="http://schemas.openxmlformats.org/drawingml/2006/main">
            <a:srgbClr val="F3FBFF"/>
          </a:solidFill>
          <a:ln xmlns:a="http://schemas.openxmlformats.org/drawingml/2006/main" w="9525">
            <a:solidFill>
              <a:srgbClr val="BFDBE2"/>
            </a:solidFill>
          </a:ln>
        </p:spPr>
      </p:sp>
      <p:sp>
        <p:nvSpPr>
          <p:cNvPr id="15" name="">
            <a:extLst xmlns:a="http://schemas.openxmlformats.org/drawingml/2006/main">
              <a:ext uri="{FF2B5EF4-FFF2-40B4-BE49-F238E27FC236}">
                <a16:creationId xmlns:a16="http://schemas.microsoft.com/office/drawing/2014/main" id="{73B4CEB6-1C40-4667-B85C-F8BAE1528E0D}"/>
              </a:ext>
            </a:extLst>
          </p:cNvPr>
          <p:cNvSpPr>
            <a:spLocks xmlns:a="http://schemas.openxmlformats.org/drawingml/2006/main" noGrp="1"/>
          </p:cNvSpPr>
          <p:nvPr/>
        </p:nvSpPr>
        <p:spPr>
          <a:xfrm xmlns:a="http://schemas.openxmlformats.org/drawingml/2006/main">
            <a:off x="6838950" y="24574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THE MISSING CONNECTION</a:t>
            </a:r>
          </a:p>
        </p:txBody>
      </p:sp>
      <p:sp>
        <p:nvSpPr>
          <p:cNvPr id="16" name="">
            <a:extLst xmlns:a="http://schemas.openxmlformats.org/drawingml/2006/main">
              <a:ext uri="{FF2B5EF4-FFF2-40B4-BE49-F238E27FC236}">
                <a16:creationId xmlns:a16="http://schemas.microsoft.com/office/drawing/2014/main" id="{A7A1F533-01F4-4623-AB06-A55D0D25ECC2}"/>
              </a:ext>
            </a:extLst>
          </p:cNvPr>
          <p:cNvSpPr>
            <a:spLocks xmlns:a="http://schemas.openxmlformats.org/drawingml/2006/main" noGrp="1"/>
          </p:cNvSpPr>
          <p:nvPr/>
        </p:nvSpPr>
        <p:spPr>
          <a:xfrm xmlns:a="http://schemas.openxmlformats.org/drawingml/2006/main">
            <a:off x="6838950" y="2857500"/>
            <a:ext cx="32004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1">
                <a:solidFill>
                  <a:srgbClr val="143F50"/>
                </a:solidFill>
                <a:latin typeface="Bitstream Charter"/>
                <a:ea typeface="Bitstream Charter"/>
                <a:cs typeface="Bitstream Charter"/>
              </a:defRPr>
            </a:pPr>
            <a:r>
              <a:rPr sz="1725" b="1">
                <a:solidFill>
                  <a:srgbClr val="143F50"/>
                </a:solidFill>
                <a:latin typeface="Bitstream Charter"/>
                <a:ea typeface="Bitstream Charter"/>
                <a:cs typeface="Bitstream Charter"/>
              </a:rPr>
              <a:t>A 45-minute window should lead to one realistic public place to move, without handing over health information.</a:t>
            </a:r>
          </a:p>
        </p:txBody>
      </p:sp>
      <p:sp>
        <p:nvSpPr>
          <p:cNvPr id="17" name="">
            <a:extLst xmlns:a="http://schemas.openxmlformats.org/drawingml/2006/main">
              <a:ext uri="{FF2B5EF4-FFF2-40B4-BE49-F238E27FC236}">
                <a16:creationId xmlns:a16="http://schemas.microsoft.com/office/drawing/2014/main" id="{2E1B7E4E-B8DC-4E92-8254-8BB3B7B54923}"/>
              </a:ext>
            </a:extLst>
          </p:cNvPr>
          <p:cNvSpPr>
            <a:spLocks xmlns:a="http://schemas.openxmlformats.org/drawingml/2006/main" noGrp="1"/>
          </p:cNvSpPr>
          <p:nvPr/>
        </p:nvSpPr>
        <p:spPr>
          <a:xfrm xmlns:a="http://schemas.openxmlformats.org/drawingml/2006/main">
            <a:off x="6838950" y="436245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0">
                <a:solidFill>
                  <a:srgbClr val="456773"/>
                </a:solidFill>
                <a:latin typeface="Bitstream Charter"/>
                <a:ea typeface="Bitstream Charter"/>
                <a:cs typeface="Bitstream Charter"/>
              </a:defRPr>
            </a:pPr>
            <a:r>
              <a:rPr sz="1200" b="0">
                <a:solidFill>
                  <a:srgbClr val="456773"/>
                </a:solidFill>
                <a:latin typeface="Bitstream Charter"/>
                <a:ea typeface="Bitstream Charter"/>
                <a:cs typeface="Bitstream Charter"/>
              </a:rPr>
              <a:t>Active City brings the practical choices together and shows its data limits clearly.</a:t>
            </a:r>
          </a:p>
        </p:txBody>
      </p:sp>
      <p:sp>
        <p:nvSpPr>
          <p:cNvPr id="18" name="">
            <a:extLst xmlns:a="http://schemas.openxmlformats.org/drawingml/2006/main">
              <a:ext uri="{FF2B5EF4-FFF2-40B4-BE49-F238E27FC236}">
                <a16:creationId xmlns:a16="http://schemas.microsoft.com/office/drawing/2014/main" id="{BD9DDBF3-D0E0-4DE7-A7C4-7586FC86001A}"/>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9" name="">
            <a:extLst xmlns:a="http://schemas.openxmlformats.org/drawingml/2006/main">
              <a:ext uri="{FF2B5EF4-FFF2-40B4-BE49-F238E27FC236}">
                <a16:creationId xmlns:a16="http://schemas.microsoft.com/office/drawing/2014/main" id="{E73B6D6C-3B3C-4861-B99B-2F8C748A685D}"/>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20" name="">
            <a:extLst xmlns:a="http://schemas.openxmlformats.org/drawingml/2006/main">
              <a:ext uri="{FF2B5EF4-FFF2-40B4-BE49-F238E27FC236}">
                <a16:creationId xmlns:a16="http://schemas.microsoft.com/office/drawing/2014/main" id="{DCC74647-D26D-48E7-B046-AB0955194022}"/>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02</a:t>
            </a:r>
          </a:p>
        </p:txBody>
      </p:sp>
    </p:spTree>
    <p:extLst>
      <p:ext uri="{BB962C8B-B14F-4D97-AF65-F5344CB8AC3E}">
        <p14:creationId xmlns:p14="http://schemas.microsoft.com/office/powerpoint/2010/main" val="191170588"/>
      </p:ext>
    </p:extLst>
  </p:cSld>
</p:sld>
</file>

<file path=ppt/slides/slide3.xml><?xml version="1.0" encoding="utf-8"?>
<p:sld xmlns:p="http://schemas.openxmlformats.org/presentationml/2006/main">
  <p:cSld>
    <p:bg>
      <p:bgPr>
        <a:solidFill xmlns:a="http://schemas.openxmlformats.org/drawingml/2006/main">
          <a:srgbClr val="EEF8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401DC30-D25C-4B0B-9B7D-FA756327E35C}"/>
              </a:ext>
            </a:extLst>
          </p:cNvPr>
          <p:cNvSpPr>
            <a:spLocks xmlns:a="http://schemas.openxmlformats.org/drawingml/2006/main" noGrp="1"/>
          </p:cNvSpPr>
          <p:nvPr/>
        </p:nvSpPr>
        <p:spPr>
          <a:xfrm xmlns:a="http://schemas.openxmlformats.org/drawingml/2006/main">
            <a:off x="704850" y="495300"/>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The primary user</a:t>
            </a:r>
          </a:p>
        </p:txBody>
      </p:sp>
      <p:sp>
        <p:nvSpPr>
          <p:cNvPr id="2" name="">
            <a:extLst xmlns:a="http://schemas.openxmlformats.org/drawingml/2006/main">
              <a:ext uri="{FF2B5EF4-FFF2-40B4-BE49-F238E27FC236}">
                <a16:creationId xmlns:a16="http://schemas.microsoft.com/office/drawing/2014/main" id="{E1234146-3D3F-41E4-A189-96806AFD0564}"/>
              </a:ext>
            </a:extLst>
          </p:cNvPr>
          <p:cNvSpPr>
            <a:spLocks xmlns:a="http://schemas.openxmlformats.org/drawingml/2006/main" noGrp="1"/>
          </p:cNvSpPr>
          <p:nvPr/>
        </p:nvSpPr>
        <p:spPr>
          <a:xfrm xmlns:a="http://schemas.openxmlformats.org/drawingml/2006/main">
            <a:off x="723900" y="15049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Kraków residents who want to move more but have limited time, confidence or knowledge of local public facilities.</a:t>
            </a:r>
          </a:p>
        </p:txBody>
      </p:sp>
      <p:sp>
        <p:nvSpPr>
          <p:cNvPr id="3" name="">
            <a:extLst xmlns:a="http://schemas.openxmlformats.org/drawingml/2006/main">
              <a:ext uri="{FF2B5EF4-FFF2-40B4-BE49-F238E27FC236}">
                <a16:creationId xmlns:a16="http://schemas.microsoft.com/office/drawing/2014/main" id="{99015955-DFDC-471D-9F1E-C69D9A82D8FA}"/>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889689-6381-451E-BD79-6978701F6306}"/>
              </a:ext>
            </a:extLst>
          </p:cNvPr>
          <p:cNvSpPr>
            <a:spLocks xmlns:a="http://schemas.openxmlformats.org/drawingml/2006/main" noGrp="1"/>
          </p:cNvSpPr>
          <p:nvPr/>
        </p:nvSpPr>
        <p:spPr>
          <a:xfrm xmlns:a="http://schemas.openxmlformats.org/drawingml/2006/main">
            <a:off x="723900" y="2133600"/>
            <a:ext cx="4114800" cy="2952750"/>
          </a:xfrm>
          <a:prstGeom xmlns:a="http://schemas.openxmlformats.org/drawingml/2006/main" prst="rect">
            <a:avLst/>
          </a:prstGeom>
          <a:solidFill xmlns:a="http://schemas.openxmlformats.org/drawingml/2006/main">
            <a:srgbClr val="FFFFFF"/>
          </a:solidFill>
          <a:ln xmlns:a="http://schemas.openxmlformats.org/drawingml/2006/main" w="9525">
            <a:solidFill>
              <a:srgbClr val="BFDBE2"/>
            </a:solidFill>
          </a:ln>
        </p:spPr>
      </p:sp>
      <p:sp>
        <p:nvSpPr>
          <p:cNvPr id="5" name="">
            <a:extLst xmlns:a="http://schemas.openxmlformats.org/drawingml/2006/main">
              <a:ext uri="{FF2B5EF4-FFF2-40B4-BE49-F238E27FC236}">
                <a16:creationId xmlns:a16="http://schemas.microsoft.com/office/drawing/2014/main" id="{E6758490-1E09-418A-B5EE-DCDF2E4CDD03}"/>
              </a:ext>
            </a:extLst>
          </p:cNvPr>
          <p:cNvSpPr>
            <a:spLocks xmlns:a="http://schemas.openxmlformats.org/drawingml/2006/main" noGrp="1"/>
          </p:cNvSpPr>
          <p:nvPr/>
        </p:nvSpPr>
        <p:spPr>
          <a:xfrm xmlns:a="http://schemas.openxmlformats.org/drawingml/2006/main">
            <a:off x="1028700" y="24765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A TYPICAL MOMENT</a:t>
            </a:r>
          </a:p>
        </p:txBody>
      </p:sp>
      <p:sp>
        <p:nvSpPr>
          <p:cNvPr id="6" name="">
            <a:extLst xmlns:a="http://schemas.openxmlformats.org/drawingml/2006/main">
              <a:ext uri="{FF2B5EF4-FFF2-40B4-BE49-F238E27FC236}">
                <a16:creationId xmlns:a16="http://schemas.microsoft.com/office/drawing/2014/main" id="{02E10525-E861-439C-975A-6EB35569ACAB}"/>
              </a:ext>
            </a:extLst>
          </p:cNvPr>
          <p:cNvSpPr>
            <a:spLocks xmlns:a="http://schemas.openxmlformats.org/drawingml/2006/main" noGrp="1"/>
          </p:cNvSpPr>
          <p:nvPr/>
        </p:nvSpPr>
        <p:spPr>
          <a:xfrm xmlns:a="http://schemas.openxmlformats.org/drawingml/2006/main">
            <a:off x="1028700" y="2914650"/>
            <a:ext cx="32004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1">
                <a:solidFill>
                  <a:srgbClr val="143F50"/>
                </a:solidFill>
                <a:latin typeface="Bitstream Charter"/>
                <a:ea typeface="Bitstream Charter"/>
                <a:cs typeface="Bitstream Charter"/>
              </a:defRPr>
            </a:pPr>
            <a:r>
              <a:rPr sz="1800" b="1">
                <a:solidFill>
                  <a:srgbClr val="143F50"/>
                </a:solidFill>
                <a:latin typeface="Bitstream Charter"/>
                <a:ea typeface="Bitstream Charter"/>
                <a:cs typeface="Bitstream Charter"/>
              </a:rPr>
              <a:t>“I have an hour after work. I want to do something useful, but I do not know whether the place I found is worth the journey.”</a:t>
            </a:r>
          </a:p>
        </p:txBody>
      </p:sp>
      <p:sp>
        <p:nvSpPr>
          <p:cNvPr id="7" name="">
            <a:extLst xmlns:a="http://schemas.openxmlformats.org/drawingml/2006/main">
              <a:ext uri="{FF2B5EF4-FFF2-40B4-BE49-F238E27FC236}">
                <a16:creationId xmlns:a16="http://schemas.microsoft.com/office/drawing/2014/main" id="{778F3496-5BDE-4F73-92FB-3FCA876B5767}"/>
              </a:ext>
            </a:extLst>
          </p:cNvPr>
          <p:cNvSpPr>
            <a:spLocks xmlns:a="http://schemas.openxmlformats.org/drawingml/2006/main" noGrp="1"/>
          </p:cNvSpPr>
          <p:nvPr/>
        </p:nvSpPr>
        <p:spPr>
          <a:xfrm xmlns:a="http://schemas.openxmlformats.org/drawingml/2006/main">
            <a:off x="1028700" y="4533900"/>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0">
                <a:solidFill>
                  <a:srgbClr val="456773"/>
                </a:solidFill>
                <a:latin typeface="Bitstream Charter"/>
                <a:ea typeface="Bitstream Charter"/>
                <a:cs typeface="Bitstream Charter"/>
              </a:defRPr>
            </a:pPr>
            <a:r>
              <a:rPr sz="1200" b="0">
                <a:solidFill>
                  <a:srgbClr val="456773"/>
                </a:solidFill>
                <a:latin typeface="Bitstream Charter"/>
                <a:ea typeface="Bitstream Charter"/>
                <a:cs typeface="Bitstream Charter"/>
              </a:rPr>
              <a:t>The decision is practical before it becomes motivational.</a:t>
            </a:r>
          </a:p>
        </p:txBody>
      </p:sp>
      <p:sp>
        <p:nvSpPr>
          <p:cNvPr id="8" name="">
            <a:extLst xmlns:a="http://schemas.openxmlformats.org/drawingml/2006/main">
              <a:ext uri="{FF2B5EF4-FFF2-40B4-BE49-F238E27FC236}">
                <a16:creationId xmlns:a16="http://schemas.microsoft.com/office/drawing/2014/main" id="{4C7E1900-EB83-49F1-B87A-CC2611CAEE87}"/>
              </a:ext>
            </a:extLst>
          </p:cNvPr>
          <p:cNvSpPr>
            <a:spLocks xmlns:a="http://schemas.openxmlformats.org/drawingml/2006/main" noGrp="1"/>
          </p:cNvSpPr>
          <p:nvPr/>
        </p:nvSpPr>
        <p:spPr>
          <a:xfrm xmlns:a="http://schemas.openxmlformats.org/drawingml/2006/main">
            <a:off x="6000750" y="23241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083F69"/>
                </a:solidFill>
                <a:latin typeface="Bitstream Charter"/>
                <a:ea typeface="Bitstream Charter"/>
                <a:cs typeface="Bitstream Charter"/>
              </a:defRPr>
            </a:pPr>
            <a:r>
              <a:rPr sz="3600" b="1">
                <a:solidFill>
                  <a:srgbClr val="083F69"/>
                </a:solidFill>
                <a:latin typeface="Bitstream Charter"/>
                <a:ea typeface="Bitstream Charter"/>
                <a:cs typeface="Bitstream Charter"/>
              </a:rPr>
              <a:t>30–120</a:t>
            </a:r>
          </a:p>
        </p:txBody>
      </p:sp>
      <p:sp>
        <p:nvSpPr>
          <p:cNvPr id="9" name="">
            <a:extLst xmlns:a="http://schemas.openxmlformats.org/drawingml/2006/main">
              <a:ext uri="{FF2B5EF4-FFF2-40B4-BE49-F238E27FC236}">
                <a16:creationId xmlns:a16="http://schemas.microsoft.com/office/drawing/2014/main" id="{E88340BF-80A2-4E37-8E55-D404859A5F50}"/>
              </a:ext>
            </a:extLst>
          </p:cNvPr>
          <p:cNvSpPr>
            <a:spLocks xmlns:a="http://schemas.openxmlformats.org/drawingml/2006/main" noGrp="1"/>
          </p:cNvSpPr>
          <p:nvPr/>
        </p:nvSpPr>
        <p:spPr>
          <a:xfrm xmlns:a="http://schemas.openxmlformats.org/drawingml/2006/main">
            <a:off x="6000750" y="29718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456773"/>
                </a:solidFill>
                <a:latin typeface="Bitstream Charter"/>
                <a:ea typeface="Bitstream Charter"/>
                <a:cs typeface="Bitstream Charter"/>
              </a:defRPr>
            </a:pPr>
            <a:r>
              <a:rPr sz="1200" b="1">
                <a:solidFill>
                  <a:srgbClr val="456773"/>
                </a:solidFill>
                <a:latin typeface="Bitstream Charter"/>
                <a:ea typeface="Bitstream Charter"/>
                <a:cs typeface="Bitstream Charter"/>
              </a:rPr>
              <a:t>minutes available in Today’s Plan</a:t>
            </a:r>
          </a:p>
        </p:txBody>
      </p:sp>
      <p:sp>
        <p:nvSpPr>
          <p:cNvPr id="10" name="">
            <a:extLst xmlns:a="http://schemas.openxmlformats.org/drawingml/2006/main">
              <a:ext uri="{FF2B5EF4-FFF2-40B4-BE49-F238E27FC236}">
                <a16:creationId xmlns:a16="http://schemas.microsoft.com/office/drawing/2014/main" id="{4CA5C77F-74B9-4BBC-84F5-87355A136B19}"/>
              </a:ext>
            </a:extLst>
          </p:cNvPr>
          <p:cNvSpPr>
            <a:spLocks xmlns:a="http://schemas.openxmlformats.org/drawingml/2006/main" noGrp="1"/>
          </p:cNvSpPr>
          <p:nvPr/>
        </p:nvSpPr>
        <p:spPr>
          <a:xfrm xmlns:a="http://schemas.openxmlformats.org/drawingml/2006/main">
            <a:off x="8667750" y="23241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F4A928"/>
                </a:solidFill>
                <a:latin typeface="Bitstream Charter"/>
                <a:ea typeface="Bitstream Charter"/>
                <a:cs typeface="Bitstream Charter"/>
              </a:defRPr>
            </a:pPr>
            <a:r>
              <a:rPr sz="3600" b="1">
                <a:solidFill>
                  <a:srgbClr val="F4A928"/>
                </a:solidFill>
                <a:latin typeface="Bitstream Charter"/>
                <a:ea typeface="Bitstream Charter"/>
                <a:cs typeface="Bitstream Charter"/>
              </a:rPr>
              <a:t>&lt; 10</a:t>
            </a:r>
          </a:p>
        </p:txBody>
      </p:sp>
      <p:sp>
        <p:nvSpPr>
          <p:cNvPr id="11" name="">
            <a:extLst xmlns:a="http://schemas.openxmlformats.org/drawingml/2006/main">
              <a:ext uri="{FF2B5EF4-FFF2-40B4-BE49-F238E27FC236}">
                <a16:creationId xmlns:a16="http://schemas.microsoft.com/office/drawing/2014/main" id="{2CE2A76A-3B90-48FE-A84F-D2E9943DB143}"/>
              </a:ext>
            </a:extLst>
          </p:cNvPr>
          <p:cNvSpPr>
            <a:spLocks xmlns:a="http://schemas.openxmlformats.org/drawingml/2006/main" noGrp="1"/>
          </p:cNvSpPr>
          <p:nvPr/>
        </p:nvSpPr>
        <p:spPr>
          <a:xfrm xmlns:a="http://schemas.openxmlformats.org/drawingml/2006/main">
            <a:off x="8667750" y="29718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456773"/>
                </a:solidFill>
                <a:latin typeface="Bitstream Charter"/>
                <a:ea typeface="Bitstream Charter"/>
                <a:cs typeface="Bitstream Charter"/>
              </a:defRPr>
            </a:pPr>
            <a:r>
              <a:rPr sz="1200" b="1">
                <a:solidFill>
                  <a:srgbClr val="456773"/>
                </a:solidFill>
                <a:latin typeface="Bitstream Charter"/>
                <a:ea typeface="Bitstream Charter"/>
                <a:cs typeface="Bitstream Charter"/>
              </a:rPr>
              <a:t>minutes left triggers a closer-place suggestion</a:t>
            </a:r>
          </a:p>
        </p:txBody>
      </p:sp>
      <p:sp>
        <p:nvSpPr>
          <p:cNvPr id="12" name="">
            <a:extLst xmlns:a="http://schemas.openxmlformats.org/drawingml/2006/main">
              <a:ext uri="{FF2B5EF4-FFF2-40B4-BE49-F238E27FC236}">
                <a16:creationId xmlns:a16="http://schemas.microsoft.com/office/drawing/2014/main" id="{37A5342E-B042-4F32-AA11-D5F561221B7A}"/>
              </a:ext>
            </a:extLst>
          </p:cNvPr>
          <p:cNvSpPr>
            <a:spLocks xmlns:a="http://schemas.openxmlformats.org/drawingml/2006/main" noGrp="1"/>
          </p:cNvSpPr>
          <p:nvPr/>
        </p:nvSpPr>
        <p:spPr>
          <a:xfrm xmlns:a="http://schemas.openxmlformats.org/drawingml/2006/main">
            <a:off x="6057900" y="3952875"/>
            <a:ext cx="4248150" cy="0"/>
          </a:xfrm>
          <a:prstGeom xmlns:a="http://schemas.openxmlformats.org/drawingml/2006/main" prst="line">
            <a:avLst/>
          </a:prstGeom>
          <a:noFill xmlns:a="http://schemas.openxmlformats.org/drawingml/2006/main"/>
          <a:ln xmlns:a="http://schemas.openxmlformats.org/drawingml/2006/main" w="28575">
            <a:solidFill>
              <a:srgbClr val="9ECFD9"/>
            </a:solidFill>
          </a:ln>
        </p:spPr>
      </p:sp>
      <p:sp>
        <p:nvSpPr>
          <p:cNvPr id="13" name="">
            <a:extLst xmlns:a="http://schemas.openxmlformats.org/drawingml/2006/main">
              <a:ext uri="{FF2B5EF4-FFF2-40B4-BE49-F238E27FC236}">
                <a16:creationId xmlns:a16="http://schemas.microsoft.com/office/drawing/2014/main" id="{53ABB960-7B32-4491-96DD-2AAE356A561C}"/>
              </a:ext>
            </a:extLst>
          </p:cNvPr>
          <p:cNvSpPr>
            <a:spLocks xmlns:a="http://schemas.openxmlformats.org/drawingml/2006/main" noGrp="1"/>
          </p:cNvSpPr>
          <p:nvPr/>
        </p:nvSpPr>
        <p:spPr>
          <a:xfrm xmlns:a="http://schemas.openxmlformats.org/drawingml/2006/main">
            <a:off x="6019800" y="4324350"/>
            <a:ext cx="4381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1">
                <a:solidFill>
                  <a:srgbClr val="143F50"/>
                </a:solidFill>
                <a:latin typeface="Bitstream Charter"/>
                <a:ea typeface="Bitstream Charter"/>
                <a:cs typeface="Bitstream Charter"/>
              </a:defRPr>
            </a:pPr>
            <a:r>
              <a:rPr sz="1800" b="1">
                <a:solidFill>
                  <a:srgbClr val="143F50"/>
                </a:solidFill>
                <a:latin typeface="Bitstream Charter"/>
                <a:ea typeface="Bitstream Charter"/>
                <a:cs typeface="Bitstream Charter"/>
              </a:rPr>
              <a:t>A plan has to respect the full return journey, not just the activity itself.</a:t>
            </a:r>
          </a:p>
        </p:txBody>
      </p:sp>
      <p:sp>
        <p:nvSpPr>
          <p:cNvPr id="14" name="">
            <a:extLst xmlns:a="http://schemas.openxmlformats.org/drawingml/2006/main">
              <a:ext uri="{FF2B5EF4-FFF2-40B4-BE49-F238E27FC236}">
                <a16:creationId xmlns:a16="http://schemas.microsoft.com/office/drawing/2014/main" id="{54DF5350-5CD7-4EC9-A107-4595662255D0}"/>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5" name="">
            <a:extLst xmlns:a="http://schemas.openxmlformats.org/drawingml/2006/main">
              <a:ext uri="{FF2B5EF4-FFF2-40B4-BE49-F238E27FC236}">
                <a16:creationId xmlns:a16="http://schemas.microsoft.com/office/drawing/2014/main" id="{0EBFE01E-632E-42AD-B841-C13236CEDC59}"/>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16" name="">
            <a:extLst xmlns:a="http://schemas.openxmlformats.org/drawingml/2006/main">
              <a:ext uri="{FF2B5EF4-FFF2-40B4-BE49-F238E27FC236}">
                <a16:creationId xmlns:a16="http://schemas.microsoft.com/office/drawing/2014/main" id="{2FDCD7F6-1EA6-49C3-BD88-EF5F954CCF20}"/>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03</a:t>
            </a:r>
          </a:p>
        </p:txBody>
      </p:sp>
    </p:spTree>
    <p:extLst>
      <p:ext uri="{BB962C8B-B14F-4D97-AF65-F5344CB8AC3E}">
        <p14:creationId xmlns:p14="http://schemas.microsoft.com/office/powerpoint/2010/main" val="815637064"/>
      </p:ext>
    </p:extLst>
  </p:cSld>
</p:sld>
</file>

<file path=ppt/slides/slide4.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012DB30-AEFD-43E1-97B6-002ADE960E1B}"/>
              </a:ext>
            </a:extLst>
          </p:cNvPr>
          <p:cNvSpPr>
            <a:spLocks xmlns:a="http://schemas.openxmlformats.org/drawingml/2006/main" noGrp="1"/>
          </p:cNvSpPr>
          <p:nvPr/>
        </p:nvSpPr>
        <p:spPr>
          <a:xfrm xmlns:a="http://schemas.openxmlformats.org/drawingml/2006/main">
            <a:off x="704850" y="495300"/>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One clear journey</a:t>
            </a:r>
          </a:p>
        </p:txBody>
      </p:sp>
      <p:sp>
        <p:nvSpPr>
          <p:cNvPr id="2" name="">
            <a:extLst xmlns:a="http://schemas.openxmlformats.org/drawingml/2006/main">
              <a:ext uri="{FF2B5EF4-FFF2-40B4-BE49-F238E27FC236}">
                <a16:creationId xmlns:a16="http://schemas.microsoft.com/office/drawing/2014/main" id="{C77E246D-4A29-449E-A215-2193E380B066}"/>
              </a:ext>
            </a:extLst>
          </p:cNvPr>
          <p:cNvSpPr>
            <a:spLocks xmlns:a="http://schemas.openxmlformats.org/drawingml/2006/main" noGrp="1"/>
          </p:cNvSpPr>
          <p:nvPr/>
        </p:nvSpPr>
        <p:spPr>
          <a:xfrm xmlns:a="http://schemas.openxmlformats.org/drawingml/2006/main">
            <a:off x="723900" y="15049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The app keeps the person moving forward instead of sending them back through disconnected sources.</a:t>
            </a:r>
          </a:p>
        </p:txBody>
      </p:sp>
      <p:sp>
        <p:nvSpPr>
          <p:cNvPr id="3" name="">
            <a:extLst xmlns:a="http://schemas.openxmlformats.org/drawingml/2006/main">
              <a:ext uri="{FF2B5EF4-FFF2-40B4-BE49-F238E27FC236}">
                <a16:creationId xmlns:a16="http://schemas.microsoft.com/office/drawing/2014/main" id="{8D4D1DD4-6E64-4D5C-B2BC-C26344DF271E}"/>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0CA756B-2A5B-44B2-9FC9-ACD87075FB78}"/>
              </a:ext>
            </a:extLst>
          </p:cNvPr>
          <p:cNvSpPr>
            <a:spLocks xmlns:a="http://schemas.openxmlformats.org/drawingml/2006/main" noGrp="1"/>
          </p:cNvSpPr>
          <p:nvPr/>
        </p:nvSpPr>
        <p:spPr>
          <a:xfrm xmlns:a="http://schemas.openxmlformats.org/drawingml/2006/main">
            <a:off x="800100" y="2571750"/>
            <a:ext cx="609600" cy="609600"/>
          </a:xfrm>
          <a:prstGeom xmlns:a="http://schemas.openxmlformats.org/drawingml/2006/main" prst="ellipse">
            <a:avLst/>
          </a:prstGeom>
          <a:solidFill xmlns:a="http://schemas.openxmlformats.org/drawingml/2006/main">
            <a:srgbClr val="1599D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3F8BE3D-CD58-42D0-912E-A24670CAEFD2}"/>
              </a:ext>
            </a:extLst>
          </p:cNvPr>
          <p:cNvSpPr>
            <a:spLocks xmlns:a="http://schemas.openxmlformats.org/drawingml/2006/main" noGrp="1"/>
          </p:cNvSpPr>
          <p:nvPr/>
        </p:nvSpPr>
        <p:spPr>
          <a:xfrm xmlns:a="http://schemas.openxmlformats.org/drawingml/2006/main">
            <a:off x="962025" y="27336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1</a:t>
            </a:r>
          </a:p>
        </p:txBody>
      </p:sp>
      <p:sp>
        <p:nvSpPr>
          <p:cNvPr id="6" name="">
            <a:extLst xmlns:a="http://schemas.openxmlformats.org/drawingml/2006/main">
              <a:ext uri="{FF2B5EF4-FFF2-40B4-BE49-F238E27FC236}">
                <a16:creationId xmlns:a16="http://schemas.microsoft.com/office/drawing/2014/main" id="{5C916008-44D9-494F-B24D-6BF4D3CBCC7C}"/>
              </a:ext>
            </a:extLst>
          </p:cNvPr>
          <p:cNvSpPr>
            <a:spLocks xmlns:a="http://schemas.openxmlformats.org/drawingml/2006/main" noGrp="1"/>
          </p:cNvSpPr>
          <p:nvPr/>
        </p:nvSpPr>
        <p:spPr>
          <a:xfrm xmlns:a="http://schemas.openxmlformats.org/drawingml/2006/main">
            <a:off x="800100" y="340995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Explore</a:t>
            </a:r>
          </a:p>
        </p:txBody>
      </p:sp>
      <p:sp>
        <p:nvSpPr>
          <p:cNvPr id="7" name="">
            <a:extLst xmlns:a="http://schemas.openxmlformats.org/drawingml/2006/main">
              <a:ext uri="{FF2B5EF4-FFF2-40B4-BE49-F238E27FC236}">
                <a16:creationId xmlns:a16="http://schemas.microsoft.com/office/drawing/2014/main" id="{2CA9BC0B-A189-4554-8DD1-DD1BD223FE95}"/>
              </a:ext>
            </a:extLst>
          </p:cNvPr>
          <p:cNvSpPr>
            <a:spLocks xmlns:a="http://schemas.openxmlformats.org/drawingml/2006/main" noGrp="1"/>
          </p:cNvSpPr>
          <p:nvPr/>
        </p:nvSpPr>
        <p:spPr>
          <a:xfrm xmlns:a="http://schemas.openxmlformats.org/drawingml/2006/main">
            <a:off x="800100" y="38290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Choose a nearby documented place</a:t>
            </a:r>
          </a:p>
        </p:txBody>
      </p:sp>
      <p:sp>
        <p:nvSpPr>
          <p:cNvPr id="8" name="">
            <a:extLst xmlns:a="http://schemas.openxmlformats.org/drawingml/2006/main">
              <a:ext uri="{FF2B5EF4-FFF2-40B4-BE49-F238E27FC236}">
                <a16:creationId xmlns:a16="http://schemas.microsoft.com/office/drawing/2014/main" id="{71FC2578-A47D-4B0B-AEAC-1E0B27465AFC}"/>
              </a:ext>
            </a:extLst>
          </p:cNvPr>
          <p:cNvSpPr>
            <a:spLocks xmlns:a="http://schemas.openxmlformats.org/drawingml/2006/main" noGrp="1"/>
          </p:cNvSpPr>
          <p:nvPr/>
        </p:nvSpPr>
        <p:spPr>
          <a:xfrm xmlns:a="http://schemas.openxmlformats.org/drawingml/2006/main">
            <a:off x="1524000" y="2876550"/>
            <a:ext cx="1790700" cy="0"/>
          </a:xfrm>
          <a:prstGeom xmlns:a="http://schemas.openxmlformats.org/drawingml/2006/main" prst="line">
            <a:avLst/>
          </a:prstGeom>
          <a:noFill xmlns:a="http://schemas.openxmlformats.org/drawingml/2006/main"/>
          <a:ln xmlns:a="http://schemas.openxmlformats.org/drawingml/2006/main" w="28575">
            <a:solidFill>
              <a:srgbClr val="9BC8D1"/>
            </a:solidFill>
          </a:ln>
        </p:spPr>
      </p:sp>
      <p:sp>
        <p:nvSpPr>
          <p:cNvPr id="9" name="">
            <a:extLst xmlns:a="http://schemas.openxmlformats.org/drawingml/2006/main">
              <a:ext uri="{FF2B5EF4-FFF2-40B4-BE49-F238E27FC236}">
                <a16:creationId xmlns:a16="http://schemas.microsoft.com/office/drawing/2014/main" id="{535758BA-DD65-4598-A8D3-8BBE20393B44}"/>
              </a:ext>
            </a:extLst>
          </p:cNvPr>
          <p:cNvSpPr>
            <a:spLocks xmlns:a="http://schemas.openxmlformats.org/drawingml/2006/main" noGrp="1"/>
          </p:cNvSpPr>
          <p:nvPr/>
        </p:nvSpPr>
        <p:spPr>
          <a:xfrm xmlns:a="http://schemas.openxmlformats.org/drawingml/2006/main">
            <a:off x="3505200" y="2571750"/>
            <a:ext cx="609600" cy="609600"/>
          </a:xfrm>
          <a:prstGeom xmlns:a="http://schemas.openxmlformats.org/drawingml/2006/main" prst="ellipse">
            <a:avLst/>
          </a:prstGeom>
          <a:solidFill xmlns:a="http://schemas.openxmlformats.org/drawingml/2006/main">
            <a:srgbClr val="167D7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F6E4828-9C82-408C-86D1-CFFE955DAF63}"/>
              </a:ext>
            </a:extLst>
          </p:cNvPr>
          <p:cNvSpPr>
            <a:spLocks xmlns:a="http://schemas.openxmlformats.org/drawingml/2006/main" noGrp="1"/>
          </p:cNvSpPr>
          <p:nvPr/>
        </p:nvSpPr>
        <p:spPr>
          <a:xfrm xmlns:a="http://schemas.openxmlformats.org/drawingml/2006/main">
            <a:off x="3667125" y="27336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2</a:t>
            </a:r>
          </a:p>
        </p:txBody>
      </p:sp>
      <p:sp>
        <p:nvSpPr>
          <p:cNvPr id="11" name="">
            <a:extLst xmlns:a="http://schemas.openxmlformats.org/drawingml/2006/main">
              <a:ext uri="{FF2B5EF4-FFF2-40B4-BE49-F238E27FC236}">
                <a16:creationId xmlns:a16="http://schemas.microsoft.com/office/drawing/2014/main" id="{4257C142-396F-4F2F-B879-6AD8F204CCD2}"/>
              </a:ext>
            </a:extLst>
          </p:cNvPr>
          <p:cNvSpPr>
            <a:spLocks xmlns:a="http://schemas.openxmlformats.org/drawingml/2006/main" noGrp="1"/>
          </p:cNvSpPr>
          <p:nvPr/>
        </p:nvSpPr>
        <p:spPr>
          <a:xfrm xmlns:a="http://schemas.openxmlformats.org/drawingml/2006/main">
            <a:off x="3505200" y="340995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Plan</a:t>
            </a:r>
          </a:p>
        </p:txBody>
      </p:sp>
      <p:sp>
        <p:nvSpPr>
          <p:cNvPr id="12" name="">
            <a:extLst xmlns:a="http://schemas.openxmlformats.org/drawingml/2006/main">
              <a:ext uri="{FF2B5EF4-FFF2-40B4-BE49-F238E27FC236}">
                <a16:creationId xmlns:a16="http://schemas.microsoft.com/office/drawing/2014/main" id="{E73C384F-8060-44EC-8CD0-949D7636F1E1}"/>
              </a:ext>
            </a:extLst>
          </p:cNvPr>
          <p:cNvSpPr>
            <a:spLocks xmlns:a="http://schemas.openxmlformats.org/drawingml/2006/main" noGrp="1"/>
          </p:cNvSpPr>
          <p:nvPr/>
        </p:nvSpPr>
        <p:spPr>
          <a:xfrm xmlns:a="http://schemas.openxmlformats.org/drawingml/2006/main">
            <a:off x="3505200" y="38290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Check time, route and activity</a:t>
            </a:r>
          </a:p>
        </p:txBody>
      </p:sp>
      <p:sp>
        <p:nvSpPr>
          <p:cNvPr id="13" name="">
            <a:extLst xmlns:a="http://schemas.openxmlformats.org/drawingml/2006/main">
              <a:ext uri="{FF2B5EF4-FFF2-40B4-BE49-F238E27FC236}">
                <a16:creationId xmlns:a16="http://schemas.microsoft.com/office/drawing/2014/main" id="{F9B0BE0A-C768-41EE-95DA-1581F7C9CDFC}"/>
              </a:ext>
            </a:extLst>
          </p:cNvPr>
          <p:cNvSpPr>
            <a:spLocks xmlns:a="http://schemas.openxmlformats.org/drawingml/2006/main" noGrp="1"/>
          </p:cNvSpPr>
          <p:nvPr/>
        </p:nvSpPr>
        <p:spPr>
          <a:xfrm xmlns:a="http://schemas.openxmlformats.org/drawingml/2006/main">
            <a:off x="4229100" y="2876550"/>
            <a:ext cx="1790700" cy="0"/>
          </a:xfrm>
          <a:prstGeom xmlns:a="http://schemas.openxmlformats.org/drawingml/2006/main" prst="line">
            <a:avLst/>
          </a:prstGeom>
          <a:noFill xmlns:a="http://schemas.openxmlformats.org/drawingml/2006/main"/>
          <a:ln xmlns:a="http://schemas.openxmlformats.org/drawingml/2006/main" w="28575">
            <a:solidFill>
              <a:srgbClr val="9BC8D1"/>
            </a:solidFill>
          </a:ln>
        </p:spPr>
      </p:sp>
      <p:sp>
        <p:nvSpPr>
          <p:cNvPr id="14" name="">
            <a:extLst xmlns:a="http://schemas.openxmlformats.org/drawingml/2006/main">
              <a:ext uri="{FF2B5EF4-FFF2-40B4-BE49-F238E27FC236}">
                <a16:creationId xmlns:a16="http://schemas.microsoft.com/office/drawing/2014/main" id="{368A99ED-BCD2-495C-9F6F-07AB8986E74F}"/>
              </a:ext>
            </a:extLst>
          </p:cNvPr>
          <p:cNvSpPr>
            <a:spLocks xmlns:a="http://schemas.openxmlformats.org/drawingml/2006/main" noGrp="1"/>
          </p:cNvSpPr>
          <p:nvPr/>
        </p:nvSpPr>
        <p:spPr>
          <a:xfrm xmlns:a="http://schemas.openxmlformats.org/drawingml/2006/main">
            <a:off x="6210300" y="2571750"/>
            <a:ext cx="609600" cy="609600"/>
          </a:xfrm>
          <a:prstGeom xmlns:a="http://schemas.openxmlformats.org/drawingml/2006/main" prst="ellipse">
            <a:avLst/>
          </a:prstGeom>
          <a:solidFill xmlns:a="http://schemas.openxmlformats.org/drawingml/2006/main">
            <a:srgbClr val="4A972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86B80AA-6648-41AF-AD45-9B9C4E30BDAD}"/>
              </a:ext>
            </a:extLst>
          </p:cNvPr>
          <p:cNvSpPr>
            <a:spLocks xmlns:a="http://schemas.openxmlformats.org/drawingml/2006/main" noGrp="1"/>
          </p:cNvSpPr>
          <p:nvPr/>
        </p:nvSpPr>
        <p:spPr>
          <a:xfrm xmlns:a="http://schemas.openxmlformats.org/drawingml/2006/main">
            <a:off x="6372225" y="27336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3</a:t>
            </a:r>
          </a:p>
        </p:txBody>
      </p:sp>
      <p:sp>
        <p:nvSpPr>
          <p:cNvPr id="16" name="">
            <a:extLst xmlns:a="http://schemas.openxmlformats.org/drawingml/2006/main">
              <a:ext uri="{FF2B5EF4-FFF2-40B4-BE49-F238E27FC236}">
                <a16:creationId xmlns:a16="http://schemas.microsoft.com/office/drawing/2014/main" id="{8623E154-033B-46A0-9C58-505139C46FD8}"/>
              </a:ext>
            </a:extLst>
          </p:cNvPr>
          <p:cNvSpPr>
            <a:spLocks xmlns:a="http://schemas.openxmlformats.org/drawingml/2006/main" noGrp="1"/>
          </p:cNvSpPr>
          <p:nvPr/>
        </p:nvSpPr>
        <p:spPr>
          <a:xfrm xmlns:a="http://schemas.openxmlformats.org/drawingml/2006/main">
            <a:off x="6210300" y="340995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Move</a:t>
            </a:r>
          </a:p>
        </p:txBody>
      </p:sp>
      <p:sp>
        <p:nvSpPr>
          <p:cNvPr id="17" name="">
            <a:extLst xmlns:a="http://schemas.openxmlformats.org/drawingml/2006/main">
              <a:ext uri="{FF2B5EF4-FFF2-40B4-BE49-F238E27FC236}">
                <a16:creationId xmlns:a16="http://schemas.microsoft.com/office/drawing/2014/main" id="{22B50BB5-3040-498B-92BF-71FF27959DDC}"/>
              </a:ext>
            </a:extLst>
          </p:cNvPr>
          <p:cNvSpPr>
            <a:spLocks xmlns:a="http://schemas.openxmlformats.org/drawingml/2006/main" noGrp="1"/>
          </p:cNvSpPr>
          <p:nvPr/>
        </p:nvSpPr>
        <p:spPr>
          <a:xfrm xmlns:a="http://schemas.openxmlformats.org/drawingml/2006/main">
            <a:off x="6210300" y="38290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Use a simple venue-aware outline</a:t>
            </a:r>
          </a:p>
        </p:txBody>
      </p:sp>
      <p:sp>
        <p:nvSpPr>
          <p:cNvPr id="18" name="">
            <a:extLst xmlns:a="http://schemas.openxmlformats.org/drawingml/2006/main">
              <a:ext uri="{FF2B5EF4-FFF2-40B4-BE49-F238E27FC236}">
                <a16:creationId xmlns:a16="http://schemas.microsoft.com/office/drawing/2014/main" id="{C0D5582A-BEE1-41BF-B027-C573DE30FFE5}"/>
              </a:ext>
            </a:extLst>
          </p:cNvPr>
          <p:cNvSpPr>
            <a:spLocks xmlns:a="http://schemas.openxmlformats.org/drawingml/2006/main" noGrp="1"/>
          </p:cNvSpPr>
          <p:nvPr/>
        </p:nvSpPr>
        <p:spPr>
          <a:xfrm xmlns:a="http://schemas.openxmlformats.org/drawingml/2006/main">
            <a:off x="6934200" y="2876550"/>
            <a:ext cx="1790700" cy="0"/>
          </a:xfrm>
          <a:prstGeom xmlns:a="http://schemas.openxmlformats.org/drawingml/2006/main" prst="line">
            <a:avLst/>
          </a:prstGeom>
          <a:noFill xmlns:a="http://schemas.openxmlformats.org/drawingml/2006/main"/>
          <a:ln xmlns:a="http://schemas.openxmlformats.org/drawingml/2006/main" w="28575">
            <a:solidFill>
              <a:srgbClr val="9BC8D1"/>
            </a:solidFill>
          </a:ln>
        </p:spPr>
      </p:sp>
      <p:sp>
        <p:nvSpPr>
          <p:cNvPr id="19" name="">
            <a:extLst xmlns:a="http://schemas.openxmlformats.org/drawingml/2006/main">
              <a:ext uri="{FF2B5EF4-FFF2-40B4-BE49-F238E27FC236}">
                <a16:creationId xmlns:a16="http://schemas.microsoft.com/office/drawing/2014/main" id="{CB5DCC98-5A3C-4B24-9574-49AFD9744ED1}"/>
              </a:ext>
            </a:extLst>
          </p:cNvPr>
          <p:cNvSpPr>
            <a:spLocks xmlns:a="http://schemas.openxmlformats.org/drawingml/2006/main" noGrp="1"/>
          </p:cNvSpPr>
          <p:nvPr/>
        </p:nvSpPr>
        <p:spPr>
          <a:xfrm xmlns:a="http://schemas.openxmlformats.org/drawingml/2006/main">
            <a:off x="8915400" y="2571750"/>
            <a:ext cx="609600" cy="609600"/>
          </a:xfrm>
          <a:prstGeom xmlns:a="http://schemas.openxmlformats.org/drawingml/2006/main" prst="ellipse">
            <a:avLst/>
          </a:prstGeom>
          <a:solidFill xmlns:a="http://schemas.openxmlformats.org/drawingml/2006/main">
            <a:srgbClr val="F4A92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2687B13-DFB2-4278-A6A8-5638C326F092}"/>
              </a:ext>
            </a:extLst>
          </p:cNvPr>
          <p:cNvSpPr>
            <a:spLocks xmlns:a="http://schemas.openxmlformats.org/drawingml/2006/main" noGrp="1"/>
          </p:cNvSpPr>
          <p:nvPr/>
        </p:nvSpPr>
        <p:spPr>
          <a:xfrm xmlns:a="http://schemas.openxmlformats.org/drawingml/2006/main">
            <a:off x="9077325" y="27336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4</a:t>
            </a:r>
          </a:p>
        </p:txBody>
      </p:sp>
      <p:sp>
        <p:nvSpPr>
          <p:cNvPr id="21" name="">
            <a:extLst xmlns:a="http://schemas.openxmlformats.org/drawingml/2006/main">
              <a:ext uri="{FF2B5EF4-FFF2-40B4-BE49-F238E27FC236}">
                <a16:creationId xmlns:a16="http://schemas.microsoft.com/office/drawing/2014/main" id="{FB4BFCF7-16F5-4DD2-92B6-03A4B9512597}"/>
              </a:ext>
            </a:extLst>
          </p:cNvPr>
          <p:cNvSpPr>
            <a:spLocks xmlns:a="http://schemas.openxmlformats.org/drawingml/2006/main" noGrp="1"/>
          </p:cNvSpPr>
          <p:nvPr/>
        </p:nvSpPr>
        <p:spPr>
          <a:xfrm xmlns:a="http://schemas.openxmlformats.org/drawingml/2006/main">
            <a:off x="8915400" y="340995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My week</a:t>
            </a:r>
          </a:p>
        </p:txBody>
      </p:sp>
      <p:sp>
        <p:nvSpPr>
          <p:cNvPr id="22" name="">
            <a:extLst xmlns:a="http://schemas.openxmlformats.org/drawingml/2006/main">
              <a:ext uri="{FF2B5EF4-FFF2-40B4-BE49-F238E27FC236}">
                <a16:creationId xmlns:a16="http://schemas.microsoft.com/office/drawing/2014/main" id="{00217440-3C06-4FA5-B75E-FBD0097CE67C}"/>
              </a:ext>
            </a:extLst>
          </p:cNvPr>
          <p:cNvSpPr>
            <a:spLocks xmlns:a="http://schemas.openxmlformats.org/drawingml/2006/main" noGrp="1"/>
          </p:cNvSpPr>
          <p:nvPr/>
        </p:nvSpPr>
        <p:spPr>
          <a:xfrm xmlns:a="http://schemas.openxmlformats.org/drawingml/2006/main">
            <a:off x="8915400" y="38290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Notice what felt doable</a:t>
            </a:r>
          </a:p>
        </p:txBody>
      </p:sp>
      <p:sp>
        <p:nvSpPr>
          <p:cNvPr id="23" name="">
            <a:extLst xmlns:a="http://schemas.openxmlformats.org/drawingml/2006/main">
              <a:ext uri="{FF2B5EF4-FFF2-40B4-BE49-F238E27FC236}">
                <a16:creationId xmlns:a16="http://schemas.microsoft.com/office/drawing/2014/main" id="{987E7C21-A8E2-4DDD-82CE-142A1B824F8F}"/>
              </a:ext>
            </a:extLst>
          </p:cNvPr>
          <p:cNvSpPr>
            <a:spLocks xmlns:a="http://schemas.openxmlformats.org/drawingml/2006/main" noGrp="1"/>
          </p:cNvSpPr>
          <p:nvPr/>
        </p:nvSpPr>
        <p:spPr>
          <a:xfrm xmlns:a="http://schemas.openxmlformats.org/drawingml/2006/main">
            <a:off x="1562100" y="53530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1">
                <a:solidFill>
                  <a:srgbClr val="167D73"/>
                </a:solidFill>
                <a:latin typeface="Bitstream Charter"/>
                <a:ea typeface="Bitstream Charter"/>
                <a:cs typeface="Bitstream Charter"/>
              </a:defRPr>
            </a:pPr>
            <a:r>
              <a:rPr sz="1725" b="1">
                <a:solidFill>
                  <a:srgbClr val="167D73"/>
                </a:solidFill>
                <a:latin typeface="Bitstream Charter"/>
                <a:ea typeface="Bitstream Charter"/>
                <a:cs typeface="Bitstream Charter"/>
              </a:rPr>
              <a:t>The outcome is a realistic next activity and a small learning loop for the following week.</a:t>
            </a:r>
          </a:p>
        </p:txBody>
      </p:sp>
      <p:sp>
        <p:nvSpPr>
          <p:cNvPr id="24" name="">
            <a:extLst xmlns:a="http://schemas.openxmlformats.org/drawingml/2006/main">
              <a:ext uri="{FF2B5EF4-FFF2-40B4-BE49-F238E27FC236}">
                <a16:creationId xmlns:a16="http://schemas.microsoft.com/office/drawing/2014/main" id="{AD530C19-4481-4337-9A84-0A802F873AC0}"/>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25" name="">
            <a:extLst xmlns:a="http://schemas.openxmlformats.org/drawingml/2006/main">
              <a:ext uri="{FF2B5EF4-FFF2-40B4-BE49-F238E27FC236}">
                <a16:creationId xmlns:a16="http://schemas.microsoft.com/office/drawing/2014/main" id="{9717EB78-6017-4D47-B975-5B5D33C6B1DB}"/>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26" name="">
            <a:extLst xmlns:a="http://schemas.openxmlformats.org/drawingml/2006/main">
              <a:ext uri="{FF2B5EF4-FFF2-40B4-BE49-F238E27FC236}">
                <a16:creationId xmlns:a16="http://schemas.microsoft.com/office/drawing/2014/main" id="{91B2F3A0-FCC2-42F3-A28B-CB8EC73FFB86}"/>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04</a:t>
            </a:r>
          </a:p>
        </p:txBody>
      </p:sp>
    </p:spTree>
    <p:extLst>
      <p:ext uri="{BB962C8B-B14F-4D97-AF65-F5344CB8AC3E}">
        <p14:creationId xmlns:p14="http://schemas.microsoft.com/office/powerpoint/2010/main" val="480254542"/>
      </p:ext>
    </p:extLst>
  </p:cSld>
</p:sld>
</file>

<file path=ppt/slides/slide5.xml><?xml version="1.0" encoding="utf-8"?>
<p:sld xmlns:p="http://schemas.openxmlformats.org/presentationml/2006/main">
  <p:cSld>
    <p:bg>
      <p:bgPr>
        <a:solidFill xmlns:a="http://schemas.openxmlformats.org/drawingml/2006/main">
          <a:srgbClr val="F3FB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B464A20-1AC4-4C84-91B7-DB81DCEA1BC3}"/>
              </a:ext>
            </a:extLst>
          </p:cNvPr>
          <p:cNvSpPr>
            <a:spLocks xmlns:a="http://schemas.openxmlformats.org/drawingml/2006/main" noGrp="1"/>
          </p:cNvSpPr>
          <p:nvPr/>
        </p:nvSpPr>
        <p:spPr>
          <a:xfrm xmlns:a="http://schemas.openxmlformats.org/drawingml/2006/main">
            <a:off x="704850" y="495300"/>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Source-backed public places in Kraków</a:t>
            </a:r>
          </a:p>
        </p:txBody>
      </p:sp>
      <p:sp>
        <p:nvSpPr>
          <p:cNvPr id="2" name="">
            <a:extLst xmlns:a="http://schemas.openxmlformats.org/drawingml/2006/main">
              <a:ext uri="{FF2B5EF4-FFF2-40B4-BE49-F238E27FC236}">
                <a16:creationId xmlns:a16="http://schemas.microsoft.com/office/drawing/2014/main" id="{3EFA129C-7E2B-49C7-86A4-51A1EF1ACD9A}"/>
              </a:ext>
            </a:extLst>
          </p:cNvPr>
          <p:cNvSpPr>
            <a:spLocks xmlns:a="http://schemas.openxmlformats.org/drawingml/2006/main" noGrp="1"/>
          </p:cNvSpPr>
          <p:nvPr/>
        </p:nvSpPr>
        <p:spPr>
          <a:xfrm xmlns:a="http://schemas.openxmlformats.org/drawingml/2006/main">
            <a:off x="723900" y="15049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The pilot shows only places with a public source link and documented activity or equipment detail.</a:t>
            </a:r>
          </a:p>
        </p:txBody>
      </p:sp>
      <p:sp>
        <p:nvSpPr>
          <p:cNvPr id="3" name="">
            <a:extLst xmlns:a="http://schemas.openxmlformats.org/drawingml/2006/main">
              <a:ext uri="{FF2B5EF4-FFF2-40B4-BE49-F238E27FC236}">
                <a16:creationId xmlns:a16="http://schemas.microsoft.com/office/drawing/2014/main" id="{1BDEA08F-8B4F-48C7-B99D-0F721B72850E}"/>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E44FDB0-EB47-4243-8728-F7E83518563F}"/>
              </a:ext>
            </a:extLst>
          </p:cNvPr>
          <p:cNvSpPr>
            <a:spLocks xmlns:a="http://schemas.openxmlformats.org/drawingml/2006/main" noGrp="1"/>
          </p:cNvSpPr>
          <p:nvPr/>
        </p:nvSpPr>
        <p:spPr>
          <a:xfrm xmlns:a="http://schemas.openxmlformats.org/drawingml/2006/main">
            <a:off x="800100" y="22098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083F69"/>
                </a:solidFill>
                <a:latin typeface="Bitstream Charter"/>
                <a:ea typeface="Bitstream Charter"/>
                <a:cs typeface="Bitstream Charter"/>
              </a:defRPr>
            </a:pPr>
            <a:r>
              <a:rPr sz="3600" b="1">
                <a:solidFill>
                  <a:srgbClr val="083F69"/>
                </a:solidFill>
                <a:latin typeface="Bitstream Charter"/>
                <a:ea typeface="Bitstream Charter"/>
                <a:cs typeface="Bitstream Charter"/>
              </a:rPr>
              <a:t>14</a:t>
            </a:r>
          </a:p>
        </p:txBody>
      </p:sp>
      <p:sp>
        <p:nvSpPr>
          <p:cNvPr id="5" name="">
            <a:extLst xmlns:a="http://schemas.openxmlformats.org/drawingml/2006/main">
              <a:ext uri="{FF2B5EF4-FFF2-40B4-BE49-F238E27FC236}">
                <a16:creationId xmlns:a16="http://schemas.microsoft.com/office/drawing/2014/main" id="{57FBC21D-01B1-46A1-AE6B-47295C769140}"/>
              </a:ext>
            </a:extLst>
          </p:cNvPr>
          <p:cNvSpPr>
            <a:spLocks xmlns:a="http://schemas.openxmlformats.org/drawingml/2006/main" noGrp="1"/>
          </p:cNvSpPr>
          <p:nvPr/>
        </p:nvSpPr>
        <p:spPr>
          <a:xfrm xmlns:a="http://schemas.openxmlformats.org/drawingml/2006/main">
            <a:off x="800100" y="2857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456773"/>
                </a:solidFill>
                <a:latin typeface="Bitstream Charter"/>
                <a:ea typeface="Bitstream Charter"/>
                <a:cs typeface="Bitstream Charter"/>
              </a:defRPr>
            </a:pPr>
            <a:r>
              <a:rPr sz="1200" b="1">
                <a:solidFill>
                  <a:srgbClr val="456773"/>
                </a:solidFill>
                <a:latin typeface="Bitstream Charter"/>
                <a:ea typeface="Bitstream Charter"/>
                <a:cs typeface="Bitstream Charter"/>
              </a:rPr>
              <a:t>documented profiles shown in the app</a:t>
            </a:r>
          </a:p>
        </p:txBody>
      </p:sp>
      <p:sp>
        <p:nvSpPr>
          <p:cNvPr id="6" name="">
            <a:extLst xmlns:a="http://schemas.openxmlformats.org/drawingml/2006/main">
              <a:ext uri="{FF2B5EF4-FFF2-40B4-BE49-F238E27FC236}">
                <a16:creationId xmlns:a16="http://schemas.microsoft.com/office/drawing/2014/main" id="{3469DECF-553F-4C1C-9FA0-FD5AF76D2625}"/>
              </a:ext>
            </a:extLst>
          </p:cNvPr>
          <p:cNvSpPr>
            <a:spLocks xmlns:a="http://schemas.openxmlformats.org/drawingml/2006/main" noGrp="1"/>
          </p:cNvSpPr>
          <p:nvPr/>
        </p:nvSpPr>
        <p:spPr>
          <a:xfrm xmlns:a="http://schemas.openxmlformats.org/drawingml/2006/main">
            <a:off x="3486150" y="22098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167D73"/>
                </a:solidFill>
                <a:latin typeface="Bitstream Charter"/>
                <a:ea typeface="Bitstream Charter"/>
                <a:cs typeface="Bitstream Charter"/>
              </a:defRPr>
            </a:pPr>
            <a:r>
              <a:rPr sz="3600" b="1">
                <a:solidFill>
                  <a:srgbClr val="167D73"/>
                </a:solidFill>
                <a:latin typeface="Bitstream Charter"/>
                <a:ea typeface="Bitstream Charter"/>
                <a:cs typeface="Bitstream Charter"/>
              </a:rPr>
              <a:t>5</a:t>
            </a:r>
          </a:p>
        </p:txBody>
      </p:sp>
      <p:sp>
        <p:nvSpPr>
          <p:cNvPr id="7" name="">
            <a:extLst xmlns:a="http://schemas.openxmlformats.org/drawingml/2006/main">
              <a:ext uri="{FF2B5EF4-FFF2-40B4-BE49-F238E27FC236}">
                <a16:creationId xmlns:a16="http://schemas.microsoft.com/office/drawing/2014/main" id="{AB5821F3-6D12-4733-9409-91B14A86E912}"/>
              </a:ext>
            </a:extLst>
          </p:cNvPr>
          <p:cNvSpPr>
            <a:spLocks xmlns:a="http://schemas.openxmlformats.org/drawingml/2006/main" noGrp="1"/>
          </p:cNvSpPr>
          <p:nvPr/>
        </p:nvSpPr>
        <p:spPr>
          <a:xfrm xmlns:a="http://schemas.openxmlformats.org/drawingml/2006/main">
            <a:off x="3486150" y="2857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456773"/>
                </a:solidFill>
                <a:latin typeface="Bitstream Charter"/>
                <a:ea typeface="Bitstream Charter"/>
                <a:cs typeface="Bitstream Charter"/>
              </a:defRPr>
            </a:pPr>
            <a:r>
              <a:rPr sz="1200" b="1">
                <a:solidFill>
                  <a:srgbClr val="456773"/>
                </a:solidFill>
                <a:latin typeface="Bitstream Charter"/>
                <a:ea typeface="Bitstream Charter"/>
                <a:cs typeface="Bitstream Charter"/>
              </a:rPr>
              <a:t>activity filters for quick discovery</a:t>
            </a:r>
          </a:p>
        </p:txBody>
      </p:sp>
      <p:sp>
        <p:nvSpPr>
          <p:cNvPr id="8" name="">
            <a:extLst xmlns:a="http://schemas.openxmlformats.org/drawingml/2006/main">
              <a:ext uri="{FF2B5EF4-FFF2-40B4-BE49-F238E27FC236}">
                <a16:creationId xmlns:a16="http://schemas.microsoft.com/office/drawing/2014/main" id="{EA9A001F-A219-45A5-8CCC-31423DC282E8}"/>
              </a:ext>
            </a:extLst>
          </p:cNvPr>
          <p:cNvSpPr>
            <a:spLocks xmlns:a="http://schemas.openxmlformats.org/drawingml/2006/main" noGrp="1"/>
          </p:cNvSpPr>
          <p:nvPr/>
        </p:nvSpPr>
        <p:spPr>
          <a:xfrm xmlns:a="http://schemas.openxmlformats.org/drawingml/2006/main">
            <a:off x="6172200" y="22098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F4A928"/>
                </a:solidFill>
                <a:latin typeface="Bitstream Charter"/>
                <a:ea typeface="Bitstream Charter"/>
                <a:cs typeface="Bitstream Charter"/>
              </a:defRPr>
            </a:pPr>
            <a:r>
              <a:rPr sz="3600" b="1">
                <a:solidFill>
                  <a:srgbClr val="F4A928"/>
                </a:solidFill>
                <a:latin typeface="Bitstream Charter"/>
                <a:ea typeface="Bitstream Charter"/>
                <a:cs typeface="Bitstream Charter"/>
              </a:rPr>
              <a:t>0</a:t>
            </a:r>
          </a:p>
        </p:txBody>
      </p:sp>
      <p:sp>
        <p:nvSpPr>
          <p:cNvPr id="9" name="">
            <a:extLst xmlns:a="http://schemas.openxmlformats.org/drawingml/2006/main">
              <a:ext uri="{FF2B5EF4-FFF2-40B4-BE49-F238E27FC236}">
                <a16:creationId xmlns:a16="http://schemas.microsoft.com/office/drawing/2014/main" id="{3EEBD26D-636C-4C97-B0CC-4603BF295C55}"/>
              </a:ext>
            </a:extLst>
          </p:cNvPr>
          <p:cNvSpPr>
            <a:spLocks xmlns:a="http://schemas.openxmlformats.org/drawingml/2006/main" noGrp="1"/>
          </p:cNvSpPr>
          <p:nvPr/>
        </p:nvSpPr>
        <p:spPr>
          <a:xfrm xmlns:a="http://schemas.openxmlformats.org/drawingml/2006/main">
            <a:off x="6172200" y="2857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456773"/>
                </a:solidFill>
                <a:latin typeface="Bitstream Charter"/>
                <a:ea typeface="Bitstream Charter"/>
                <a:cs typeface="Bitstream Charter"/>
              </a:defRPr>
            </a:pPr>
            <a:r>
              <a:rPr sz="1200" b="1">
                <a:solidFill>
                  <a:srgbClr val="456773"/>
                </a:solidFill>
                <a:latin typeface="Bitstream Charter"/>
                <a:ea typeface="Bitstream Charter"/>
                <a:cs typeface="Bitstream Charter"/>
              </a:rPr>
              <a:t>assumed equipment details</a:t>
            </a:r>
          </a:p>
        </p:txBody>
      </p:sp>
      <p:sp>
        <p:nvSpPr>
          <p:cNvPr id="10" name="">
            <a:extLst xmlns:a="http://schemas.openxmlformats.org/drawingml/2006/main">
              <a:ext uri="{FF2B5EF4-FFF2-40B4-BE49-F238E27FC236}">
                <a16:creationId xmlns:a16="http://schemas.microsoft.com/office/drawing/2014/main" id="{950A2C45-112C-4796-A109-9F811E2A3A09}"/>
              </a:ext>
            </a:extLst>
          </p:cNvPr>
          <p:cNvSpPr>
            <a:spLocks xmlns:a="http://schemas.openxmlformats.org/drawingml/2006/main" noGrp="1"/>
          </p:cNvSpPr>
          <p:nvPr/>
        </p:nvSpPr>
        <p:spPr>
          <a:xfrm xmlns:a="http://schemas.openxmlformats.org/drawingml/2006/main">
            <a:off x="723900" y="4095750"/>
            <a:ext cx="99822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BFDBE2"/>
            </a:solidFill>
          </a:ln>
        </p:spPr>
      </p:sp>
      <p:sp>
        <p:nvSpPr>
          <p:cNvPr id="11" name="">
            <a:extLst xmlns:a="http://schemas.openxmlformats.org/drawingml/2006/main">
              <a:ext uri="{FF2B5EF4-FFF2-40B4-BE49-F238E27FC236}">
                <a16:creationId xmlns:a16="http://schemas.microsoft.com/office/drawing/2014/main" id="{5388A494-4EEB-40A8-AA93-702E256FF182}"/>
              </a:ext>
            </a:extLst>
          </p:cNvPr>
          <p:cNvSpPr>
            <a:spLocks xmlns:a="http://schemas.openxmlformats.org/drawingml/2006/main" noGrp="1"/>
          </p:cNvSpPr>
          <p:nvPr/>
        </p:nvSpPr>
        <p:spPr>
          <a:xfrm xmlns:a="http://schemas.openxmlformats.org/drawingml/2006/main">
            <a:off x="1028700" y="440055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43F50"/>
                </a:solidFill>
                <a:latin typeface="Bitstream Charter"/>
                <a:ea typeface="Bitstream Charter"/>
                <a:cs typeface="Bitstream Charter"/>
              </a:defRPr>
            </a:pPr>
            <a:r>
              <a:rPr sz="1500" b="1">
                <a:solidFill>
                  <a:srgbClr val="143F50"/>
                </a:solidFill>
                <a:latin typeface="Bitstream Charter"/>
                <a:ea typeface="Bitstream Charter"/>
                <a:cs typeface="Bitstream Charter"/>
              </a:rPr>
              <a:t>Outdoor gyms and street workout</a:t>
            </a:r>
          </a:p>
        </p:txBody>
      </p:sp>
      <p:sp>
        <p:nvSpPr>
          <p:cNvPr id="12" name="">
            <a:extLst xmlns:a="http://schemas.openxmlformats.org/drawingml/2006/main">
              <a:ext uri="{FF2B5EF4-FFF2-40B4-BE49-F238E27FC236}">
                <a16:creationId xmlns:a16="http://schemas.microsoft.com/office/drawing/2014/main" id="{8BE34F00-09CE-41A6-B1C0-C28A0FFAAF55}"/>
              </a:ext>
            </a:extLst>
          </p:cNvPr>
          <p:cNvSpPr>
            <a:spLocks xmlns:a="http://schemas.openxmlformats.org/drawingml/2006/main" noGrp="1"/>
          </p:cNvSpPr>
          <p:nvPr/>
        </p:nvSpPr>
        <p:spPr>
          <a:xfrm xmlns:a="http://schemas.openxmlformats.org/drawingml/2006/main">
            <a:off x="4171950" y="44005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43F50"/>
                </a:solidFill>
                <a:latin typeface="Bitstream Charter"/>
                <a:ea typeface="Bitstream Charter"/>
                <a:cs typeface="Bitstream Charter"/>
              </a:defRPr>
            </a:pPr>
            <a:r>
              <a:rPr sz="1500" b="1">
                <a:solidFill>
                  <a:srgbClr val="143F50"/>
                </a:solidFill>
                <a:latin typeface="Bitstream Charter"/>
                <a:ea typeface="Bitstream Charter"/>
                <a:cs typeface="Bitstream Charter"/>
              </a:rPr>
              <a:t>Courts and pitches</a:t>
            </a:r>
          </a:p>
        </p:txBody>
      </p:sp>
      <p:sp>
        <p:nvSpPr>
          <p:cNvPr id="13" name="">
            <a:extLst xmlns:a="http://schemas.openxmlformats.org/drawingml/2006/main">
              <a:ext uri="{FF2B5EF4-FFF2-40B4-BE49-F238E27FC236}">
                <a16:creationId xmlns:a16="http://schemas.microsoft.com/office/drawing/2014/main" id="{DF264105-C39D-470C-A342-AFC1D81B04BE}"/>
              </a:ext>
            </a:extLst>
          </p:cNvPr>
          <p:cNvSpPr>
            <a:spLocks xmlns:a="http://schemas.openxmlformats.org/drawingml/2006/main" noGrp="1"/>
          </p:cNvSpPr>
          <p:nvPr/>
        </p:nvSpPr>
        <p:spPr>
          <a:xfrm xmlns:a="http://schemas.openxmlformats.org/drawingml/2006/main">
            <a:off x="7124700" y="4400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43F50"/>
                </a:solidFill>
                <a:latin typeface="Bitstream Charter"/>
                <a:ea typeface="Bitstream Charter"/>
                <a:cs typeface="Bitstream Charter"/>
              </a:defRPr>
            </a:pPr>
            <a:r>
              <a:rPr sz="1500" b="1">
                <a:solidFill>
                  <a:srgbClr val="143F50"/>
                </a:solidFill>
                <a:latin typeface="Bitstream Charter"/>
                <a:ea typeface="Bitstream Charter"/>
                <a:cs typeface="Bitstream Charter"/>
              </a:rPr>
              <a:t>Waterfront recreation</a:t>
            </a:r>
          </a:p>
        </p:txBody>
      </p:sp>
      <p:sp>
        <p:nvSpPr>
          <p:cNvPr id="14" name="">
            <a:extLst xmlns:a="http://schemas.openxmlformats.org/drawingml/2006/main">
              <a:ext uri="{FF2B5EF4-FFF2-40B4-BE49-F238E27FC236}">
                <a16:creationId xmlns:a16="http://schemas.microsoft.com/office/drawing/2014/main" id="{6C503237-A798-471D-838C-19D5015C52A3}"/>
              </a:ext>
            </a:extLst>
          </p:cNvPr>
          <p:cNvSpPr>
            <a:spLocks xmlns:a="http://schemas.openxmlformats.org/drawingml/2006/main" noGrp="1"/>
          </p:cNvSpPr>
          <p:nvPr/>
        </p:nvSpPr>
        <p:spPr>
          <a:xfrm xmlns:a="http://schemas.openxmlformats.org/drawingml/2006/main">
            <a:off x="1028700" y="48577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Every profile includes documented activities, access caveats and a source link. If a record does not support a detail, the app leaves it unknown.</a:t>
            </a:r>
          </a:p>
        </p:txBody>
      </p:sp>
      <p:sp>
        <p:nvSpPr>
          <p:cNvPr id="15" name="">
            <a:extLst xmlns:a="http://schemas.openxmlformats.org/drawingml/2006/main">
              <a:ext uri="{FF2B5EF4-FFF2-40B4-BE49-F238E27FC236}">
                <a16:creationId xmlns:a16="http://schemas.microsoft.com/office/drawing/2014/main" id="{CEFF6C54-EC75-406E-B100-091990879748}"/>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6" name="">
            <a:extLst xmlns:a="http://schemas.openxmlformats.org/drawingml/2006/main">
              <a:ext uri="{FF2B5EF4-FFF2-40B4-BE49-F238E27FC236}">
                <a16:creationId xmlns:a16="http://schemas.microsoft.com/office/drawing/2014/main" id="{CA8869CE-7530-442A-B0CC-156585ED2AEF}"/>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17" name="">
            <a:extLst xmlns:a="http://schemas.openxmlformats.org/drawingml/2006/main">
              <a:ext uri="{FF2B5EF4-FFF2-40B4-BE49-F238E27FC236}">
                <a16:creationId xmlns:a16="http://schemas.microsoft.com/office/drawing/2014/main" id="{42F25D0D-280C-4EA8-B491-A742E200F2CA}"/>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05</a:t>
            </a:r>
          </a:p>
        </p:txBody>
      </p:sp>
    </p:spTree>
    <p:extLst>
      <p:ext uri="{BB962C8B-B14F-4D97-AF65-F5344CB8AC3E}">
        <p14:creationId xmlns:p14="http://schemas.microsoft.com/office/powerpoint/2010/main" val="731733518"/>
      </p:ext>
    </p:extLst>
  </p:cSld>
</p:sld>
</file>

<file path=ppt/slides/slide6.xml><?xml version="1.0" encoding="utf-8"?>
<p:sld xmlns:p="http://schemas.openxmlformats.org/presentationml/2006/main">
  <p:cSld>
    <p:bg>
      <p:bgPr>
        <a:solidFill xmlns:a="http://schemas.openxmlformats.org/drawingml/2006/main">
          <a:srgbClr val="F4FA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40BDB43-1191-460D-A387-689FBE819A8F}"/>
              </a:ext>
            </a:extLst>
          </p:cNvPr>
          <p:cNvSpPr>
            <a:spLocks xmlns:a="http://schemas.openxmlformats.org/drawingml/2006/main" noGrp="1"/>
          </p:cNvSpPr>
          <p:nvPr/>
        </p:nvSpPr>
        <p:spPr>
          <a:xfrm xmlns:a="http://schemas.openxmlformats.org/drawingml/2006/main">
            <a:off x="704850" y="495300"/>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A plan that respects the clock</a:t>
            </a:r>
          </a:p>
        </p:txBody>
      </p:sp>
      <p:sp>
        <p:nvSpPr>
          <p:cNvPr id="2" name="">
            <a:extLst xmlns:a="http://schemas.openxmlformats.org/drawingml/2006/main">
              <a:ext uri="{FF2B5EF4-FFF2-40B4-BE49-F238E27FC236}">
                <a16:creationId xmlns:a16="http://schemas.microsoft.com/office/drawing/2014/main" id="{37175316-125C-4D7F-98AC-A88ADBD6B1B2}"/>
              </a:ext>
            </a:extLst>
          </p:cNvPr>
          <p:cNvSpPr>
            <a:spLocks xmlns:a="http://schemas.openxmlformats.org/drawingml/2006/main" noGrp="1"/>
          </p:cNvSpPr>
          <p:nvPr/>
        </p:nvSpPr>
        <p:spPr>
          <a:xfrm xmlns:a="http://schemas.openxmlformats.org/drawingml/2006/main">
            <a:off x="723900" y="15049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Today’s Plan reserves travel time before it proposes an activity outline.</a:t>
            </a:r>
          </a:p>
        </p:txBody>
      </p:sp>
      <p:sp>
        <p:nvSpPr>
          <p:cNvPr id="3" name="">
            <a:extLst xmlns:a="http://schemas.openxmlformats.org/drawingml/2006/main">
              <a:ext uri="{FF2B5EF4-FFF2-40B4-BE49-F238E27FC236}">
                <a16:creationId xmlns:a16="http://schemas.microsoft.com/office/drawing/2014/main" id="{EB21C498-51CD-44D4-96B1-1803FFD3910E}"/>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BC4E363-A997-4C2D-B9C7-C9E2D47B091B}"/>
              </a:ext>
            </a:extLst>
          </p:cNvPr>
          <p:cNvSpPr>
            <a:spLocks xmlns:a="http://schemas.openxmlformats.org/drawingml/2006/main" noGrp="1"/>
          </p:cNvSpPr>
          <p:nvPr/>
        </p:nvSpPr>
        <p:spPr>
          <a:xfrm xmlns:a="http://schemas.openxmlformats.org/drawingml/2006/main">
            <a:off x="723900" y="2171700"/>
            <a:ext cx="2705100" cy="2419350"/>
          </a:xfrm>
          <a:prstGeom xmlns:a="http://schemas.openxmlformats.org/drawingml/2006/main" prst="rect">
            <a:avLst/>
          </a:prstGeom>
          <a:solidFill xmlns:a="http://schemas.openxmlformats.org/drawingml/2006/main">
            <a:srgbClr val="FFFFFF"/>
          </a:solidFill>
          <a:ln xmlns:a="http://schemas.openxmlformats.org/drawingml/2006/main" w="9525">
            <a:solidFill>
              <a:srgbClr val="B8D8CB"/>
            </a:solidFill>
          </a:ln>
        </p:spPr>
      </p:sp>
      <p:sp>
        <p:nvSpPr>
          <p:cNvPr id="5" name="">
            <a:extLst xmlns:a="http://schemas.openxmlformats.org/drawingml/2006/main">
              <a:ext uri="{FF2B5EF4-FFF2-40B4-BE49-F238E27FC236}">
                <a16:creationId xmlns:a16="http://schemas.microsoft.com/office/drawing/2014/main" id="{9C8AE507-6155-4FBC-817F-007F52EE5105}"/>
              </a:ext>
            </a:extLst>
          </p:cNvPr>
          <p:cNvSpPr>
            <a:spLocks xmlns:a="http://schemas.openxmlformats.org/drawingml/2006/main" noGrp="1"/>
          </p:cNvSpPr>
          <p:nvPr/>
        </p:nvSpPr>
        <p:spPr>
          <a:xfrm xmlns:a="http://schemas.openxmlformats.org/drawingml/2006/main">
            <a:off x="1028700" y="24955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1. TIME AVAILABLE</a:t>
            </a:r>
          </a:p>
        </p:txBody>
      </p:sp>
      <p:sp>
        <p:nvSpPr>
          <p:cNvPr id="6" name="">
            <a:extLst xmlns:a="http://schemas.openxmlformats.org/drawingml/2006/main">
              <a:ext uri="{FF2B5EF4-FFF2-40B4-BE49-F238E27FC236}">
                <a16:creationId xmlns:a16="http://schemas.microsoft.com/office/drawing/2014/main" id="{C8C3555B-A970-434D-9B41-15303FA4F5C4}"/>
              </a:ext>
            </a:extLst>
          </p:cNvPr>
          <p:cNvSpPr>
            <a:spLocks xmlns:a="http://schemas.openxmlformats.org/drawingml/2006/main" noGrp="1"/>
          </p:cNvSpPr>
          <p:nvPr/>
        </p:nvSpPr>
        <p:spPr>
          <a:xfrm xmlns:a="http://schemas.openxmlformats.org/drawingml/2006/main">
            <a:off x="1028700" y="293370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143F50"/>
                </a:solidFill>
                <a:latin typeface="Bitstream Charter"/>
                <a:ea typeface="Bitstream Charter"/>
                <a:cs typeface="Bitstream Charter"/>
              </a:defRPr>
            </a:pPr>
            <a:r>
              <a:rPr sz="3600" b="1">
                <a:solidFill>
                  <a:srgbClr val="143F50"/>
                </a:solidFill>
                <a:latin typeface="Bitstream Charter"/>
                <a:ea typeface="Bitstream Charter"/>
                <a:cs typeface="Bitstream Charter"/>
              </a:rPr>
              <a:t>60 min</a:t>
            </a:r>
          </a:p>
        </p:txBody>
      </p:sp>
      <p:sp>
        <p:nvSpPr>
          <p:cNvPr id="7" name="">
            <a:extLst xmlns:a="http://schemas.openxmlformats.org/drawingml/2006/main">
              <a:ext uri="{FF2B5EF4-FFF2-40B4-BE49-F238E27FC236}">
                <a16:creationId xmlns:a16="http://schemas.microsoft.com/office/drawing/2014/main" id="{0BFC493B-A27B-47F9-87CB-0848530B1E09}"/>
              </a:ext>
            </a:extLst>
          </p:cNvPr>
          <p:cNvSpPr>
            <a:spLocks xmlns:a="http://schemas.openxmlformats.org/drawingml/2006/main" noGrp="1"/>
          </p:cNvSpPr>
          <p:nvPr/>
        </p:nvSpPr>
        <p:spPr>
          <a:xfrm xmlns:a="http://schemas.openxmlformats.org/drawingml/2006/main">
            <a:off x="1028700" y="367665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The person sets their whole window, including the journey.</a:t>
            </a:r>
          </a:p>
        </p:txBody>
      </p:sp>
      <p:sp>
        <p:nvSpPr>
          <p:cNvPr id="8" name="">
            <a:extLst xmlns:a="http://schemas.openxmlformats.org/drawingml/2006/main">
              <a:ext uri="{FF2B5EF4-FFF2-40B4-BE49-F238E27FC236}">
                <a16:creationId xmlns:a16="http://schemas.microsoft.com/office/drawing/2014/main" id="{270D57D9-C504-4076-8322-CEE0BF59DC88}"/>
              </a:ext>
            </a:extLst>
          </p:cNvPr>
          <p:cNvSpPr>
            <a:spLocks xmlns:a="http://schemas.openxmlformats.org/drawingml/2006/main" noGrp="1"/>
          </p:cNvSpPr>
          <p:nvPr/>
        </p:nvSpPr>
        <p:spPr>
          <a:xfrm xmlns:a="http://schemas.openxmlformats.org/drawingml/2006/main">
            <a:off x="4381500" y="2171700"/>
            <a:ext cx="2705100" cy="2419350"/>
          </a:xfrm>
          <a:prstGeom xmlns:a="http://schemas.openxmlformats.org/drawingml/2006/main" prst="rect">
            <a:avLst/>
          </a:prstGeom>
          <a:solidFill xmlns:a="http://schemas.openxmlformats.org/drawingml/2006/main">
            <a:srgbClr val="FFFFFF"/>
          </a:solidFill>
          <a:ln xmlns:a="http://schemas.openxmlformats.org/drawingml/2006/main" w="9525">
            <a:solidFill>
              <a:srgbClr val="B8D8CB"/>
            </a:solidFill>
          </a:ln>
        </p:spPr>
      </p:sp>
      <p:sp>
        <p:nvSpPr>
          <p:cNvPr id="9" name="">
            <a:extLst xmlns:a="http://schemas.openxmlformats.org/drawingml/2006/main">
              <a:ext uri="{FF2B5EF4-FFF2-40B4-BE49-F238E27FC236}">
                <a16:creationId xmlns:a16="http://schemas.microsoft.com/office/drawing/2014/main" id="{7C6C44E1-CEED-4BFC-8925-4798199152EA}"/>
              </a:ext>
            </a:extLst>
          </p:cNvPr>
          <p:cNvSpPr>
            <a:spLocks xmlns:a="http://schemas.openxmlformats.org/drawingml/2006/main" noGrp="1"/>
          </p:cNvSpPr>
          <p:nvPr/>
        </p:nvSpPr>
        <p:spPr>
          <a:xfrm xmlns:a="http://schemas.openxmlformats.org/drawingml/2006/main">
            <a:off x="4686300" y="24955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2. JOURNEY CHECK</a:t>
            </a:r>
          </a:p>
        </p:txBody>
      </p:sp>
      <p:sp>
        <p:nvSpPr>
          <p:cNvPr id="10" name="">
            <a:extLst xmlns:a="http://schemas.openxmlformats.org/drawingml/2006/main">
              <a:ext uri="{FF2B5EF4-FFF2-40B4-BE49-F238E27FC236}">
                <a16:creationId xmlns:a16="http://schemas.microsoft.com/office/drawing/2014/main" id="{72FDF931-94A6-4497-BDF9-8D225CB05AF9}"/>
              </a:ext>
            </a:extLst>
          </p:cNvPr>
          <p:cNvSpPr>
            <a:spLocks xmlns:a="http://schemas.openxmlformats.org/drawingml/2006/main" noGrp="1"/>
          </p:cNvSpPr>
          <p:nvPr/>
        </p:nvSpPr>
        <p:spPr>
          <a:xfrm xmlns:a="http://schemas.openxmlformats.org/drawingml/2006/main">
            <a:off x="4686300" y="295275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950" b="1">
                <a:solidFill>
                  <a:srgbClr val="143F50"/>
                </a:solidFill>
                <a:latin typeface="Bitstream Charter"/>
                <a:ea typeface="Bitstream Charter"/>
                <a:cs typeface="Bitstream Charter"/>
              </a:defRPr>
            </a:pPr>
            <a:r>
              <a:rPr sz="1950" b="1">
                <a:solidFill>
                  <a:srgbClr val="143F50"/>
                </a:solidFill>
                <a:latin typeface="Bitstream Charter"/>
                <a:ea typeface="Bitstream Charter"/>
                <a:cs typeface="Bitstream Charter"/>
              </a:rPr>
              <a:t>Return travel</a:t>
            </a:r>
          </a:p>
        </p:txBody>
      </p:sp>
      <p:sp>
        <p:nvSpPr>
          <p:cNvPr id="11" name="">
            <a:extLst xmlns:a="http://schemas.openxmlformats.org/drawingml/2006/main">
              <a:ext uri="{FF2B5EF4-FFF2-40B4-BE49-F238E27FC236}">
                <a16:creationId xmlns:a16="http://schemas.microsoft.com/office/drawing/2014/main" id="{A9051685-4537-4926-B17E-D424DEF1C19C}"/>
              </a:ext>
            </a:extLst>
          </p:cNvPr>
          <p:cNvSpPr>
            <a:spLocks xmlns:a="http://schemas.openxmlformats.org/drawingml/2006/main" noGrp="1"/>
          </p:cNvSpPr>
          <p:nvPr/>
        </p:nvSpPr>
        <p:spPr>
          <a:xfrm xmlns:a="http://schemas.openxmlformats.org/drawingml/2006/main">
            <a:off x="4686300" y="34290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Walking, running or public transport. Route estimates stay clearly labelled as guidance.</a:t>
            </a:r>
          </a:p>
        </p:txBody>
      </p:sp>
      <p:sp>
        <p:nvSpPr>
          <p:cNvPr id="12" name="">
            <a:extLst xmlns:a="http://schemas.openxmlformats.org/drawingml/2006/main">
              <a:ext uri="{FF2B5EF4-FFF2-40B4-BE49-F238E27FC236}">
                <a16:creationId xmlns:a16="http://schemas.microsoft.com/office/drawing/2014/main" id="{3145333A-2E29-4FD9-A1BD-BAC743649375}"/>
              </a:ext>
            </a:extLst>
          </p:cNvPr>
          <p:cNvSpPr>
            <a:spLocks xmlns:a="http://schemas.openxmlformats.org/drawingml/2006/main" noGrp="1"/>
          </p:cNvSpPr>
          <p:nvPr/>
        </p:nvSpPr>
        <p:spPr>
          <a:xfrm xmlns:a="http://schemas.openxmlformats.org/drawingml/2006/main">
            <a:off x="8039100" y="2171700"/>
            <a:ext cx="2705100" cy="2419350"/>
          </a:xfrm>
          <a:prstGeom xmlns:a="http://schemas.openxmlformats.org/drawingml/2006/main" prst="rect">
            <a:avLst/>
          </a:prstGeom>
          <a:solidFill xmlns:a="http://schemas.openxmlformats.org/drawingml/2006/main">
            <a:srgbClr val="FFFFFF"/>
          </a:solidFill>
          <a:ln xmlns:a="http://schemas.openxmlformats.org/drawingml/2006/main" w="9525">
            <a:solidFill>
              <a:srgbClr val="B8D8CB"/>
            </a:solidFill>
          </a:ln>
        </p:spPr>
      </p:sp>
      <p:sp>
        <p:nvSpPr>
          <p:cNvPr id="13" name="">
            <a:extLst xmlns:a="http://schemas.openxmlformats.org/drawingml/2006/main">
              <a:ext uri="{FF2B5EF4-FFF2-40B4-BE49-F238E27FC236}">
                <a16:creationId xmlns:a16="http://schemas.microsoft.com/office/drawing/2014/main" id="{C80B947C-D533-4BAF-889E-E7AAF9093453}"/>
              </a:ext>
            </a:extLst>
          </p:cNvPr>
          <p:cNvSpPr>
            <a:spLocks xmlns:a="http://schemas.openxmlformats.org/drawingml/2006/main" noGrp="1"/>
          </p:cNvSpPr>
          <p:nvPr/>
        </p:nvSpPr>
        <p:spPr>
          <a:xfrm xmlns:a="http://schemas.openxmlformats.org/drawingml/2006/main">
            <a:off x="8343900" y="24955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3. A SENSIBLE CHOICE</a:t>
            </a:r>
          </a:p>
        </p:txBody>
      </p:sp>
      <p:sp>
        <p:nvSpPr>
          <p:cNvPr id="14" name="">
            <a:extLst xmlns:a="http://schemas.openxmlformats.org/drawingml/2006/main">
              <a:ext uri="{FF2B5EF4-FFF2-40B4-BE49-F238E27FC236}">
                <a16:creationId xmlns:a16="http://schemas.microsoft.com/office/drawing/2014/main" id="{89F05C85-FA3F-42D9-9400-A4296AA40C31}"/>
              </a:ext>
            </a:extLst>
          </p:cNvPr>
          <p:cNvSpPr>
            <a:spLocks xmlns:a="http://schemas.openxmlformats.org/drawingml/2006/main" noGrp="1"/>
          </p:cNvSpPr>
          <p:nvPr/>
        </p:nvSpPr>
        <p:spPr>
          <a:xfrm xmlns:a="http://schemas.openxmlformats.org/drawingml/2006/main">
            <a:off x="8343900" y="295275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950" b="1">
                <a:solidFill>
                  <a:srgbClr val="143F50"/>
                </a:solidFill>
                <a:latin typeface="Bitstream Charter"/>
                <a:ea typeface="Bitstream Charter"/>
                <a:cs typeface="Bitstream Charter"/>
              </a:defRPr>
            </a:pPr>
            <a:r>
              <a:rPr sz="1950" b="1">
                <a:solidFill>
                  <a:srgbClr val="143F50"/>
                </a:solidFill>
                <a:latin typeface="Bitstream Charter"/>
                <a:ea typeface="Bitstream Charter"/>
                <a:cs typeface="Bitstream Charter"/>
              </a:rPr>
              <a:t>Move or swap</a:t>
            </a:r>
          </a:p>
        </p:txBody>
      </p:sp>
      <p:sp>
        <p:nvSpPr>
          <p:cNvPr id="15" name="">
            <a:extLst xmlns:a="http://schemas.openxmlformats.org/drawingml/2006/main">
              <a:ext uri="{FF2B5EF4-FFF2-40B4-BE49-F238E27FC236}">
                <a16:creationId xmlns:a16="http://schemas.microsoft.com/office/drawing/2014/main" id="{71296B20-C9E4-4EED-BED6-15EA3A57EA2D}"/>
              </a:ext>
            </a:extLst>
          </p:cNvPr>
          <p:cNvSpPr>
            <a:spLocks xmlns:a="http://schemas.openxmlformats.org/drawingml/2006/main" noGrp="1"/>
          </p:cNvSpPr>
          <p:nvPr/>
        </p:nvSpPr>
        <p:spPr>
          <a:xfrm xmlns:a="http://schemas.openxmlformats.org/drawingml/2006/main">
            <a:off x="8343900" y="34290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If less than 10 minutes remain, the app suggests a closer documented place instead.</a:t>
            </a:r>
          </a:p>
        </p:txBody>
      </p:sp>
      <p:sp>
        <p:nvSpPr>
          <p:cNvPr id="16" name="">
            <a:extLst xmlns:a="http://schemas.openxmlformats.org/drawingml/2006/main">
              <a:ext uri="{FF2B5EF4-FFF2-40B4-BE49-F238E27FC236}">
                <a16:creationId xmlns:a16="http://schemas.microsoft.com/office/drawing/2014/main" id="{25D91C51-A87B-48B2-B2BF-28387F8697BB}"/>
              </a:ext>
            </a:extLst>
          </p:cNvPr>
          <p:cNvSpPr>
            <a:spLocks xmlns:a="http://schemas.openxmlformats.org/drawingml/2006/main" noGrp="1"/>
          </p:cNvSpPr>
          <p:nvPr/>
        </p:nvSpPr>
        <p:spPr>
          <a:xfrm xmlns:a="http://schemas.openxmlformats.org/drawingml/2006/main">
            <a:off x="1181100" y="53530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67D73"/>
                </a:solidFill>
                <a:latin typeface="Bitstream Charter"/>
                <a:ea typeface="Bitstream Charter"/>
                <a:cs typeface="Bitstream Charter"/>
              </a:defRPr>
            </a:pPr>
            <a:r>
              <a:rPr sz="1650" b="1">
                <a:solidFill>
                  <a:srgbClr val="167D73"/>
                </a:solidFill>
                <a:latin typeface="Bitstream Charter"/>
                <a:ea typeface="Bitstream Charter"/>
                <a:cs typeface="Bitstream Charter"/>
              </a:rPr>
              <a:t>When a place fits, the person sees a warm-up, main movement, control and ease-out outline for the time left.</a:t>
            </a:r>
          </a:p>
        </p:txBody>
      </p:sp>
      <p:sp>
        <p:nvSpPr>
          <p:cNvPr id="17" name="">
            <a:extLst xmlns:a="http://schemas.openxmlformats.org/drawingml/2006/main">
              <a:ext uri="{FF2B5EF4-FFF2-40B4-BE49-F238E27FC236}">
                <a16:creationId xmlns:a16="http://schemas.microsoft.com/office/drawing/2014/main" id="{E0DD1D88-823C-4515-89D3-A1BC60CB3B99}"/>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8" name="">
            <a:extLst xmlns:a="http://schemas.openxmlformats.org/drawingml/2006/main">
              <a:ext uri="{FF2B5EF4-FFF2-40B4-BE49-F238E27FC236}">
                <a16:creationId xmlns:a16="http://schemas.microsoft.com/office/drawing/2014/main" id="{083F81A6-3509-4E11-8A15-25912FFD1FE6}"/>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19" name="">
            <a:extLst xmlns:a="http://schemas.openxmlformats.org/drawingml/2006/main">
              <a:ext uri="{FF2B5EF4-FFF2-40B4-BE49-F238E27FC236}">
                <a16:creationId xmlns:a16="http://schemas.microsoft.com/office/drawing/2014/main" id="{83A6E8EB-C9D1-4F4D-98C1-870D3E42554B}"/>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06</a:t>
            </a:r>
          </a:p>
        </p:txBody>
      </p:sp>
    </p:spTree>
    <p:extLst>
      <p:ext uri="{BB962C8B-B14F-4D97-AF65-F5344CB8AC3E}">
        <p14:creationId xmlns:p14="http://schemas.microsoft.com/office/powerpoint/2010/main" val="1996536959"/>
      </p:ext>
    </p:extLst>
  </p:cSld>
</p:sld>
</file>

<file path=ppt/slides/slide7.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61A1997-D7D3-4311-96AB-69D75156ECC0}"/>
              </a:ext>
            </a:extLst>
          </p:cNvPr>
          <p:cNvSpPr>
            <a:spLocks xmlns:a="http://schemas.openxmlformats.org/drawingml/2006/main" noGrp="1"/>
          </p:cNvSpPr>
          <p:nvPr/>
        </p:nvSpPr>
        <p:spPr>
          <a:xfrm xmlns:a="http://schemas.openxmlformats.org/drawingml/2006/main">
            <a:off x="704850" y="495300"/>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My week stays personal</a:t>
            </a:r>
          </a:p>
        </p:txBody>
      </p:sp>
      <p:sp>
        <p:nvSpPr>
          <p:cNvPr id="2" name="">
            <a:extLst xmlns:a="http://schemas.openxmlformats.org/drawingml/2006/main">
              <a:ext uri="{FF2B5EF4-FFF2-40B4-BE49-F238E27FC236}">
                <a16:creationId xmlns:a16="http://schemas.microsoft.com/office/drawing/2014/main" id="{C68E6849-AC05-4B8C-BC68-066B45427E88}"/>
              </a:ext>
            </a:extLst>
          </p:cNvPr>
          <p:cNvSpPr>
            <a:spLocks xmlns:a="http://schemas.openxmlformats.org/drawingml/2006/main" noGrp="1"/>
          </p:cNvSpPr>
          <p:nvPr/>
        </p:nvSpPr>
        <p:spPr>
          <a:xfrm xmlns:a="http://schemas.openxmlformats.org/drawingml/2006/main">
            <a:off x="723900" y="15049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A person can keep a simple private record of what felt manageable and what they might try next.</a:t>
            </a:r>
          </a:p>
        </p:txBody>
      </p:sp>
      <p:sp>
        <p:nvSpPr>
          <p:cNvPr id="3" name="">
            <a:extLst xmlns:a="http://schemas.openxmlformats.org/drawingml/2006/main">
              <a:ext uri="{FF2B5EF4-FFF2-40B4-BE49-F238E27FC236}">
                <a16:creationId xmlns:a16="http://schemas.microsoft.com/office/drawing/2014/main" id="{99FA3A1A-E4A4-47E2-8134-3BA5263EFE62}"/>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8049362-4782-429D-876A-1E9C568E0089}"/>
              </a:ext>
            </a:extLst>
          </p:cNvPr>
          <p:cNvSpPr>
            <a:spLocks xmlns:a="http://schemas.openxmlformats.org/drawingml/2006/main" noGrp="1"/>
          </p:cNvSpPr>
          <p:nvPr/>
        </p:nvSpPr>
        <p:spPr>
          <a:xfrm xmlns:a="http://schemas.openxmlformats.org/drawingml/2006/main">
            <a:off x="723900" y="2171700"/>
            <a:ext cx="4267200" cy="2800350"/>
          </a:xfrm>
          <a:prstGeom xmlns:a="http://schemas.openxmlformats.org/drawingml/2006/main" prst="rect">
            <a:avLst/>
          </a:prstGeom>
          <a:solidFill xmlns:a="http://schemas.openxmlformats.org/drawingml/2006/main">
            <a:srgbClr val="EEF8F7"/>
          </a:solidFill>
          <a:ln xmlns:a="http://schemas.openxmlformats.org/drawingml/2006/main" w="9525">
            <a:solidFill>
              <a:srgbClr val="BFDBE2"/>
            </a:solidFill>
          </a:ln>
        </p:spPr>
      </p:sp>
      <p:sp>
        <p:nvSpPr>
          <p:cNvPr id="5" name="">
            <a:extLst xmlns:a="http://schemas.openxmlformats.org/drawingml/2006/main">
              <a:ext uri="{FF2B5EF4-FFF2-40B4-BE49-F238E27FC236}">
                <a16:creationId xmlns:a16="http://schemas.microsoft.com/office/drawing/2014/main" id="{4ED3892A-FE33-487B-BA52-F5FC54F62894}"/>
              </a:ext>
            </a:extLst>
          </p:cNvPr>
          <p:cNvSpPr>
            <a:spLocks xmlns:a="http://schemas.openxmlformats.org/drawingml/2006/main" noGrp="1"/>
          </p:cNvSpPr>
          <p:nvPr/>
        </p:nvSpPr>
        <p:spPr>
          <a:xfrm xmlns:a="http://schemas.openxmlformats.org/drawingml/2006/main">
            <a:off x="1028700" y="24955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WHAT THE PERSON CAN KEEP</a:t>
            </a:r>
          </a:p>
        </p:txBody>
      </p:sp>
      <p:sp>
        <p:nvSpPr>
          <p:cNvPr id="6" name="">
            <a:extLst xmlns:a="http://schemas.openxmlformats.org/drawingml/2006/main">
              <a:ext uri="{FF2B5EF4-FFF2-40B4-BE49-F238E27FC236}">
                <a16:creationId xmlns:a16="http://schemas.microsoft.com/office/drawing/2014/main" id="{B7FE476D-EB5F-432A-A66C-03576DBC3A32}"/>
              </a:ext>
            </a:extLst>
          </p:cNvPr>
          <p:cNvSpPr>
            <a:spLocks xmlns:a="http://schemas.openxmlformats.org/drawingml/2006/main" noGrp="1"/>
          </p:cNvSpPr>
          <p:nvPr/>
        </p:nvSpPr>
        <p:spPr>
          <a:xfrm xmlns:a="http://schemas.openxmlformats.org/drawingml/2006/main">
            <a:off x="1028700" y="2971800"/>
            <a:ext cx="323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43F50"/>
                </a:solidFill>
                <a:latin typeface="Bitstream Charter"/>
                <a:ea typeface="Bitstream Charter"/>
                <a:cs typeface="Bitstream Charter"/>
              </a:defRPr>
            </a:pPr>
            <a:r>
              <a:rPr sz="1650" b="1">
                <a:solidFill>
                  <a:srgbClr val="143F50"/>
                </a:solidFill>
                <a:latin typeface="Bitstream Charter"/>
                <a:ea typeface="Bitstream Charter"/>
                <a:cs typeface="Bitstream Charter"/>
              </a:rPr>
              <a:t>Separate profiles on one device</a:t>
            </a:r>
          </a:p>
          <a:p xmlns:a="http://schemas.openxmlformats.org/drawingml/2006/main">
            <a:pPr>
              <a:defRPr sz="1650" b="1">
                <a:solidFill>
                  <a:srgbClr val="143F50"/>
                </a:solidFill>
                <a:latin typeface="Bitstream Charter"/>
                <a:ea typeface="Bitstream Charter"/>
                <a:cs typeface="Bitstream Charter"/>
              </a:defRPr>
            </a:pPr>
            <a:r>
              <a:rPr sz="1650" b="1">
                <a:solidFill>
                  <a:srgbClr val="143F50"/>
                </a:solidFill>
                <a:latin typeface="Bitstream Charter"/>
                <a:ea typeface="Bitstream Charter"/>
                <a:cs typeface="Bitstream Charter"/>
              </a:rPr>
              <a:t>Optional device-only saving</a:t>
            </a:r>
          </a:p>
          <a:p xmlns:a="http://schemas.openxmlformats.org/drawingml/2006/main">
            <a:pPr>
              <a:defRPr sz="1650" b="1">
                <a:solidFill>
                  <a:srgbClr val="143F50"/>
                </a:solidFill>
                <a:latin typeface="Bitstream Charter"/>
                <a:ea typeface="Bitstream Charter"/>
                <a:cs typeface="Bitstream Charter"/>
              </a:defRPr>
            </a:pPr>
            <a:r>
              <a:rPr sz="1650" b="1">
                <a:solidFill>
                  <a:srgbClr val="143F50"/>
                </a:solidFill>
                <a:latin typeface="Bitstream Charter"/>
                <a:ea typeface="Bitstream Charter"/>
                <a:cs typeface="Bitstream Charter"/>
              </a:rPr>
              <a:t>Selected-entry share link</a:t>
            </a:r>
          </a:p>
          <a:p xmlns:a="http://schemas.openxmlformats.org/drawingml/2006/main">
            <a:pPr>
              <a:defRPr sz="1650" b="1">
                <a:solidFill>
                  <a:srgbClr val="143F50"/>
                </a:solidFill>
                <a:latin typeface="Bitstream Charter"/>
                <a:ea typeface="Bitstream Charter"/>
                <a:cs typeface="Bitstream Charter"/>
              </a:defRPr>
            </a:pPr>
            <a:r>
              <a:rPr sz="1650" b="1">
                <a:solidFill>
                  <a:srgbClr val="143F50"/>
                </a:solidFill>
                <a:latin typeface="Bitstream Charter"/>
                <a:ea typeface="Bitstream Charter"/>
                <a:cs typeface="Bitstream Charter"/>
              </a:rPr>
              <a:t>Private reflection after activity</a:t>
            </a:r>
          </a:p>
        </p:txBody>
      </p:sp>
      <p:sp>
        <p:nvSpPr>
          <p:cNvPr id="7" name="">
            <a:extLst xmlns:a="http://schemas.openxmlformats.org/drawingml/2006/main">
              <a:ext uri="{FF2B5EF4-FFF2-40B4-BE49-F238E27FC236}">
                <a16:creationId xmlns:a16="http://schemas.microsoft.com/office/drawing/2014/main" id="{4E0715D2-B680-44AF-BB28-8966E03DDF8F}"/>
              </a:ext>
            </a:extLst>
          </p:cNvPr>
          <p:cNvSpPr>
            <a:spLocks xmlns:a="http://schemas.openxmlformats.org/drawingml/2006/main" noGrp="1"/>
          </p:cNvSpPr>
          <p:nvPr/>
        </p:nvSpPr>
        <p:spPr>
          <a:xfrm xmlns:a="http://schemas.openxmlformats.org/drawingml/2006/main">
            <a:off x="6038850" y="2171700"/>
            <a:ext cx="4705350" cy="2800350"/>
          </a:xfrm>
          <a:prstGeom xmlns:a="http://schemas.openxmlformats.org/drawingml/2006/main" prst="rect">
            <a:avLst/>
          </a:prstGeom>
          <a:solidFill xmlns:a="http://schemas.openxmlformats.org/drawingml/2006/main">
            <a:srgbClr val="F3FBFF"/>
          </a:solidFill>
          <a:ln xmlns:a="http://schemas.openxmlformats.org/drawingml/2006/main" w="9525">
            <a:solidFill>
              <a:srgbClr val="BFDBE2"/>
            </a:solidFill>
          </a:ln>
        </p:spPr>
      </p:sp>
      <p:sp>
        <p:nvSpPr>
          <p:cNvPr id="8" name="">
            <a:extLst xmlns:a="http://schemas.openxmlformats.org/drawingml/2006/main">
              <a:ext uri="{FF2B5EF4-FFF2-40B4-BE49-F238E27FC236}">
                <a16:creationId xmlns:a16="http://schemas.microsoft.com/office/drawing/2014/main" id="{9381ECD7-812E-4E82-AE1E-DB4A1FB1D12F}"/>
              </a:ext>
            </a:extLst>
          </p:cNvPr>
          <p:cNvSpPr>
            <a:spLocks xmlns:a="http://schemas.openxmlformats.org/drawingml/2006/main" noGrp="1"/>
          </p:cNvSpPr>
          <p:nvPr/>
        </p:nvSpPr>
        <p:spPr>
          <a:xfrm xmlns:a="http://schemas.openxmlformats.org/drawingml/2006/main">
            <a:off x="6343650" y="24955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THE NEW WEEKLY GAP WE CLOSED</a:t>
            </a:r>
          </a:p>
        </p:txBody>
      </p:sp>
      <p:sp>
        <p:nvSpPr>
          <p:cNvPr id="9" name="">
            <a:extLst xmlns:a="http://schemas.openxmlformats.org/drawingml/2006/main">
              <a:ext uri="{FF2B5EF4-FFF2-40B4-BE49-F238E27FC236}">
                <a16:creationId xmlns:a16="http://schemas.microsoft.com/office/drawing/2014/main" id="{0296B770-1CEB-4248-9E30-6529CAFA97A7}"/>
              </a:ext>
            </a:extLst>
          </p:cNvPr>
          <p:cNvSpPr>
            <a:spLocks xmlns:a="http://schemas.openxmlformats.org/drawingml/2006/main" noGrp="1"/>
          </p:cNvSpPr>
          <p:nvPr/>
        </p:nvSpPr>
        <p:spPr>
          <a:xfrm xmlns:a="http://schemas.openxmlformats.org/drawingml/2006/main">
            <a:off x="6343650" y="2971800"/>
            <a:ext cx="342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43F50"/>
                </a:solidFill>
                <a:latin typeface="Bitstream Charter"/>
                <a:ea typeface="Bitstream Charter"/>
                <a:cs typeface="Bitstream Charter"/>
              </a:defRPr>
            </a:pPr>
            <a:r>
              <a:rPr sz="1500" b="1">
                <a:solidFill>
                  <a:srgbClr val="143F50"/>
                </a:solidFill>
                <a:latin typeface="Bitstream Charter"/>
                <a:ea typeface="Bitstream Charter"/>
                <a:cs typeface="Bitstream Charter"/>
              </a:rPr>
              <a:t>The app turns a few check-ins into a small picture of the week: movement days, familiar place and one modest next step.</a:t>
            </a:r>
          </a:p>
        </p:txBody>
      </p:sp>
      <p:sp>
        <p:nvSpPr>
          <p:cNvPr id="10" name="">
            <a:extLst xmlns:a="http://schemas.openxmlformats.org/drawingml/2006/main">
              <a:ext uri="{FF2B5EF4-FFF2-40B4-BE49-F238E27FC236}">
                <a16:creationId xmlns:a16="http://schemas.microsoft.com/office/drawing/2014/main" id="{CA1722C2-D431-4112-B0B4-E708D735912D}"/>
              </a:ext>
            </a:extLst>
          </p:cNvPr>
          <p:cNvSpPr>
            <a:spLocks xmlns:a="http://schemas.openxmlformats.org/drawingml/2006/main" noGrp="1"/>
          </p:cNvSpPr>
          <p:nvPr/>
        </p:nvSpPr>
        <p:spPr>
          <a:xfrm xmlns:a="http://schemas.openxmlformats.org/drawingml/2006/main">
            <a:off x="6343650" y="4362450"/>
            <a:ext cx="3295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456773"/>
                </a:solidFill>
                <a:latin typeface="Bitstream Charter"/>
                <a:ea typeface="Bitstream Charter"/>
                <a:cs typeface="Bitstream Charter"/>
              </a:defRPr>
            </a:pPr>
            <a:r>
              <a:rPr sz="1125" b="0">
                <a:solidFill>
                  <a:srgbClr val="456773"/>
                </a:solidFill>
                <a:latin typeface="Bitstream Charter"/>
                <a:ea typeface="Bitstream Charter"/>
                <a:cs typeface="Bitstream Charter"/>
              </a:rPr>
              <a:t>No diagnosis, score or health record. The person controls whether anything remains on the device.</a:t>
            </a:r>
          </a:p>
        </p:txBody>
      </p:sp>
      <p:sp>
        <p:nvSpPr>
          <p:cNvPr id="11" name="">
            <a:extLst xmlns:a="http://schemas.openxmlformats.org/drawingml/2006/main">
              <a:ext uri="{FF2B5EF4-FFF2-40B4-BE49-F238E27FC236}">
                <a16:creationId xmlns:a16="http://schemas.microsoft.com/office/drawing/2014/main" id="{D4F5FE60-6913-4559-85F2-3028A796EC86}"/>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2" name="">
            <a:extLst xmlns:a="http://schemas.openxmlformats.org/drawingml/2006/main">
              <a:ext uri="{FF2B5EF4-FFF2-40B4-BE49-F238E27FC236}">
                <a16:creationId xmlns:a16="http://schemas.microsoft.com/office/drawing/2014/main" id="{F6F29C98-18D2-498F-AC44-611DC2F84D89}"/>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13" name="">
            <a:extLst xmlns:a="http://schemas.openxmlformats.org/drawingml/2006/main">
              <a:ext uri="{FF2B5EF4-FFF2-40B4-BE49-F238E27FC236}">
                <a16:creationId xmlns:a16="http://schemas.microsoft.com/office/drawing/2014/main" id="{DEBF5C42-2A3A-45B5-AB75-608E9F9050B6}"/>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07</a:t>
            </a:r>
          </a:p>
        </p:txBody>
      </p:sp>
    </p:spTree>
    <p:extLst>
      <p:ext uri="{BB962C8B-B14F-4D97-AF65-F5344CB8AC3E}">
        <p14:creationId xmlns:p14="http://schemas.microsoft.com/office/powerpoint/2010/main" val="1535663885"/>
      </p:ext>
    </p:extLst>
  </p:cSld>
</p:sld>
</file>

<file path=ppt/slides/slide8.xml><?xml version="1.0" encoding="utf-8"?>
<p:sld xmlns:p="http://schemas.openxmlformats.org/presentationml/2006/main">
  <p:cSld>
    <p:bg>
      <p:bgPr>
        <a:solidFill xmlns:a="http://schemas.openxmlformats.org/drawingml/2006/main">
          <a:srgbClr val="F3FB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9D92078-D9EE-4C9D-B1B9-0A47305748ED}"/>
              </a:ext>
            </a:extLst>
          </p:cNvPr>
          <p:cNvSpPr>
            <a:spLocks xmlns:a="http://schemas.openxmlformats.org/drawingml/2006/main" noGrp="1"/>
          </p:cNvSpPr>
          <p:nvPr/>
        </p:nvSpPr>
        <p:spPr>
          <a:xfrm xmlns:a="http://schemas.openxmlformats.org/drawingml/2006/main">
            <a:off x="704850" y="495300"/>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Community support needs a real operating partner</a:t>
            </a:r>
          </a:p>
        </p:txBody>
      </p:sp>
      <p:sp>
        <p:nvSpPr>
          <p:cNvPr id="2" name="">
            <a:extLst xmlns:a="http://schemas.openxmlformats.org/drawingml/2006/main">
              <a:ext uri="{FF2B5EF4-FFF2-40B4-BE49-F238E27FC236}">
                <a16:creationId xmlns:a16="http://schemas.microsoft.com/office/drawing/2014/main" id="{4EE1DC5E-4AF6-4E82-A2CE-2EF516D1DCAA}"/>
              </a:ext>
            </a:extLst>
          </p:cNvPr>
          <p:cNvSpPr>
            <a:spLocks xmlns:a="http://schemas.openxmlformats.org/drawingml/2006/main" noGrp="1"/>
          </p:cNvSpPr>
          <p:nvPr/>
        </p:nvSpPr>
        <p:spPr>
          <a:xfrm xmlns:a="http://schemas.openxmlformats.org/drawingml/2006/main">
            <a:off x="723900" y="15049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The prototype shows the pathway without pretending that a live volunteer or trainer service already exists.</a:t>
            </a:r>
          </a:p>
        </p:txBody>
      </p:sp>
      <p:sp>
        <p:nvSpPr>
          <p:cNvPr id="3" name="">
            <a:extLst xmlns:a="http://schemas.openxmlformats.org/drawingml/2006/main">
              <a:ext uri="{FF2B5EF4-FFF2-40B4-BE49-F238E27FC236}">
                <a16:creationId xmlns:a16="http://schemas.microsoft.com/office/drawing/2014/main" id="{B0406CC7-8168-4C2F-9A0D-90BB93964094}"/>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EC1FB28-539E-4FBA-8323-E44B4AACB4AB}"/>
              </a:ext>
            </a:extLst>
          </p:cNvPr>
          <p:cNvSpPr>
            <a:spLocks xmlns:a="http://schemas.openxmlformats.org/drawingml/2006/main" noGrp="1"/>
          </p:cNvSpPr>
          <p:nvPr/>
        </p:nvSpPr>
        <p:spPr>
          <a:xfrm xmlns:a="http://schemas.openxmlformats.org/drawingml/2006/main">
            <a:off x="838200" y="2209800"/>
            <a:ext cx="400050" cy="400050"/>
          </a:xfrm>
          <a:prstGeom xmlns:a="http://schemas.openxmlformats.org/drawingml/2006/main" prst="ellipse">
            <a:avLst/>
          </a:prstGeom>
          <a:solidFill xmlns:a="http://schemas.openxmlformats.org/drawingml/2006/main">
            <a:srgbClr val="1599D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81CCF6B-1E0E-4C40-B0BE-8594A6A64602}"/>
              </a:ext>
            </a:extLst>
          </p:cNvPr>
          <p:cNvSpPr>
            <a:spLocks xmlns:a="http://schemas.openxmlformats.org/drawingml/2006/main" noGrp="1"/>
          </p:cNvSpPr>
          <p:nvPr/>
        </p:nvSpPr>
        <p:spPr>
          <a:xfrm xmlns:a="http://schemas.openxmlformats.org/drawingml/2006/main">
            <a:off x="942975" y="2324100"/>
            <a:ext cx="19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1</a:t>
            </a:r>
          </a:p>
        </p:txBody>
      </p:sp>
      <p:sp>
        <p:nvSpPr>
          <p:cNvPr id="6" name="">
            <a:extLst xmlns:a="http://schemas.openxmlformats.org/drawingml/2006/main">
              <a:ext uri="{FF2B5EF4-FFF2-40B4-BE49-F238E27FC236}">
                <a16:creationId xmlns:a16="http://schemas.microsoft.com/office/drawing/2014/main" id="{959BAB24-D3BA-4D90-BAB8-BEB621001E0E}"/>
              </a:ext>
            </a:extLst>
          </p:cNvPr>
          <p:cNvSpPr>
            <a:spLocks xmlns:a="http://schemas.openxmlformats.org/drawingml/2006/main" noGrp="1"/>
          </p:cNvSpPr>
          <p:nvPr/>
        </p:nvSpPr>
        <p:spPr>
          <a:xfrm xmlns:a="http://schemas.openxmlformats.org/drawingml/2006/main">
            <a:off x="1504950" y="21717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43F50"/>
                </a:solidFill>
                <a:latin typeface="Bitstream Charter"/>
                <a:ea typeface="Bitstream Charter"/>
                <a:cs typeface="Bitstream Charter"/>
              </a:defRPr>
            </a:pPr>
            <a:r>
              <a:rPr sz="1650" b="1">
                <a:solidFill>
                  <a:srgbClr val="143F50"/>
                </a:solidFill>
                <a:latin typeface="Bitstream Charter"/>
                <a:ea typeface="Bitstream Charter"/>
                <a:cs typeface="Bitstream Charter"/>
              </a:rPr>
              <a:t>Named operator</a:t>
            </a:r>
          </a:p>
        </p:txBody>
      </p:sp>
      <p:sp>
        <p:nvSpPr>
          <p:cNvPr id="7" name="">
            <a:extLst xmlns:a="http://schemas.openxmlformats.org/drawingml/2006/main">
              <a:ext uri="{FF2B5EF4-FFF2-40B4-BE49-F238E27FC236}">
                <a16:creationId xmlns:a16="http://schemas.microsoft.com/office/drawing/2014/main" id="{F51FE5B0-EDE6-4699-B4ED-FB1F7A533C02}"/>
              </a:ext>
            </a:extLst>
          </p:cNvPr>
          <p:cNvSpPr>
            <a:spLocks xmlns:a="http://schemas.openxmlformats.org/drawingml/2006/main" noGrp="1"/>
          </p:cNvSpPr>
          <p:nvPr/>
        </p:nvSpPr>
        <p:spPr>
          <a:xfrm xmlns:a="http://schemas.openxmlformats.org/drawingml/2006/main">
            <a:off x="1504950" y="25336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0">
                <a:solidFill>
                  <a:srgbClr val="456773"/>
                </a:solidFill>
                <a:latin typeface="Bitstream Charter"/>
                <a:ea typeface="Bitstream Charter"/>
                <a:cs typeface="Bitstream Charter"/>
              </a:defRPr>
            </a:pPr>
            <a:r>
              <a:rPr sz="1200" b="0">
                <a:solidFill>
                  <a:srgbClr val="456773"/>
                </a:solidFill>
                <a:latin typeface="Bitstream Charter"/>
                <a:ea typeface="Bitstream Charter"/>
                <a:cs typeface="Bitstream Charter"/>
              </a:rPr>
              <a:t>A city, NGO or venue operator owns the service.</a:t>
            </a:r>
          </a:p>
        </p:txBody>
      </p:sp>
      <p:sp>
        <p:nvSpPr>
          <p:cNvPr id="8" name="">
            <a:extLst xmlns:a="http://schemas.openxmlformats.org/drawingml/2006/main">
              <a:ext uri="{FF2B5EF4-FFF2-40B4-BE49-F238E27FC236}">
                <a16:creationId xmlns:a16="http://schemas.microsoft.com/office/drawing/2014/main" id="{8A52B13D-D8AC-4DFE-86FC-2580A0A22CF4}"/>
              </a:ext>
            </a:extLst>
          </p:cNvPr>
          <p:cNvSpPr>
            <a:spLocks xmlns:a="http://schemas.openxmlformats.org/drawingml/2006/main" noGrp="1"/>
          </p:cNvSpPr>
          <p:nvPr/>
        </p:nvSpPr>
        <p:spPr>
          <a:xfrm xmlns:a="http://schemas.openxmlformats.org/drawingml/2006/main">
            <a:off x="838200" y="3200400"/>
            <a:ext cx="400050" cy="400050"/>
          </a:xfrm>
          <a:prstGeom xmlns:a="http://schemas.openxmlformats.org/drawingml/2006/main" prst="ellipse">
            <a:avLst/>
          </a:prstGeom>
          <a:solidFill xmlns:a="http://schemas.openxmlformats.org/drawingml/2006/main">
            <a:srgbClr val="167D7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BDB136C-73BF-4C4F-A5C2-F5BCEF87A56C}"/>
              </a:ext>
            </a:extLst>
          </p:cNvPr>
          <p:cNvSpPr>
            <a:spLocks xmlns:a="http://schemas.openxmlformats.org/drawingml/2006/main" noGrp="1"/>
          </p:cNvSpPr>
          <p:nvPr/>
        </p:nvSpPr>
        <p:spPr>
          <a:xfrm xmlns:a="http://schemas.openxmlformats.org/drawingml/2006/main">
            <a:off x="942975" y="3314700"/>
            <a:ext cx="19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2</a:t>
            </a:r>
          </a:p>
        </p:txBody>
      </p:sp>
      <p:sp>
        <p:nvSpPr>
          <p:cNvPr id="10" name="">
            <a:extLst xmlns:a="http://schemas.openxmlformats.org/drawingml/2006/main">
              <a:ext uri="{FF2B5EF4-FFF2-40B4-BE49-F238E27FC236}">
                <a16:creationId xmlns:a16="http://schemas.microsoft.com/office/drawing/2014/main" id="{70D89132-5095-4049-ABB3-24F8BAE8A4E5}"/>
              </a:ext>
            </a:extLst>
          </p:cNvPr>
          <p:cNvSpPr>
            <a:spLocks xmlns:a="http://schemas.openxmlformats.org/drawingml/2006/main" noGrp="1"/>
          </p:cNvSpPr>
          <p:nvPr/>
        </p:nvSpPr>
        <p:spPr>
          <a:xfrm xmlns:a="http://schemas.openxmlformats.org/drawingml/2006/main">
            <a:off x="1504950" y="31623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43F50"/>
                </a:solidFill>
                <a:latin typeface="Bitstream Charter"/>
                <a:ea typeface="Bitstream Charter"/>
                <a:cs typeface="Bitstream Charter"/>
              </a:defRPr>
            </a:pPr>
            <a:r>
              <a:rPr sz="1650" b="1">
                <a:solidFill>
                  <a:srgbClr val="143F50"/>
                </a:solidFill>
                <a:latin typeface="Bitstream Charter"/>
                <a:ea typeface="Bitstream Charter"/>
                <a:cs typeface="Bitstream Charter"/>
              </a:rPr>
              <a:t>Verification</a:t>
            </a:r>
          </a:p>
        </p:txBody>
      </p:sp>
      <p:sp>
        <p:nvSpPr>
          <p:cNvPr id="11" name="">
            <a:extLst xmlns:a="http://schemas.openxmlformats.org/drawingml/2006/main">
              <a:ext uri="{FF2B5EF4-FFF2-40B4-BE49-F238E27FC236}">
                <a16:creationId xmlns:a16="http://schemas.microsoft.com/office/drawing/2014/main" id="{77F83170-5E56-4F16-BA5F-A56A51D4B0C7}"/>
              </a:ext>
            </a:extLst>
          </p:cNvPr>
          <p:cNvSpPr>
            <a:spLocks xmlns:a="http://schemas.openxmlformats.org/drawingml/2006/main" noGrp="1"/>
          </p:cNvSpPr>
          <p:nvPr/>
        </p:nvSpPr>
        <p:spPr>
          <a:xfrm xmlns:a="http://schemas.openxmlformats.org/drawingml/2006/main">
            <a:off x="1504950" y="35242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0">
                <a:solidFill>
                  <a:srgbClr val="456773"/>
                </a:solidFill>
                <a:latin typeface="Bitstream Charter"/>
                <a:ea typeface="Bitstream Charter"/>
                <a:cs typeface="Bitstream Charter"/>
              </a:defRPr>
            </a:pPr>
            <a:r>
              <a:rPr sz="1200" b="0">
                <a:solidFill>
                  <a:srgbClr val="456773"/>
                </a:solidFill>
                <a:latin typeface="Bitstream Charter"/>
                <a:ea typeface="Bitstream Charter"/>
                <a:cs typeface="Bitstream Charter"/>
              </a:rPr>
              <a:t>Identity, appropriate qualifications and insurance where relevant.</a:t>
            </a:r>
          </a:p>
        </p:txBody>
      </p:sp>
      <p:sp>
        <p:nvSpPr>
          <p:cNvPr id="12" name="">
            <a:extLst xmlns:a="http://schemas.openxmlformats.org/drawingml/2006/main">
              <a:ext uri="{FF2B5EF4-FFF2-40B4-BE49-F238E27FC236}">
                <a16:creationId xmlns:a16="http://schemas.microsoft.com/office/drawing/2014/main" id="{1B226174-5DF8-48BC-AE21-669C620F46F5}"/>
              </a:ext>
            </a:extLst>
          </p:cNvPr>
          <p:cNvSpPr>
            <a:spLocks xmlns:a="http://schemas.openxmlformats.org/drawingml/2006/main" noGrp="1"/>
          </p:cNvSpPr>
          <p:nvPr/>
        </p:nvSpPr>
        <p:spPr>
          <a:xfrm xmlns:a="http://schemas.openxmlformats.org/drawingml/2006/main">
            <a:off x="838200" y="4191000"/>
            <a:ext cx="400050" cy="400050"/>
          </a:xfrm>
          <a:prstGeom xmlns:a="http://schemas.openxmlformats.org/drawingml/2006/main" prst="ellipse">
            <a:avLst/>
          </a:prstGeom>
          <a:solidFill xmlns:a="http://schemas.openxmlformats.org/drawingml/2006/main">
            <a:srgbClr val="4A972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8A1AD03-9164-4B08-8435-92BEC9DB7A82}"/>
              </a:ext>
            </a:extLst>
          </p:cNvPr>
          <p:cNvSpPr>
            <a:spLocks xmlns:a="http://schemas.openxmlformats.org/drawingml/2006/main" noGrp="1"/>
          </p:cNvSpPr>
          <p:nvPr/>
        </p:nvSpPr>
        <p:spPr>
          <a:xfrm xmlns:a="http://schemas.openxmlformats.org/drawingml/2006/main">
            <a:off x="942975" y="4305300"/>
            <a:ext cx="19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3</a:t>
            </a:r>
          </a:p>
        </p:txBody>
      </p:sp>
      <p:sp>
        <p:nvSpPr>
          <p:cNvPr id="14" name="">
            <a:extLst xmlns:a="http://schemas.openxmlformats.org/drawingml/2006/main">
              <a:ext uri="{FF2B5EF4-FFF2-40B4-BE49-F238E27FC236}">
                <a16:creationId xmlns:a16="http://schemas.microsoft.com/office/drawing/2014/main" id="{0DB8099A-50CC-4793-920F-0DB90F261E07}"/>
              </a:ext>
            </a:extLst>
          </p:cNvPr>
          <p:cNvSpPr>
            <a:spLocks xmlns:a="http://schemas.openxmlformats.org/drawingml/2006/main" noGrp="1"/>
          </p:cNvSpPr>
          <p:nvPr/>
        </p:nvSpPr>
        <p:spPr>
          <a:xfrm xmlns:a="http://schemas.openxmlformats.org/drawingml/2006/main">
            <a:off x="1504950" y="41529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43F50"/>
                </a:solidFill>
                <a:latin typeface="Bitstream Charter"/>
                <a:ea typeface="Bitstream Charter"/>
                <a:cs typeface="Bitstream Charter"/>
              </a:defRPr>
            </a:pPr>
            <a:r>
              <a:rPr sz="1650" b="1">
                <a:solidFill>
                  <a:srgbClr val="143F50"/>
                </a:solidFill>
                <a:latin typeface="Bitstream Charter"/>
                <a:ea typeface="Bitstream Charter"/>
                <a:cs typeface="Bitstream Charter"/>
              </a:rPr>
              <a:t>Safeguarding</a:t>
            </a:r>
          </a:p>
        </p:txBody>
      </p:sp>
      <p:sp>
        <p:nvSpPr>
          <p:cNvPr id="15" name="">
            <a:extLst xmlns:a="http://schemas.openxmlformats.org/drawingml/2006/main">
              <a:ext uri="{FF2B5EF4-FFF2-40B4-BE49-F238E27FC236}">
                <a16:creationId xmlns:a16="http://schemas.microsoft.com/office/drawing/2014/main" id="{D75AC780-7512-4040-A484-2420332C939A}"/>
              </a:ext>
            </a:extLst>
          </p:cNvPr>
          <p:cNvSpPr>
            <a:spLocks xmlns:a="http://schemas.openxmlformats.org/drawingml/2006/main" noGrp="1"/>
          </p:cNvSpPr>
          <p:nvPr/>
        </p:nvSpPr>
        <p:spPr>
          <a:xfrm xmlns:a="http://schemas.openxmlformats.org/drawingml/2006/main">
            <a:off x="1504950" y="45148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0">
                <a:solidFill>
                  <a:srgbClr val="456773"/>
                </a:solidFill>
                <a:latin typeface="Bitstream Charter"/>
                <a:ea typeface="Bitstream Charter"/>
                <a:cs typeface="Bitstream Charter"/>
              </a:defRPr>
            </a:pPr>
            <a:r>
              <a:rPr sz="1200" b="0">
                <a:solidFill>
                  <a:srgbClr val="456773"/>
                </a:solidFill>
                <a:latin typeface="Bitstream Charter"/>
                <a:ea typeface="Bitstream Charter"/>
                <a:cs typeface="Bitstream Charter"/>
              </a:rPr>
              <a:t>Role boundaries, moderation, reporting and venue approval.</a:t>
            </a:r>
          </a:p>
        </p:txBody>
      </p:sp>
      <p:sp>
        <p:nvSpPr>
          <p:cNvPr id="16" name="">
            <a:extLst xmlns:a="http://schemas.openxmlformats.org/drawingml/2006/main">
              <a:ext uri="{FF2B5EF4-FFF2-40B4-BE49-F238E27FC236}">
                <a16:creationId xmlns:a16="http://schemas.microsoft.com/office/drawing/2014/main" id="{ED5DCED8-3242-429A-A63C-F0F61E88718D}"/>
              </a:ext>
            </a:extLst>
          </p:cNvPr>
          <p:cNvSpPr>
            <a:spLocks xmlns:a="http://schemas.openxmlformats.org/drawingml/2006/main" noGrp="1"/>
          </p:cNvSpPr>
          <p:nvPr/>
        </p:nvSpPr>
        <p:spPr>
          <a:xfrm xmlns:a="http://schemas.openxmlformats.org/drawingml/2006/main">
            <a:off x="6305550" y="2209800"/>
            <a:ext cx="3924300" cy="2647950"/>
          </a:xfrm>
          <a:prstGeom xmlns:a="http://schemas.openxmlformats.org/drawingml/2006/main" prst="rect">
            <a:avLst/>
          </a:prstGeom>
          <a:solidFill xmlns:a="http://schemas.openxmlformats.org/drawingml/2006/main">
            <a:srgbClr val="FFFFFF"/>
          </a:solidFill>
          <a:ln xmlns:a="http://schemas.openxmlformats.org/drawingml/2006/main" w="9525">
            <a:solidFill>
              <a:srgbClr val="BFDBE2"/>
            </a:solidFill>
          </a:ln>
        </p:spPr>
      </p:sp>
      <p:sp>
        <p:nvSpPr>
          <p:cNvPr id="17" name="">
            <a:extLst xmlns:a="http://schemas.openxmlformats.org/drawingml/2006/main">
              <a:ext uri="{FF2B5EF4-FFF2-40B4-BE49-F238E27FC236}">
                <a16:creationId xmlns:a16="http://schemas.microsoft.com/office/drawing/2014/main" id="{F4CF54F5-F2F3-4E2D-8F9B-10F0FA8F18C7}"/>
              </a:ext>
            </a:extLst>
          </p:cNvPr>
          <p:cNvSpPr>
            <a:spLocks xmlns:a="http://schemas.openxmlformats.org/drawingml/2006/main" noGrp="1"/>
          </p:cNvSpPr>
          <p:nvPr/>
        </p:nvSpPr>
        <p:spPr>
          <a:xfrm xmlns:a="http://schemas.openxmlformats.org/drawingml/2006/main">
            <a:off x="6648450" y="25527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WHAT THE DEMO DOES TODAY</a:t>
            </a:r>
          </a:p>
        </p:txBody>
      </p:sp>
      <p:sp>
        <p:nvSpPr>
          <p:cNvPr id="18" name="">
            <a:extLst xmlns:a="http://schemas.openxmlformats.org/drawingml/2006/main">
              <a:ext uri="{FF2B5EF4-FFF2-40B4-BE49-F238E27FC236}">
                <a16:creationId xmlns:a16="http://schemas.microsoft.com/office/drawing/2014/main" id="{28991B9D-D009-470B-9858-8DCE0115788F}"/>
              </a:ext>
            </a:extLst>
          </p:cNvPr>
          <p:cNvSpPr>
            <a:spLocks xmlns:a="http://schemas.openxmlformats.org/drawingml/2006/main" noGrp="1"/>
          </p:cNvSpPr>
          <p:nvPr/>
        </p:nvSpPr>
        <p:spPr>
          <a:xfrm xmlns:a="http://schemas.openxmlformats.org/drawingml/2006/main">
            <a:off x="6648450" y="3009900"/>
            <a:ext cx="30003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43F50"/>
                </a:solidFill>
                <a:latin typeface="Bitstream Charter"/>
                <a:ea typeface="Bitstream Charter"/>
                <a:cs typeface="Bitstream Charter"/>
              </a:defRPr>
            </a:pPr>
            <a:r>
              <a:rPr sz="1500" b="1">
                <a:solidFill>
                  <a:srgbClr val="143F50"/>
                </a:solidFill>
                <a:latin typeface="Bitstream Charter"/>
                <a:ea typeface="Bitstream Charter"/>
                <a:cs typeface="Bitstream Charter"/>
              </a:rPr>
              <a:t>It can add a public-place activity to a private plan, make a draft, and explain the checks needed before a listing could go live.</a:t>
            </a:r>
          </a:p>
        </p:txBody>
      </p:sp>
      <p:sp>
        <p:nvSpPr>
          <p:cNvPr id="19" name="">
            <a:extLst xmlns:a="http://schemas.openxmlformats.org/drawingml/2006/main">
              <a:ext uri="{FF2B5EF4-FFF2-40B4-BE49-F238E27FC236}">
                <a16:creationId xmlns:a16="http://schemas.microsoft.com/office/drawing/2014/main" id="{46DF0A32-C667-483C-9C97-2DFC5072AA1A}"/>
              </a:ext>
            </a:extLst>
          </p:cNvPr>
          <p:cNvSpPr>
            <a:spLocks xmlns:a="http://schemas.openxmlformats.org/drawingml/2006/main" noGrp="1"/>
          </p:cNvSpPr>
          <p:nvPr/>
        </p:nvSpPr>
        <p:spPr>
          <a:xfrm xmlns:a="http://schemas.openxmlformats.org/drawingml/2006/main">
            <a:off x="6648450" y="44005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0">
                <a:solidFill>
                  <a:srgbClr val="456773"/>
                </a:solidFill>
                <a:latin typeface="Bitstream Charter"/>
                <a:ea typeface="Bitstream Charter"/>
                <a:cs typeface="Bitstream Charter"/>
              </a:defRPr>
            </a:pPr>
            <a:r>
              <a:rPr sz="1050" b="0">
                <a:solidFill>
                  <a:srgbClr val="456773"/>
                </a:solidFill>
                <a:latin typeface="Bitstream Charter"/>
                <a:ea typeface="Bitstream Charter"/>
                <a:cs typeface="Bitstream Charter"/>
              </a:rPr>
              <a:t>It does not create accounts, publish requests, exchange contact details or verify credentials.</a:t>
            </a:r>
          </a:p>
        </p:txBody>
      </p:sp>
      <p:sp>
        <p:nvSpPr>
          <p:cNvPr id="20" name="">
            <a:extLst xmlns:a="http://schemas.openxmlformats.org/drawingml/2006/main">
              <a:ext uri="{FF2B5EF4-FFF2-40B4-BE49-F238E27FC236}">
                <a16:creationId xmlns:a16="http://schemas.microsoft.com/office/drawing/2014/main" id="{5ACB8E09-6DF0-40B2-B948-FF93ED1EBB0A}"/>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21" name="">
            <a:extLst xmlns:a="http://schemas.openxmlformats.org/drawingml/2006/main">
              <a:ext uri="{FF2B5EF4-FFF2-40B4-BE49-F238E27FC236}">
                <a16:creationId xmlns:a16="http://schemas.microsoft.com/office/drawing/2014/main" id="{F3FCA474-AA87-4FB6-B763-51788BCB1DFF}"/>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22" name="">
            <a:extLst xmlns:a="http://schemas.openxmlformats.org/drawingml/2006/main">
              <a:ext uri="{FF2B5EF4-FFF2-40B4-BE49-F238E27FC236}">
                <a16:creationId xmlns:a16="http://schemas.microsoft.com/office/drawing/2014/main" id="{360970F8-4FD0-418A-B192-BC103D25CC8B}"/>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08</a:t>
            </a:r>
          </a:p>
        </p:txBody>
      </p:sp>
    </p:spTree>
    <p:extLst>
      <p:ext uri="{BB962C8B-B14F-4D97-AF65-F5344CB8AC3E}">
        <p14:creationId xmlns:p14="http://schemas.microsoft.com/office/powerpoint/2010/main" val="1761024392"/>
      </p:ext>
    </p:extLst>
  </p:cSld>
</p:sld>
</file>

<file path=ppt/slides/slide9.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9252765-1955-4F79-B7F2-5B21E3B33B1E}"/>
              </a:ext>
            </a:extLst>
          </p:cNvPr>
          <p:cNvSpPr>
            <a:spLocks xmlns:a="http://schemas.openxmlformats.org/drawingml/2006/main" noGrp="1"/>
          </p:cNvSpPr>
          <p:nvPr/>
        </p:nvSpPr>
        <p:spPr>
          <a:xfrm xmlns:a="http://schemas.openxmlformats.org/drawingml/2006/main">
            <a:off x="704850" y="495300"/>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Evidence, boundaries and next pilot</a:t>
            </a:r>
          </a:p>
        </p:txBody>
      </p:sp>
      <p:sp>
        <p:nvSpPr>
          <p:cNvPr id="2" name="">
            <a:extLst xmlns:a="http://schemas.openxmlformats.org/drawingml/2006/main">
              <a:ext uri="{FF2B5EF4-FFF2-40B4-BE49-F238E27FC236}">
                <a16:creationId xmlns:a16="http://schemas.microsoft.com/office/drawing/2014/main" id="{5FF833CA-F33B-4539-A342-0BE71E5215D2}"/>
              </a:ext>
            </a:extLst>
          </p:cNvPr>
          <p:cNvSpPr>
            <a:spLocks xmlns:a="http://schemas.openxmlformats.org/drawingml/2006/main" noGrp="1"/>
          </p:cNvSpPr>
          <p:nvPr/>
        </p:nvSpPr>
        <p:spPr>
          <a:xfrm xmlns:a="http://schemas.openxmlformats.org/drawingml/2006/main">
            <a:off x="723900" y="15049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The Kraków prototype gives the judging panel something real to inspect while keeping the next stage clear.</a:t>
            </a:r>
          </a:p>
        </p:txBody>
      </p:sp>
      <p:sp>
        <p:nvSpPr>
          <p:cNvPr id="3" name="">
            <a:extLst xmlns:a="http://schemas.openxmlformats.org/drawingml/2006/main">
              <a:ext uri="{FF2B5EF4-FFF2-40B4-BE49-F238E27FC236}">
                <a16:creationId xmlns:a16="http://schemas.microsoft.com/office/drawing/2014/main" id="{7D89E483-9930-4BB3-8DA9-B23A8C02D8A6}"/>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F6BC44-879C-4B7C-B91B-1354202866E0}"/>
              </a:ext>
            </a:extLst>
          </p:cNvPr>
          <p:cNvSpPr>
            <a:spLocks xmlns:a="http://schemas.openxmlformats.org/drawingml/2006/main" noGrp="1"/>
          </p:cNvSpPr>
          <p:nvPr/>
        </p:nvSpPr>
        <p:spPr>
          <a:xfrm xmlns:a="http://schemas.openxmlformats.org/drawingml/2006/main">
            <a:off x="800100" y="21336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WHAT EXISTS NOW</a:t>
            </a:r>
          </a:p>
        </p:txBody>
      </p:sp>
      <p:sp>
        <p:nvSpPr>
          <p:cNvPr id="5" name="">
            <a:extLst xmlns:a="http://schemas.openxmlformats.org/drawingml/2006/main">
              <a:ext uri="{FF2B5EF4-FFF2-40B4-BE49-F238E27FC236}">
                <a16:creationId xmlns:a16="http://schemas.microsoft.com/office/drawing/2014/main" id="{192359B0-12BF-4006-A087-33CC4D936E88}"/>
              </a:ext>
            </a:extLst>
          </p:cNvPr>
          <p:cNvSpPr>
            <a:spLocks xmlns:a="http://schemas.openxmlformats.org/drawingml/2006/main" noGrp="1"/>
          </p:cNvSpPr>
          <p:nvPr/>
        </p:nvSpPr>
        <p:spPr>
          <a:xfrm xmlns:a="http://schemas.openxmlformats.org/drawingml/2006/main">
            <a:off x="800100" y="2533650"/>
            <a:ext cx="409575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React + TypeScript + Leaflet prototype</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14 documented place profiles</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Map and text alternative</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Distance, route and time-aware plan</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Local profiles, reflection and weekly prompt</a:t>
            </a:r>
          </a:p>
        </p:txBody>
      </p:sp>
      <p:sp>
        <p:nvSpPr>
          <p:cNvPr id="6" name="">
            <a:extLst xmlns:a="http://schemas.openxmlformats.org/drawingml/2006/main">
              <a:ext uri="{FF2B5EF4-FFF2-40B4-BE49-F238E27FC236}">
                <a16:creationId xmlns:a16="http://schemas.microsoft.com/office/drawing/2014/main" id="{FD30E282-B76A-4A0F-B677-35E5AAD747DD}"/>
              </a:ext>
            </a:extLst>
          </p:cNvPr>
          <p:cNvSpPr>
            <a:spLocks xmlns:a="http://schemas.openxmlformats.org/drawingml/2006/main" noGrp="1"/>
          </p:cNvSpPr>
          <p:nvPr/>
        </p:nvSpPr>
        <p:spPr>
          <a:xfrm xmlns:a="http://schemas.openxmlformats.org/drawingml/2006/main">
            <a:off x="6153150" y="21336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WHAT A CITY PILOT SHOULD TEST</a:t>
            </a:r>
          </a:p>
        </p:txBody>
      </p:sp>
      <p:sp>
        <p:nvSpPr>
          <p:cNvPr id="7" name="">
            <a:extLst xmlns:a="http://schemas.openxmlformats.org/drawingml/2006/main">
              <a:ext uri="{FF2B5EF4-FFF2-40B4-BE49-F238E27FC236}">
                <a16:creationId xmlns:a16="http://schemas.microsoft.com/office/drawing/2014/main" id="{78A258B3-A610-4991-A7EA-F2C361216AC1}"/>
              </a:ext>
            </a:extLst>
          </p:cNvPr>
          <p:cNvSpPr>
            <a:spLocks xmlns:a="http://schemas.openxmlformats.org/drawingml/2006/main" noGrp="1"/>
          </p:cNvSpPr>
          <p:nvPr/>
        </p:nvSpPr>
        <p:spPr>
          <a:xfrm xmlns:a="http://schemas.openxmlformats.org/drawingml/2006/main">
            <a:off x="6153150" y="2533650"/>
            <a:ext cx="3905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Verify more sites with operators</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Test the plan with residents</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Check accessibility and language needs</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Decide whether a named partner can run community support safely</a:t>
            </a:r>
          </a:p>
        </p:txBody>
      </p:sp>
      <p:sp>
        <p:nvSpPr>
          <p:cNvPr id="8" name="">
            <a:extLst xmlns:a="http://schemas.openxmlformats.org/drawingml/2006/main">
              <a:ext uri="{FF2B5EF4-FFF2-40B4-BE49-F238E27FC236}">
                <a16:creationId xmlns:a16="http://schemas.microsoft.com/office/drawing/2014/main" id="{925EDE39-BC3A-4DCC-AE2E-966C351ACCAF}"/>
              </a:ext>
            </a:extLst>
          </p:cNvPr>
          <p:cNvSpPr>
            <a:spLocks xmlns:a="http://schemas.openxmlformats.org/drawingml/2006/main" noGrp="1"/>
          </p:cNvSpPr>
          <p:nvPr/>
        </p:nvSpPr>
        <p:spPr>
          <a:xfrm xmlns:a="http://schemas.openxmlformats.org/drawingml/2006/main">
            <a:off x="723900" y="5010150"/>
            <a:ext cx="9982200" cy="781050"/>
          </a:xfrm>
          <a:prstGeom xmlns:a="http://schemas.openxmlformats.org/drawingml/2006/main" prst="rect">
            <a:avLst/>
          </a:prstGeom>
          <a:solidFill xmlns:a="http://schemas.openxmlformats.org/drawingml/2006/main">
            <a:srgbClr val="EEF8F7"/>
          </a:solidFill>
          <a:ln xmlns:a="http://schemas.openxmlformats.org/drawingml/2006/main" w="9525">
            <a:solidFill>
              <a:srgbClr val="BFDBE2"/>
            </a:solidFill>
          </a:ln>
        </p:spPr>
      </p:sp>
      <p:sp>
        <p:nvSpPr>
          <p:cNvPr id="9" name="">
            <a:extLst xmlns:a="http://schemas.openxmlformats.org/drawingml/2006/main">
              <a:ext uri="{FF2B5EF4-FFF2-40B4-BE49-F238E27FC236}">
                <a16:creationId xmlns:a16="http://schemas.microsoft.com/office/drawing/2014/main" id="{D333088A-7A2D-4BAE-BDB4-9400B46006DD}"/>
              </a:ext>
            </a:extLst>
          </p:cNvPr>
          <p:cNvSpPr>
            <a:spLocks xmlns:a="http://schemas.openxmlformats.org/drawingml/2006/main" noGrp="1"/>
          </p:cNvSpPr>
          <p:nvPr/>
        </p:nvSpPr>
        <p:spPr>
          <a:xfrm xmlns:a="http://schemas.openxmlformats.org/drawingml/2006/main">
            <a:off x="1028700" y="5238750"/>
            <a:ext cx="904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456773"/>
                </a:solidFill>
                <a:latin typeface="Bitstream Charter"/>
                <a:ea typeface="Bitstream Charter"/>
                <a:cs typeface="Bitstream Charter"/>
              </a:defRPr>
            </a:pPr>
            <a:r>
              <a:rPr sz="1125" b="0">
                <a:solidFill>
                  <a:srgbClr val="456773"/>
                </a:solidFill>
                <a:latin typeface="Bitstream Charter"/>
                <a:ea typeface="Bitstream Charter"/>
                <a:cs typeface="Bitstream Charter"/>
              </a:rPr>
              <a:t>Sources and disclosure: Kraków municipal facility records, OpenStreetMap and NHS instructional links support the prototype. The retained cover illustration was AI-generated and is disclosed. No external health data or personal data is sent by the app.</a:t>
            </a:r>
          </a:p>
        </p:txBody>
      </p:sp>
      <p:sp>
        <p:nvSpPr>
          <p:cNvPr id="10" name="">
            <a:extLst xmlns:a="http://schemas.openxmlformats.org/drawingml/2006/main">
              <a:ext uri="{FF2B5EF4-FFF2-40B4-BE49-F238E27FC236}">
                <a16:creationId xmlns:a16="http://schemas.microsoft.com/office/drawing/2014/main" id="{5F0A699E-CB7B-4714-B724-2C8826EA2FC9}"/>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1" name="">
            <a:extLst xmlns:a="http://schemas.openxmlformats.org/drawingml/2006/main">
              <a:ext uri="{FF2B5EF4-FFF2-40B4-BE49-F238E27FC236}">
                <a16:creationId xmlns:a16="http://schemas.microsoft.com/office/drawing/2014/main" id="{BAF02334-A4D9-4146-92CA-94D67247E2CF}"/>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12" name="">
            <a:extLst xmlns:a="http://schemas.openxmlformats.org/drawingml/2006/main">
              <a:ext uri="{FF2B5EF4-FFF2-40B4-BE49-F238E27FC236}">
                <a16:creationId xmlns:a16="http://schemas.microsoft.com/office/drawing/2014/main" id="{1C518B3B-D4A0-41A8-AA59-62B0B55A16F0}"/>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09</a:t>
            </a:r>
          </a:p>
        </p:txBody>
      </p:sp>
    </p:spTree>
    <p:extLst>
      <p:ext uri="{BB962C8B-B14F-4D97-AF65-F5344CB8AC3E}">
        <p14:creationId xmlns:p14="http://schemas.microsoft.com/office/powerpoint/2010/main" val="2940383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2026-10-03T13:54:52.7920000Z</dcterms:created>
  <dcterms:modified xsi:type="dcterms:W3CDTF">2026-10-03T13:54:52.7930000Z</dcterms:modified>
</coreProperties>
</file>